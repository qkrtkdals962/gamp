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 ?><Relationships xmlns="http://schemas.openxmlformats.org/package/2006/relationships"><Relationship Id="rId1" Type="http://schemas.openxmlformats.org/officeDocument/2006/relationships/officeDocument" Target="ppt/presentation.xml"  /><Relationship Id="rId2" Type="http://schemas.openxmlformats.org/package/2006/relationships/metadata/thumbnail" Target="docProps/thumbnail.jpeg"  /><Relationship Id="rId3" Type="http://schemas.openxmlformats.org/package/2006/relationships/metadata/core-properties" Target="docProps/core.xml"  /><Relationship Id="rId4" Type="http://schemas.openxmlformats.org/officeDocument/2006/relationships/extended-properties" Target="docProps/app.xml"  /><Relationship Id="rId5" Type="http://schemas.openxmlformats.org/officeDocument/2006/relationships/custom-properties" Target="docProps/custom.xml"  /></Relationships>
</file>

<file path=ppt/presentation.xml><?xml version="1.0" encoding="utf-8"?>
<p:presentation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sldMasterIdLst>
    <p:sldMasterId id="2147483679" r:id="rId1"/>
  </p:sldMasterIdLst>
  <p:notesMasterIdLst>
    <p:notesMasterId r:id="rId2"/>
  </p:notesMasterIdLst>
  <p:sldIdLst>
    <p:sldId id="261" r:id="rId3"/>
    <p:sldId id="272" r:id="rId4"/>
    <p:sldId id="273" r:id="rId5"/>
    <p:sldId id="263" r:id="rId6"/>
    <p:sldId id="281" r:id="rId7"/>
    <p:sldId id="257" r:id="rId8"/>
    <p:sldId id="274" r:id="rId9"/>
    <p:sldId id="275" r:id="rId10"/>
    <p:sldId id="276" r:id="rId11"/>
    <p:sldId id="277" r:id="rId12"/>
    <p:sldId id="282" r:id="rId13"/>
    <p:sldId id="283" r:id="rId14"/>
    <p:sldId id="284" r:id="rId15"/>
    <p:sldId id="285" r:id="rId16"/>
    <p:sldId id="286" r:id="rId17"/>
    <p:sldId id="287" r:id="rId18"/>
    <p:sldId id="288" r:id="rId19"/>
    <p:sldId id="278" r:id="rId20"/>
    <p:sldId id="279" r:id="rId21"/>
    <p:sldId id="280" r:id="rId22"/>
    <p:sldId id="271" r:id="rId23"/>
  </p:sldIdLst>
  <p:sldSz cx="18288000" cy="10287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showPr>
    <p:sldAll/>
    <p:penClr>
      <a:srgbClr val="ff0000"/>
    </p:penClr>
    <p:extLst>
      <p:ext uri="{2FDB2607-1784-4EEB-B798-7EB5836EED8A}">
        <p14:showMediaCtrls xmlns:p14="http://schemas.microsoft.com/office/powerpoint/2010/main" val="1"/>
      </p:ext>
    </p:extLst>
  </p:showPr>
  <p:extLst>
    <p:ext uri="ACF4677E-8BD2-47ae-8A1F-98590045965D">
      <hp:hncThemeShow xmlns:hp="http://schemas.haansoft.com/office/presentation/8.0" themeShowType="1" themeSkinType="1" themeTransitionType="1" useThemeTransition="1" byMouseClick="1" attrType="1" dur="2000"/>
    </p:ext>
  </p:extLst>
</p:presentationPr>
</file>

<file path=ppt/tableStyles.xml><?xml version="1.0" encoding="utf-8"?>
<a:tblStyleLst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def="{5C22544A-7EE6-4342-B048-85BDC9FD1C3A}"/>
</file>

<file path=ppt/viewProps.xml><?xml version="1.0" encoding="utf-8"?>
<p:view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100" d="100"/>
          <a:sy n="100" d="100"/>
        </p:scale>
        <p:origin x="-1092" y="-90"/>
      </p:cViewPr>
      <p:guideLst>
        <p:guide orient="horz" pos="3239"/>
        <p:guide pos="5759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 ?><Relationships xmlns="http://schemas.openxmlformats.org/package/2006/relationships"><Relationship Id="rId1" Type="http://schemas.openxmlformats.org/officeDocument/2006/relationships/slideMaster" Target="slideMasters/slideMaster1.xml"  /><Relationship Id="rId10" Type="http://schemas.openxmlformats.org/officeDocument/2006/relationships/slide" Target="slides/slide8.xml"  /><Relationship Id="rId11" Type="http://schemas.openxmlformats.org/officeDocument/2006/relationships/slide" Target="slides/slide9.xml"  /><Relationship Id="rId12" Type="http://schemas.openxmlformats.org/officeDocument/2006/relationships/slide" Target="slides/slide10.xml"  /><Relationship Id="rId13" Type="http://schemas.openxmlformats.org/officeDocument/2006/relationships/slide" Target="slides/slide11.xml"  /><Relationship Id="rId14" Type="http://schemas.openxmlformats.org/officeDocument/2006/relationships/slide" Target="slides/slide12.xml"  /><Relationship Id="rId15" Type="http://schemas.openxmlformats.org/officeDocument/2006/relationships/slide" Target="slides/slide13.xml"  /><Relationship Id="rId16" Type="http://schemas.openxmlformats.org/officeDocument/2006/relationships/slide" Target="slides/slide14.xml"  /><Relationship Id="rId17" Type="http://schemas.openxmlformats.org/officeDocument/2006/relationships/slide" Target="slides/slide15.xml"  /><Relationship Id="rId18" Type="http://schemas.openxmlformats.org/officeDocument/2006/relationships/slide" Target="slides/slide16.xml"  /><Relationship Id="rId19" Type="http://schemas.openxmlformats.org/officeDocument/2006/relationships/slide" Target="slides/slide17.xml"  /><Relationship Id="rId2" Type="http://schemas.openxmlformats.org/officeDocument/2006/relationships/notesMaster" Target="notesMasters/notesMaster1.xml"  /><Relationship Id="rId20" Type="http://schemas.openxmlformats.org/officeDocument/2006/relationships/slide" Target="slides/slide18.xml"  /><Relationship Id="rId21" Type="http://schemas.openxmlformats.org/officeDocument/2006/relationships/slide" Target="slides/slide19.xml"  /><Relationship Id="rId22" Type="http://schemas.openxmlformats.org/officeDocument/2006/relationships/slide" Target="slides/slide20.xml"  /><Relationship Id="rId23" Type="http://schemas.openxmlformats.org/officeDocument/2006/relationships/slide" Target="slides/slide21.xml"  /><Relationship Id="rId24" Type="http://schemas.openxmlformats.org/officeDocument/2006/relationships/presProps" Target="presProps.xml"  /><Relationship Id="rId25" Type="http://schemas.openxmlformats.org/officeDocument/2006/relationships/viewProps" Target="viewProps.xml"  /><Relationship Id="rId26" Type="http://schemas.openxmlformats.org/officeDocument/2006/relationships/theme" Target="theme/theme1.xml"  /><Relationship Id="rId27" Type="http://schemas.openxmlformats.org/officeDocument/2006/relationships/tableStyles" Target="tableStyles.xml"  /><Relationship Id="rId3" Type="http://schemas.openxmlformats.org/officeDocument/2006/relationships/slide" Target="slides/slide1.xml"  /><Relationship Id="rId4" Type="http://schemas.openxmlformats.org/officeDocument/2006/relationships/slide" Target="slides/slide2.xml"  /><Relationship Id="rId5" Type="http://schemas.openxmlformats.org/officeDocument/2006/relationships/slide" Target="slides/slide3.xml"  /><Relationship Id="rId6" Type="http://schemas.openxmlformats.org/officeDocument/2006/relationships/slide" Target="slides/slide4.xml"  /><Relationship Id="rId7" Type="http://schemas.openxmlformats.org/officeDocument/2006/relationships/slide" Target="slides/slide5.xml"  /><Relationship Id="rId8" Type="http://schemas.openxmlformats.org/officeDocument/2006/relationships/slide" Target="slides/slide6.xml"  /><Relationship Id="rId9" Type="http://schemas.openxmlformats.org/officeDocument/2006/relationships/slide" Target="slides/slide7.xml"  /></Relationships>
</file>

<file path=ppt/notesMasters/_rels/notesMaster1.xml.rels><?xml version="1.0" encoding="UTF-8" standalone="yes" ?><Relationships xmlns="http://schemas.openxmlformats.org/package/2006/relationships"><Relationship Id="rId1" Type="http://schemas.openxmlformats.org/officeDocument/2006/relationships/theme" Target="../theme/theme2.xml"  /></Relationships>
</file>

<file path=ppt/notesMasters/notesMaster1.xml><?xml version="1.0" encoding="utf-8"?>
<p:notesMaste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 idx="0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pPr lvl="0">
              <a:defRPr/>
            </a:pPr>
            <a:fld id="{E2B2BC9D-A816-4D0A-858B-1D023B3A8ACA}" type="datetime1">
              <a:rPr lang="ko-KR" altLang="en-US"/>
              <a:pPr lvl="0">
                <a:defRPr/>
              </a:pPr>
              <a:t>2025-11-07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anchor="ctr"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>
            <a:noAutofit/>
          </a:bodyPr>
          <a:lstStyle/>
          <a:p>
            <a:pPr lvl="0">
              <a:defRPr/>
            </a:pPr>
            <a:r>
              <a:rPr lang="ko-KR" altLang="en-US"/>
              <a:t>마스터 텍스트 스타일을 편집합니다</a:t>
            </a:r>
            <a:endParaRPr lang="ko-KR" altLang="en-US"/>
          </a:p>
          <a:p>
            <a:pPr lvl="1">
              <a:defRPr/>
            </a:pPr>
            <a:r>
              <a:rPr lang="ko-KR" altLang="en-US"/>
              <a:t>둘째 수준</a:t>
            </a:r>
            <a:endParaRPr lang="ko-KR" altLang="en-US"/>
          </a:p>
          <a:p>
            <a:pPr lvl="2">
              <a:defRPr/>
            </a:pPr>
            <a:r>
              <a:rPr lang="ko-KR" altLang="en-US"/>
              <a:t>셋째 수준</a:t>
            </a:r>
            <a:endParaRPr lang="ko-KR" altLang="en-US"/>
          </a:p>
          <a:p>
            <a:pPr lvl="3">
              <a:defRPr/>
            </a:pPr>
            <a:r>
              <a:rPr lang="ko-KR" altLang="en-US"/>
              <a:t>넷째 수준</a:t>
            </a:r>
            <a:endParaRPr lang="ko-KR" altLang="en-US"/>
          </a:p>
          <a:p>
            <a:pPr lvl="4">
              <a:defRPr/>
            </a:pPr>
            <a:r>
              <a:rPr lang="ko-KR" altLang="en-US"/>
              <a:t>다섯째 수준</a:t>
            </a:r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l">
              <a:defRPr sz="1200"/>
            </a:lvl1pPr>
          </a:lstStyle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r">
              <a:defRPr sz="1200"/>
            </a:lvl1pPr>
          </a:lstStyle>
          <a:p>
            <a:pPr lvl="0">
              <a:defRPr/>
            </a:pPr>
            <a:fld id="{09F4262C-968C-4EE9-8164-CE16364706B3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1" Type="http://schemas.openxmlformats.org/officeDocument/2006/relationships/slide" Target="../slides/slide9.xml"  /><Relationship Id="rId2" Type="http://schemas.openxmlformats.org/officeDocument/2006/relationships/notesMaster" Target="../notesMasters/notesMaster1.xml"  /></Relationships>
</file>

<file path=ppt/notesSlides/notesSlide1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pPr>
              <a:defRPr/>
            </a:pPr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09F4262C-968C-4EE9-8164-CE16364706B3}" type="slidenum">
              <a:rPr lang="en-US" altLang="en-US"/>
              <a:pPr lvl="0">
                <a:defRPr/>
              </a:pPr>
              <a:t>8</a:t>
            </a:fld>
            <a:endParaRPr lang="en-US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2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3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4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5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6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7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8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9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0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1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10" Type="http://schemas.openxmlformats.org/officeDocument/2006/relationships/slideLayout" Target="../slideLayouts/slideLayout10.xml"  /><Relationship Id="rId11" Type="http://schemas.openxmlformats.org/officeDocument/2006/relationships/slideLayout" Target="../slideLayouts/slideLayout11.xml"  /><Relationship Id="rId12" Type="http://schemas.openxmlformats.org/officeDocument/2006/relationships/theme" Target="../theme/theme1.xml"  /><Relationship Id="rId2" Type="http://schemas.openxmlformats.org/officeDocument/2006/relationships/slideLayout" Target="../slideLayouts/slideLayout2.xml"  /><Relationship Id="rId3" Type="http://schemas.openxmlformats.org/officeDocument/2006/relationships/slideLayout" Target="../slideLayouts/slideLayout3.xml"  /><Relationship Id="rId4" Type="http://schemas.openxmlformats.org/officeDocument/2006/relationships/slideLayout" Target="../slideLayouts/slideLayout4.xml"  /><Relationship Id="rId5" Type="http://schemas.openxmlformats.org/officeDocument/2006/relationships/slideLayout" Target="../slideLayouts/slideLayout5.xml"  /><Relationship Id="rId6" Type="http://schemas.openxmlformats.org/officeDocument/2006/relationships/slideLayout" Target="../slideLayouts/slideLayout6.xml"  /><Relationship Id="rId7" Type="http://schemas.openxmlformats.org/officeDocument/2006/relationships/slideLayout" Target="../slideLayouts/slideLayout7.xml"  /><Relationship Id="rId8" Type="http://schemas.openxmlformats.org/officeDocument/2006/relationships/slideLayout" Target="../slideLayouts/slideLayout8.xml"  /><Relationship Id="rId9" Type="http://schemas.openxmlformats.org/officeDocument/2006/relationships/slideLayout" Target="../slideLayouts/slideLayout9.xml" 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/Relationships>
</file>

<file path=ppt/slides/_rels/slide2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/Relationships>
</file>

<file path=ppt/slides/_rels/slide3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Relationship Id="rId2" Type="http://schemas.openxmlformats.org/officeDocument/2006/relationships/image" Target="../media/image1.png"  /></Relationships>
</file>

<file path=ppt/slides/_rels/slide4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Relationship Id="rId2" Type="http://schemas.openxmlformats.org/officeDocument/2006/relationships/image" Target="../media/image2.png"  /></Relationships>
</file>

<file path=ppt/slides/_rels/slide5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/Relationships>
</file>

<file path=ppt/slides/_rels/slide6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Relationship Id="rId2" Type="http://schemas.openxmlformats.org/officeDocument/2006/relationships/image" Target="../media/image3.png"  /><Relationship Id="rId3" Type="http://schemas.openxmlformats.org/officeDocument/2006/relationships/image" Target="../media/image4.png"  /></Relationships>
</file>

<file path=ppt/slides/_rels/slide7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Relationship Id="rId2" Type="http://schemas.openxmlformats.org/officeDocument/2006/relationships/image" Target="../media/image5.png"  /></Relationships>
</file>

<file path=ppt/slides/_rels/slide8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Relationship Id="rId2" Type="http://schemas.openxmlformats.org/officeDocument/2006/relationships/image" Target="../media/image6.png"  /><Relationship Id="rId3" Type="http://schemas.openxmlformats.org/officeDocument/2006/relationships/image" Target="../media/image7.png"  /><Relationship Id="rId4" Type="http://schemas.openxmlformats.org/officeDocument/2006/relationships/image" Target="../media/image8.png"  /><Relationship Id="rId5" Type="http://schemas.openxmlformats.org/officeDocument/2006/relationships/image" Target="../media/image9.png"  /><Relationship Id="rId6" Type="http://schemas.openxmlformats.org/officeDocument/2006/relationships/image" Target="../media/image10.png"  /></Relationships>
</file>

<file path=ppt/slides/_rels/slide9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.xml"  /><Relationship Id="rId2" Type="http://schemas.openxmlformats.org/officeDocument/2006/relationships/slideLayout" Target="../slideLayouts/slideLayout7.xml"  /><Relationship Id="rId3" Type="http://schemas.openxmlformats.org/officeDocument/2006/relationships/image" Target="../media/image11.png"  /></Relationships>
</file>

<file path=ppt/slides/_rels/slide10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Relationship Id="rId2" Type="http://schemas.openxmlformats.org/officeDocument/2006/relationships/image" Target="../media/image12.png"  /><Relationship Id="rId3" Type="http://schemas.openxmlformats.org/officeDocument/2006/relationships/image" Target="../media/image13.png"  /><Relationship Id="rId4" Type="http://schemas.openxmlformats.org/officeDocument/2006/relationships/image" Target="../media/image14.png"  /><Relationship Id="rId5" Type="http://schemas.openxmlformats.org/officeDocument/2006/relationships/image" Target="../media/image15.png"  /></Relationships>
</file>

<file path=ppt/slides/_rels/slide1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/Relationships>
</file>

<file path=ppt/slides/_rels/slide12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Relationship Id="rId2" Type="http://schemas.openxmlformats.org/officeDocument/2006/relationships/image" Target="../media/image16.png"  /><Relationship Id="rId3" Type="http://schemas.openxmlformats.org/officeDocument/2006/relationships/image" Target="../media/image17.png"  /></Relationships>
</file>

<file path=ppt/slides/_rels/slide13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Relationship Id="rId2" Type="http://schemas.openxmlformats.org/officeDocument/2006/relationships/image" Target="../media/image18.png"  /><Relationship Id="rId3" Type="http://schemas.openxmlformats.org/officeDocument/2006/relationships/image" Target="../media/image19.png"  /></Relationships>
</file>

<file path=ppt/slides/_rels/slide14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Relationship Id="rId2" Type="http://schemas.openxmlformats.org/officeDocument/2006/relationships/image" Target="../media/image20.png"  /><Relationship Id="rId3" Type="http://schemas.openxmlformats.org/officeDocument/2006/relationships/image" Target="../media/image21.png"  /><Relationship Id="rId4" Type="http://schemas.openxmlformats.org/officeDocument/2006/relationships/image" Target="../media/image22.png"  /><Relationship Id="rId5" Type="http://schemas.openxmlformats.org/officeDocument/2006/relationships/image" Target="../media/image23.png"  /></Relationships>
</file>

<file path=ppt/slides/_rels/slide15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Relationship Id="rId2" Type="http://schemas.openxmlformats.org/officeDocument/2006/relationships/image" Target="../media/image24.png"  /><Relationship Id="rId3" Type="http://schemas.openxmlformats.org/officeDocument/2006/relationships/image" Target="../media/image25.png"  /></Relationships>
</file>

<file path=ppt/slides/_rels/slide16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Relationship Id="rId2" Type="http://schemas.openxmlformats.org/officeDocument/2006/relationships/image" Target="../media/image26.png"  /><Relationship Id="rId3" Type="http://schemas.openxmlformats.org/officeDocument/2006/relationships/image" Target="../media/image27.png"  /></Relationships>
</file>

<file path=ppt/slides/_rels/slide17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/Relationships>
</file>

<file path=ppt/slides/_rels/slide18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Relationship Id="rId2" Type="http://schemas.openxmlformats.org/officeDocument/2006/relationships/image" Target="../media/image28.png"  /></Relationships>
</file>

<file path=ppt/slides/_rels/slide19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Relationship Id="rId2" Type="http://schemas.openxmlformats.org/officeDocument/2006/relationships/image" Target="../media/image29.png"  /><Relationship Id="rId3" Type="http://schemas.openxmlformats.org/officeDocument/2006/relationships/image" Target="../media/image30.png"  /><Relationship Id="rId4" Type="http://schemas.openxmlformats.org/officeDocument/2006/relationships/image" Target="../media/image31.jpeg"  /></Relationships>
</file>

<file path=ppt/slides/_rels/slide20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Relationship Id="rId2" Type="http://schemas.openxmlformats.org/officeDocument/2006/relationships/image" Target="../media/image32.png"  /><Relationship Id="rId3" Type="http://schemas.openxmlformats.org/officeDocument/2006/relationships/image" Target="../media/image33.png"  /><Relationship Id="rId4" Type="http://schemas.openxmlformats.org/officeDocument/2006/relationships/image" Target="../media/image34.png"  /><Relationship Id="rId5" Type="http://schemas.openxmlformats.org/officeDocument/2006/relationships/image" Target="../media/image35.png"  /><Relationship Id="rId6" Type="http://schemas.openxmlformats.org/officeDocument/2006/relationships/image" Target="../media/image36.png"  /><Relationship Id="rId7" Type="http://schemas.openxmlformats.org/officeDocument/2006/relationships/image" Target="../media/image37.png"  /><Relationship Id="rId8" Type="http://schemas.openxmlformats.org/officeDocument/2006/relationships/image" Target="../media/image31.jpeg"  /></Relationships>
</file>

<file path=ppt/slides/_rels/slide2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/Relationships>
</file>

<file path=ppt/slides/slide1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635693" y="632336"/>
            <a:ext cx="1501661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w="sm" len="sm"/>
            <a:tailEnd w="sm" len="sm"/>
          </a:ln>
        </p:spPr>
        <p:txBody>
          <a:bodyPr wrap="square" anchor="ctr"/>
          <a:p>
            <a:pPr algn="ctr">
              <a:defRPr/>
            </a:pPr>
            <a:endParaRPr lang="ko-KR" altLang="en-US"/>
          </a:p>
        </p:txBody>
      </p:sp>
      <p:sp>
        <p:nvSpPr>
          <p:cNvPr id="3" name="AutoShape 3"/>
          <p:cNvSpPr/>
          <p:nvPr/>
        </p:nvSpPr>
        <p:spPr>
          <a:xfrm>
            <a:off x="1635693" y="9654664"/>
            <a:ext cx="1501661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w="sm" len="sm"/>
            <a:tailEnd w="sm" len="sm"/>
          </a:ln>
        </p:spPr>
        <p:txBody>
          <a:bodyPr wrap="square" anchor="ctr"/>
          <a:p>
            <a:pPr algn="ctr">
              <a:defRPr/>
            </a:pPr>
            <a:endParaRPr lang="ko-KR" altLang="en-US"/>
          </a:p>
        </p:txBody>
      </p:sp>
      <p:grpSp>
        <p:nvGrpSpPr>
          <p:cNvPr id="14" name=""/>
          <p:cNvGrpSpPr/>
          <p:nvPr/>
        </p:nvGrpSpPr>
        <p:grpSpPr>
          <a:xfrm rot="0">
            <a:off x="2438400" y="2400300"/>
            <a:ext cx="8839200" cy="1295400"/>
            <a:chOff x="2514600" y="2400300"/>
            <a:chExt cx="8839200" cy="1295400"/>
          </a:xfrm>
        </p:grpSpPr>
        <p:sp>
          <p:nvSpPr>
            <p:cNvPr id="5" name="TextBox 5"/>
            <p:cNvSpPr txBox="1"/>
            <p:nvPr/>
          </p:nvSpPr>
          <p:spPr>
            <a:xfrm>
              <a:off x="2514600" y="2676358"/>
              <a:ext cx="8839200" cy="1019342"/>
            </a:xfrm>
            <a:prstGeom prst="rect">
              <a:avLst/>
            </a:prstGeom>
            <a:ln>
              <a:solidFill>
                <a:schemeClr val="lt1"/>
              </a:solidFill>
            </a:ln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ts val="8064"/>
                </a:lnSpc>
                <a:defRPr/>
              </a:pPr>
              <a:r>
                <a:rPr lang="ko-KR" altLang="en-US" sz="7200" b="1" spc="-359">
                  <a:solidFill>
                    <a:srgbClr val="000000"/>
                  </a:solidFill>
                  <a:latin typeface="Nanum Square Bold"/>
                  <a:ea typeface="Nanum Square Bold"/>
                  <a:cs typeface="Nanum Square Bold"/>
                  <a:sym typeface="Nanum Square Bold"/>
                </a:rPr>
                <a:t>  게임프로그래밍 발표 </a:t>
              </a:r>
              <a:endParaRPr lang="ko-KR" altLang="en-US" sz="7200" b="1" spc="-359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endParaRP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2590800" y="2400300"/>
              <a:ext cx="7183195" cy="304800"/>
            </a:xfrm>
            <a:prstGeom prst="rect">
              <a:avLst/>
            </a:prstGeom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ts val="2352"/>
                </a:lnSpc>
                <a:defRPr/>
              </a:pPr>
              <a:r>
                <a:rPr lang="ko-KR" altLang="en-US" sz="2100" b="1">
                  <a:solidFill>
                    <a:srgbClr val="737373"/>
                  </a:solidFill>
                  <a:latin typeface="Heebo Bold"/>
                  <a:ea typeface="Heebo Bold"/>
                  <a:cs typeface="Heebo Bold"/>
                  <a:sym typeface="Heebo Bold"/>
                </a:rPr>
                <a:t>     </a:t>
              </a:r>
              <a:r>
                <a:rPr lang="en-US" altLang="ko-KR" sz="2100" b="1">
                  <a:solidFill>
                    <a:srgbClr val="737373"/>
                  </a:solidFill>
                  <a:latin typeface="Heebo Bold"/>
                  <a:ea typeface="Heebo Bold"/>
                  <a:cs typeface="Heebo Bold"/>
                  <a:sym typeface="Heebo Bold"/>
                </a:rPr>
                <a:t>Game Programming Presentation</a:t>
              </a:r>
              <a:endParaRPr lang="en-US" altLang="ko-KR" sz="2100" b="1">
                <a:solidFill>
                  <a:srgbClr val="737373"/>
                </a:solidFill>
                <a:latin typeface="Heebo Bold"/>
                <a:ea typeface="Heebo Bold"/>
                <a:cs typeface="Heebo Bold"/>
                <a:sym typeface="Heebo Bold"/>
              </a:endParaRPr>
            </a:p>
          </p:txBody>
        </p:sp>
      </p:grpSp>
      <p:sp>
        <p:nvSpPr>
          <p:cNvPr id="9" name=""/>
          <p:cNvSpPr/>
          <p:nvPr/>
        </p:nvSpPr>
        <p:spPr>
          <a:xfrm>
            <a:off x="2362200" y="3771900"/>
            <a:ext cx="152400" cy="152400"/>
          </a:xfrm>
          <a:prstGeom prst="ellipse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en-US" altLang="ko-KR"/>
          </a:p>
        </p:txBody>
      </p:sp>
      <p:cxnSp>
        <p:nvCxnSpPr>
          <p:cNvPr id="11" name=""/>
          <p:cNvCxnSpPr>
            <a:stCxn id="9" idx="6"/>
          </p:cNvCxnSpPr>
          <p:nvPr/>
        </p:nvCxnSpPr>
        <p:spPr>
          <a:xfrm>
            <a:off x="2514601" y="3848100"/>
            <a:ext cx="8596946" cy="0"/>
          </a:xfrm>
          <a:prstGeom prst="line">
            <a:avLst/>
          </a:prstGeom>
          <a:ln>
            <a:solidFill>
              <a:schemeClr val="dk1"/>
            </a:solidFill>
          </a:ln>
          <a:effectLst>
            <a:outerShdw blurRad="76200" dist="76200" dir="5400000" algn="ctr" rotWithShape="0">
              <a:srgbClr val="000000">
                <a:alpha val="50000"/>
              </a:srgb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"/>
          <p:cNvSpPr/>
          <p:nvPr/>
        </p:nvSpPr>
        <p:spPr>
          <a:xfrm>
            <a:off x="11049000" y="3771900"/>
            <a:ext cx="152400" cy="152400"/>
          </a:xfrm>
          <a:prstGeom prst="ellipse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 altLang="ko-KR"/>
          </a:p>
        </p:txBody>
      </p:sp>
      <p:sp>
        <p:nvSpPr>
          <p:cNvPr id="13" name="TextBox 10"/>
          <p:cNvSpPr txBox="1"/>
          <p:nvPr/>
        </p:nvSpPr>
        <p:spPr>
          <a:xfrm>
            <a:off x="13411200" y="9105900"/>
            <a:ext cx="4387324" cy="304800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352"/>
              </a:lnSpc>
              <a:defRPr/>
            </a:pPr>
            <a:endParaRPr lang="en-US" altLang="ko-KR" sz="2100" b="1">
              <a:solidFill>
                <a:srgbClr val="737373"/>
              </a:solidFill>
              <a:latin typeface="Heebo Bold"/>
              <a:ea typeface="Heebo Bold"/>
              <a:cs typeface="Heebo Bold"/>
              <a:sym typeface="Heebo Bold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2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635693" y="632336"/>
            <a:ext cx="1501661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w="sm" len="sm"/>
            <a:tailEnd w="sm" len="sm"/>
          </a:ln>
        </p:spPr>
        <p:txBody>
          <a:bodyPr wrap="square" anchor="ctr"/>
          <a:p>
            <a:pPr algn="ctr">
              <a:defRPr/>
            </a:pPr>
            <a:endParaRPr lang="ko-KR" altLang="en-US"/>
          </a:p>
        </p:txBody>
      </p:sp>
      <p:sp>
        <p:nvSpPr>
          <p:cNvPr id="3" name="AutoShape 3"/>
          <p:cNvSpPr/>
          <p:nvPr/>
        </p:nvSpPr>
        <p:spPr>
          <a:xfrm>
            <a:off x="1635693" y="9654664"/>
            <a:ext cx="1501661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w="sm" len="sm"/>
            <a:tailEnd w="sm" len="sm"/>
          </a:ln>
        </p:spPr>
        <p:txBody>
          <a:bodyPr wrap="square" anchor="ctr"/>
          <a:p>
            <a:pPr algn="ctr">
              <a:defRPr/>
            </a:pPr>
            <a:endParaRPr lang="ko-KR" altLang="en-US"/>
          </a:p>
        </p:txBody>
      </p:sp>
      <p:grpSp>
        <p:nvGrpSpPr>
          <p:cNvPr id="15" name=""/>
          <p:cNvGrpSpPr/>
          <p:nvPr/>
        </p:nvGrpSpPr>
        <p:grpSpPr>
          <a:xfrm rot="0">
            <a:off x="2514600" y="1562100"/>
            <a:ext cx="8014955" cy="1066800"/>
            <a:chOff x="2514600" y="2476500"/>
            <a:chExt cx="8014955" cy="1066800"/>
          </a:xfrm>
        </p:grpSpPr>
        <p:sp>
          <p:nvSpPr>
            <p:cNvPr id="5" name="TextBox 5"/>
            <p:cNvSpPr txBox="1"/>
            <p:nvPr/>
          </p:nvSpPr>
          <p:spPr>
            <a:xfrm>
              <a:off x="2514600" y="2476500"/>
              <a:ext cx="8014955" cy="1019342"/>
            </a:xfrm>
            <a:prstGeom prst="rect">
              <a:avLst/>
            </a:prstGeom>
            <a:ln>
              <a:solidFill>
                <a:schemeClr val="lt1"/>
              </a:solidFill>
            </a:ln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ts val="8064"/>
                </a:lnSpc>
                <a:defRPr/>
              </a:pPr>
              <a:r>
                <a:rPr lang="ko-KR" altLang="en-US" sz="7200" b="1" spc="-359">
                  <a:solidFill>
                    <a:srgbClr val="000000"/>
                  </a:solidFill>
                  <a:latin typeface="Nanum Square Bold"/>
                  <a:ea typeface="Nanum Square Bold"/>
                  <a:cs typeface="Nanum Square Bold"/>
                  <a:sym typeface="Nanum Square Bold"/>
                </a:rPr>
                <a:t>목차</a:t>
              </a:r>
              <a:endParaRPr lang="ko-KR" altLang="en-US" sz="7200" b="1" spc="-359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endParaRP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4419600" y="3238500"/>
              <a:ext cx="4211394" cy="304800"/>
            </a:xfrm>
            <a:prstGeom prst="rect">
              <a:avLst/>
            </a:prstGeom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ts val="2352"/>
                </a:lnSpc>
                <a:defRPr/>
              </a:pPr>
              <a:r>
                <a:rPr lang="en-US" altLang="ko-KR" sz="2800" b="1">
                  <a:solidFill>
                    <a:srgbClr val="737373"/>
                  </a:solidFill>
                  <a:latin typeface="Heebo Bold"/>
                  <a:ea typeface="Heebo Bold"/>
                  <a:cs typeface="Heebo Bold"/>
                  <a:sym typeface="Heebo Bold"/>
                </a:rPr>
                <a:t>List</a:t>
              </a:r>
              <a:endParaRPr lang="en-US" altLang="ko-KR" sz="2800" b="1">
                <a:solidFill>
                  <a:srgbClr val="737373"/>
                </a:solidFill>
                <a:latin typeface="Heebo Bold"/>
                <a:ea typeface="Heebo Bold"/>
                <a:cs typeface="Heebo Bold"/>
                <a:sym typeface="Heebo Bold"/>
              </a:endParaRPr>
            </a:p>
          </p:txBody>
        </p:sp>
      </p:grpSp>
      <p:cxnSp>
        <p:nvCxnSpPr>
          <p:cNvPr id="11" name=""/>
          <p:cNvCxnSpPr/>
          <p:nvPr/>
        </p:nvCxnSpPr>
        <p:spPr>
          <a:xfrm>
            <a:off x="2438400" y="2933699"/>
            <a:ext cx="13402620" cy="1"/>
          </a:xfrm>
          <a:prstGeom prst="line">
            <a:avLst/>
          </a:prstGeom>
          <a:ln>
            <a:solidFill>
              <a:schemeClr val="dk1"/>
            </a:soli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"/>
          <p:cNvSpPr/>
          <p:nvPr/>
        </p:nvSpPr>
        <p:spPr>
          <a:xfrm>
            <a:off x="2556510" y="3467100"/>
            <a:ext cx="7349490" cy="475869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p>
            <a:pPr algn="l">
              <a:defRPr/>
            </a:pPr>
            <a:r>
              <a:rPr xmlns:mc="http://schemas.openxmlformats.org/markup-compatibility/2006" xmlns:hp="http://schemas.haansoft.com/office/presentation/8.0" sz="3400" b="0" i="0" strike="noStrike" mc:Ignorable="hp" hp:hslEmbossed="0">
                <a:solidFill>
                  <a:srgbClr val="7f90d4">
                    <a:alpha val="100000"/>
                  </a:srgbClr>
                </a:solidFill>
                <a:latin typeface="Arial"/>
                <a:ea typeface="굴림"/>
              </a:rPr>
              <a:t>01</a:t>
            </a:r>
            <a:r>
              <a:rPr xmlns:mc="http://schemas.openxmlformats.org/markup-compatibility/2006" xmlns:hp="http://schemas.haansoft.com/office/presentation/8.0" lang="ko-KR" altLang="en-US" sz="3400" b="0" i="0" strike="noStrike" mc:Ignorable="hp" hp:hslEmbossed="0">
                <a:solidFill>
                  <a:srgbClr val="7f90d4">
                    <a:alpha val="100000"/>
                  </a:srgbClr>
                </a:solidFill>
                <a:latin typeface="Arial"/>
                <a:ea typeface="굴림"/>
              </a:rPr>
              <a:t> </a:t>
            </a:r>
            <a:r>
              <a:rPr xmlns:mc="http://schemas.openxmlformats.org/markup-compatibility/2006" xmlns:hp="http://schemas.haansoft.com/office/presentation/8.0" lang="ko-KR" altLang="en-US" sz="3400" b="0" i="0" strike="noStrike" mc:Ignorable="hp" hp:hslEmbossed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팀원 소개</a:t>
            </a:r>
            <a:endParaRPr xmlns:mc="http://schemas.openxmlformats.org/markup-compatibility/2006" xmlns:hp="http://schemas.haansoft.com/office/presentation/8.0" lang="ko-KR" altLang="en-US" sz="3400" b="0" i="0" strike="noStrike" mc:Ignorable="hp" hp:hslEmbossed="0">
              <a:solidFill>
                <a:srgbClr val="000000">
                  <a:alpha val="100000"/>
                </a:srgbClr>
              </a:solidFill>
              <a:latin typeface="Arial"/>
              <a:ea typeface="굴림"/>
            </a:endParaRPr>
          </a:p>
          <a:p>
            <a:pPr algn="l">
              <a:defRPr/>
            </a:pPr>
            <a:endParaRPr xmlns:mc="http://schemas.openxmlformats.org/markup-compatibility/2006" xmlns:hp="http://schemas.haansoft.com/office/presentation/8.0" lang="ko-KR" altLang="en-US" sz="3400" b="0" i="0" strike="noStrike" mc:Ignorable="hp" hp:hslEmbossed="0">
              <a:solidFill>
                <a:srgbClr val="000000">
                  <a:alpha val="100000"/>
                </a:srgbClr>
              </a:solidFill>
              <a:latin typeface="Arial"/>
              <a:ea typeface="굴림"/>
            </a:endParaRPr>
          </a:p>
          <a:p>
            <a:pPr algn="l">
              <a:defRPr/>
            </a:pPr>
            <a:r>
              <a:rPr xmlns:mc="http://schemas.openxmlformats.org/markup-compatibility/2006" xmlns:hp="http://schemas.haansoft.com/office/presentation/8.0" sz="3400" b="0" i="0" strike="noStrike" mc:Ignorable="hp" hp:hslEmbossed="0">
                <a:solidFill>
                  <a:srgbClr val="7f90d4">
                    <a:alpha val="100000"/>
                  </a:srgbClr>
                </a:solidFill>
                <a:latin typeface="Arial"/>
                <a:ea typeface="굴림"/>
              </a:rPr>
              <a:t>02</a:t>
            </a:r>
            <a:r>
              <a:rPr xmlns:mc="http://schemas.openxmlformats.org/markup-compatibility/2006" xmlns:hp="http://schemas.haansoft.com/office/presentation/8.0" lang="ko-KR" altLang="en-US" sz="3400" b="0" i="0" strike="noStrike" mc:Ignorable="hp" hp:hslEmbossed="0">
                <a:solidFill>
                  <a:srgbClr val="7f90d4">
                    <a:alpha val="100000"/>
                  </a:srgbClr>
                </a:solidFill>
                <a:latin typeface="Arial"/>
                <a:ea typeface="굴림"/>
              </a:rPr>
              <a:t> </a:t>
            </a:r>
            <a:r>
              <a:rPr xmlns:mc="http://schemas.openxmlformats.org/markup-compatibility/2006" xmlns:hp="http://schemas.haansoft.com/office/presentation/8.0" sz="3400" b="0" i="0" strike="noStrike" mc:Ignorable="hp" hp:hslEmbossed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개발 계획</a:t>
            </a:r>
            <a:endParaRPr xmlns:mc="http://schemas.openxmlformats.org/markup-compatibility/2006" xmlns:hp="http://schemas.haansoft.com/office/presentation/8.0" sz="3400" b="0" i="0" strike="noStrike" mc:Ignorable="hp" hp:hslEmbossed="0">
              <a:solidFill>
                <a:srgbClr val="000000">
                  <a:alpha val="100000"/>
                </a:srgbClr>
              </a:solidFill>
              <a:latin typeface="Arial"/>
              <a:ea typeface="굴림"/>
            </a:endParaRPr>
          </a:p>
          <a:p>
            <a:pPr algn="l">
              <a:defRPr/>
            </a:pPr>
            <a:endParaRPr xmlns:mc="http://schemas.openxmlformats.org/markup-compatibility/2006" xmlns:hp="http://schemas.haansoft.com/office/presentation/8.0" sz="3400" b="0" i="0" strike="noStrike" mc:Ignorable="hp" hp:hslEmbossed="0">
              <a:solidFill>
                <a:srgbClr val="000000">
                  <a:alpha val="100000"/>
                </a:srgbClr>
              </a:solidFill>
              <a:latin typeface="Arial"/>
              <a:ea typeface="굴림"/>
            </a:endParaRPr>
          </a:p>
          <a:p>
            <a:pPr algn="l">
              <a:defRPr/>
            </a:pPr>
            <a:r>
              <a:rPr xmlns:mc="http://schemas.openxmlformats.org/markup-compatibility/2006" xmlns:hp="http://schemas.haansoft.com/office/presentation/8.0" sz="3400" b="0" i="0" strike="noStrike" mc:Ignorable="hp" hp:hslEmbossed="0">
                <a:solidFill>
                  <a:srgbClr val="7f90d4">
                    <a:alpha val="100000"/>
                  </a:srgbClr>
                </a:solidFill>
                <a:latin typeface="Arial"/>
                <a:ea typeface="굴림"/>
              </a:rPr>
              <a:t>03</a:t>
            </a:r>
            <a:r>
              <a:rPr xmlns:mc="http://schemas.openxmlformats.org/markup-compatibility/2006" xmlns:hp="http://schemas.haansoft.com/office/presentation/8.0" lang="ko-KR" altLang="en-US" sz="3400" b="0" i="0" strike="noStrike" mc:Ignorable="hp" hp:hslEmbossed="0">
                <a:solidFill>
                  <a:srgbClr val="7f90d4">
                    <a:alpha val="100000"/>
                  </a:srgbClr>
                </a:solidFill>
                <a:latin typeface="Arial"/>
                <a:ea typeface="굴림"/>
              </a:rPr>
              <a:t> </a:t>
            </a:r>
            <a:r>
              <a:rPr xmlns:mc="http://schemas.openxmlformats.org/markup-compatibility/2006" xmlns:hp="http://schemas.haansoft.com/office/presentation/8.0" lang="ko-KR" altLang="en-US" sz="3400" b="0" i="0" strike="noStrike" mc:Ignorable="hp" hp:hslEmbossed="0">
                <a:solidFill>
                  <a:schemeClr val="dk1"/>
                </a:solidFill>
                <a:latin typeface="Arial"/>
                <a:ea typeface="굴림"/>
              </a:rPr>
              <a:t>기초 코드</a:t>
            </a:r>
            <a:endParaRPr xmlns:mc="http://schemas.openxmlformats.org/markup-compatibility/2006" xmlns:hp="http://schemas.haansoft.com/office/presentation/8.0" lang="ko-KR" altLang="en-US" sz="3400" b="0" i="0" strike="noStrike" mc:Ignorable="hp" hp:hslEmbossed="0">
              <a:solidFill>
                <a:schemeClr val="dk1"/>
              </a:solidFill>
              <a:latin typeface="Arial"/>
              <a:ea typeface="굴림"/>
            </a:endParaRPr>
          </a:p>
          <a:p>
            <a:pPr algn="l">
              <a:defRPr/>
            </a:pPr>
            <a:endParaRPr xmlns:mc="http://schemas.openxmlformats.org/markup-compatibility/2006" xmlns:hp="http://schemas.haansoft.com/office/presentation/8.0" lang="ko-KR" altLang="en-US" sz="3400" b="0" i="0" strike="noStrike" mc:Ignorable="hp" hp:hslEmbossed="0">
              <a:solidFill>
                <a:schemeClr val="dk1"/>
              </a:solidFill>
              <a:latin typeface="Arial"/>
              <a:ea typeface="굴림"/>
            </a:endParaRPr>
          </a:p>
          <a:p>
            <a:pPr algn="l">
              <a:defRPr/>
            </a:pPr>
            <a:r>
              <a:rPr xmlns:mc="http://schemas.openxmlformats.org/markup-compatibility/2006" xmlns:hp="http://schemas.haansoft.com/office/presentation/8.0" sz="3400" b="0" i="0" strike="noStrike" mc:Ignorable="hp" hp:hslEmbossed="0">
                <a:solidFill>
                  <a:srgbClr val="7f90d4">
                    <a:alpha val="100000"/>
                  </a:srgbClr>
                </a:solidFill>
                <a:latin typeface="Arial"/>
                <a:ea typeface="굴림"/>
              </a:rPr>
              <a:t>04</a:t>
            </a:r>
            <a:r>
              <a:rPr xmlns:mc="http://schemas.openxmlformats.org/markup-compatibility/2006" xmlns:hp="http://schemas.haansoft.com/office/presentation/8.0" lang="ko-KR" altLang="en-US" sz="3400" b="0" i="0" strike="noStrike" mc:Ignorable="hp" hp:hslEmbossed="0">
                <a:solidFill>
                  <a:srgbClr val="7f90d4">
                    <a:alpha val="100000"/>
                  </a:srgbClr>
                </a:solidFill>
                <a:latin typeface="Arial"/>
                <a:ea typeface="굴림"/>
              </a:rPr>
              <a:t> </a:t>
            </a:r>
            <a:r>
              <a:rPr xmlns:mc="http://schemas.openxmlformats.org/markup-compatibility/2006" xmlns:hp="http://schemas.haansoft.com/office/presentation/8.0" lang="ko-KR" altLang="en-US" sz="3400" b="0" i="0" strike="noStrike" mc:Ignorable="hp" hp:hslEmbossed="0">
                <a:solidFill>
                  <a:schemeClr val="dk1"/>
                </a:solidFill>
                <a:latin typeface="Arial"/>
                <a:ea typeface="굴림"/>
              </a:rPr>
              <a:t>코드 업그레이드</a:t>
            </a:r>
            <a:endParaRPr xmlns:mc="http://schemas.openxmlformats.org/markup-compatibility/2006" xmlns:hp="http://schemas.haansoft.com/office/presentation/8.0" lang="ko-KR" altLang="en-US" sz="3400" b="0" i="0" strike="noStrike" mc:Ignorable="hp" hp:hslEmbossed="0">
              <a:solidFill>
                <a:schemeClr val="dk1"/>
              </a:solidFill>
              <a:latin typeface="Arial"/>
              <a:ea typeface="굴림"/>
            </a:endParaRPr>
          </a:p>
          <a:p>
            <a:pPr algn="l">
              <a:defRPr/>
            </a:pPr>
            <a:endParaRPr xmlns:mc="http://schemas.openxmlformats.org/markup-compatibility/2006" xmlns:hp="http://schemas.haansoft.com/office/presentation/8.0" lang="ko-KR" altLang="en-US" sz="3400" b="0" i="0" strike="noStrike" mc:Ignorable="hp" hp:hslEmbossed="0">
              <a:solidFill>
                <a:schemeClr val="dk1"/>
              </a:solidFill>
              <a:latin typeface="Arial"/>
              <a:ea typeface="굴림"/>
            </a:endParaRPr>
          </a:p>
          <a:p>
            <a:pPr algn="l">
              <a:defRPr/>
            </a:pPr>
            <a:r>
              <a:rPr xmlns:mc="http://schemas.openxmlformats.org/markup-compatibility/2006" xmlns:hp="http://schemas.haansoft.com/office/presentation/8.0" sz="3400" b="0" i="0" strike="noStrike" mc:Ignorable="hp" hp:hslEmbossed="0">
                <a:solidFill>
                  <a:srgbClr val="7f90d4">
                    <a:alpha val="100000"/>
                  </a:srgbClr>
                </a:solidFill>
                <a:latin typeface="Arial"/>
                <a:ea typeface="굴림"/>
              </a:rPr>
              <a:t>05</a:t>
            </a:r>
            <a:r>
              <a:rPr xmlns:mc="http://schemas.openxmlformats.org/markup-compatibility/2006" xmlns:hp="http://schemas.haansoft.com/office/presentation/8.0" lang="ko-KR" altLang="en-US" sz="3400" b="0" i="0" strike="noStrike" mc:Ignorable="hp" hp:hslEmbossed="0">
                <a:solidFill>
                  <a:srgbClr val="7f90d4">
                    <a:alpha val="100000"/>
                  </a:srgbClr>
                </a:solidFill>
                <a:latin typeface="Arial"/>
                <a:ea typeface="굴림"/>
              </a:rPr>
              <a:t> </a:t>
            </a:r>
            <a:r>
              <a:rPr xmlns:mc="http://schemas.openxmlformats.org/markup-compatibility/2006" xmlns:hp="http://schemas.haansoft.com/office/presentation/8.0" lang="ko-KR" altLang="en-US" sz="3400" b="0" i="0" strike="noStrike" mc:Ignorable="hp" hp:hslEmbossed="0">
                <a:solidFill>
                  <a:schemeClr val="dk1"/>
                </a:solidFill>
                <a:latin typeface="Arial"/>
                <a:ea typeface="굴림"/>
              </a:rPr>
              <a:t>게임 시연</a:t>
            </a:r>
            <a:endParaRPr xmlns:mc="http://schemas.openxmlformats.org/markup-compatibility/2006" xmlns:hp="http://schemas.haansoft.com/office/presentation/8.0" lang="ko-KR" altLang="en-US" sz="3400" b="0" i="0" strike="noStrike" mc:Ignorable="hp" hp:hslEmbossed="0">
              <a:solidFill>
                <a:schemeClr val="dk1"/>
              </a:solidFill>
              <a:latin typeface="Arial"/>
              <a:ea typeface="굴림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3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635693" y="632336"/>
            <a:ext cx="1501661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w="sm" len="sm"/>
            <a:tailEnd w="sm" len="sm"/>
          </a:ln>
        </p:spPr>
        <p:txBody>
          <a:bodyPr wrap="square" anchor="ctr"/>
          <a:p>
            <a:pPr algn="ctr">
              <a:defRPr/>
            </a:pPr>
            <a:endParaRPr lang="ko-KR" altLang="en-US"/>
          </a:p>
        </p:txBody>
      </p:sp>
      <p:sp>
        <p:nvSpPr>
          <p:cNvPr id="3" name="AutoShape 3"/>
          <p:cNvSpPr/>
          <p:nvPr/>
        </p:nvSpPr>
        <p:spPr>
          <a:xfrm>
            <a:off x="1635693" y="9654664"/>
            <a:ext cx="1501661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w="sm" len="sm"/>
            <a:tailEnd w="sm" len="sm"/>
          </a:ln>
        </p:spPr>
        <p:txBody>
          <a:bodyPr wrap="square" anchor="ctr"/>
          <a:p>
            <a:pPr algn="ctr">
              <a:defRPr/>
            </a:pPr>
            <a:endParaRPr lang="ko-KR" altLang="en-US"/>
          </a:p>
        </p:txBody>
      </p:sp>
      <p:sp>
        <p:nvSpPr>
          <p:cNvPr id="4" name="AutoShape 4"/>
          <p:cNvSpPr/>
          <p:nvPr/>
        </p:nvSpPr>
        <p:spPr>
          <a:xfrm flipV="1">
            <a:off x="9144000" y="4616905"/>
            <a:ext cx="0" cy="3732686"/>
          </a:xfrm>
          <a:prstGeom prst="line">
            <a:avLst/>
          </a:prstGeom>
          <a:ln w="19050" cap="flat">
            <a:solidFill>
              <a:srgbClr val="000000"/>
            </a:solidFill>
            <a:prstDash val="lgDash"/>
            <a:headEnd w="sm" len="sm"/>
            <a:tailEnd w="sm" len="sm"/>
          </a:ln>
        </p:spPr>
        <p:txBody>
          <a:bodyPr wrap="square" anchor="ctr"/>
          <a:p>
            <a:pPr algn="ctr">
              <a:defRPr/>
            </a:pPr>
            <a:endParaRPr lang="ko-KR" altLang="en-US"/>
          </a:p>
        </p:txBody>
      </p:sp>
      <p:sp>
        <p:nvSpPr>
          <p:cNvPr id="7" name="TextBox 7"/>
          <p:cNvSpPr txBox="1"/>
          <p:nvPr/>
        </p:nvSpPr>
        <p:spPr>
          <a:xfrm>
            <a:off x="10515600" y="4533900"/>
            <a:ext cx="4774256" cy="495299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ctr">
              <a:lnSpc>
                <a:spcPts val="3872"/>
              </a:lnSpc>
              <a:defRPr/>
            </a:pPr>
            <a:r>
              <a:rPr lang="ko-KR" altLang="en-US" sz="32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팀원</a:t>
            </a:r>
            <a:endParaRPr lang="ko-KR" altLang="en-US" sz="3200" b="1" spc="-160">
              <a:solidFill>
                <a:srgbClr val="000000"/>
              </a:solidFill>
              <a:latin typeface="Nanum Square Bold"/>
              <a:ea typeface="Nanum Square Bold"/>
              <a:cs typeface="Nanum Square Bold"/>
              <a:sym typeface="Nanum Square Bold"/>
            </a:endParaRPr>
          </a:p>
        </p:txBody>
      </p:sp>
      <p:sp>
        <p:nvSpPr>
          <p:cNvPr id="8" name="TextBox 8"/>
          <p:cNvSpPr txBox="1"/>
          <p:nvPr/>
        </p:nvSpPr>
        <p:spPr>
          <a:xfrm>
            <a:off x="8839200" y="6134100"/>
            <a:ext cx="8153400" cy="466725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712"/>
              </a:lnSpc>
              <a:defRPr/>
            </a:pPr>
            <a:r>
              <a:rPr lang="ko-KR" altLang="en-US" sz="3600" spc="-160">
                <a:solidFill>
                  <a:srgbClr val="737373"/>
                </a:solidFill>
                <a:latin typeface="배달의민족 한나체 Pro"/>
                <a:ea typeface="배달의민족 한나체 Pro"/>
                <a:cs typeface="Nanum Square"/>
                <a:sym typeface="Nanum Square"/>
              </a:rPr>
              <a:t>최원욱	</a:t>
            </a:r>
            <a:r>
              <a:rPr lang="ko-KR" altLang="en-US" sz="3600" spc="-160">
                <a:solidFill>
                  <a:srgbClr val="737373"/>
                </a:solidFill>
                <a:effectLst/>
                <a:latin typeface="배달의민족 한나체 Pro"/>
                <a:ea typeface="배달의민족 한나체 Pro"/>
                <a:cs typeface="Nanum Square"/>
                <a:sym typeface="Nanum Square"/>
              </a:rPr>
              <a:t>박상민</a:t>
            </a:r>
            <a:r>
              <a:rPr lang="ko-KR" altLang="en-US" sz="3200" spc="-160">
                <a:solidFill>
                  <a:srgbClr val="737373"/>
                </a:solidFill>
                <a:effectLst/>
                <a:latin typeface="Nanum Square"/>
                <a:ea typeface="Nanum Square"/>
                <a:cs typeface="Nanum Square"/>
                <a:sym typeface="Nanum Square"/>
              </a:rPr>
              <a:t> </a:t>
            </a:r>
            <a:r>
              <a:rPr lang="ko-KR" altLang="en-US" sz="3200" b="1" spc="-160">
                <a:solidFill>
                  <a:srgbClr val="737373"/>
                </a:solidFill>
                <a:latin typeface="Nanum Square"/>
                <a:ea typeface="Nanum Square"/>
                <a:cs typeface="Nanum Square"/>
                <a:sym typeface="Nanum Square"/>
              </a:rPr>
              <a:t> </a:t>
            </a:r>
            <a:r>
              <a:rPr lang="ko-KR" altLang="en-US" sz="3200" spc="-160">
                <a:solidFill>
                  <a:srgbClr val="737373"/>
                </a:solidFill>
                <a:latin typeface="Nanum Square"/>
                <a:ea typeface="Nanum Square"/>
                <a:cs typeface="Nanum Square"/>
                <a:sym typeface="Nanum Square"/>
              </a:rPr>
              <a:t>      </a:t>
            </a:r>
            <a:r>
              <a:rPr lang="ko-KR" altLang="en-US" sz="3600" spc="-160">
                <a:solidFill>
                  <a:srgbClr val="737373"/>
                </a:solidFill>
                <a:latin typeface="배달의민족 한나체 Pro"/>
                <a:ea typeface="배달의민족 한나체 Pro"/>
                <a:cs typeface="Nanum Square"/>
                <a:sym typeface="Nanum Square"/>
              </a:rPr>
              <a:t>한세윤</a:t>
            </a:r>
            <a:endParaRPr lang="ko-KR" altLang="en-US" sz="3600" spc="-160">
              <a:solidFill>
                <a:srgbClr val="737373"/>
              </a:solidFill>
              <a:latin typeface="배달의민족 한나체 Pro"/>
              <a:ea typeface="배달의민족 한나체 Pro"/>
              <a:cs typeface="Nanum Square"/>
              <a:sym typeface="Nanum Square"/>
            </a:endParaRPr>
          </a:p>
        </p:txBody>
      </p:sp>
      <p:sp>
        <p:nvSpPr>
          <p:cNvPr id="9" name="TextBox 9"/>
          <p:cNvSpPr txBox="1"/>
          <p:nvPr/>
        </p:nvSpPr>
        <p:spPr>
          <a:xfrm>
            <a:off x="4078981" y="1757250"/>
            <a:ext cx="10130038" cy="1024050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ctr">
              <a:lnSpc>
                <a:spcPts val="8064"/>
              </a:lnSpc>
              <a:defRPr/>
            </a:pPr>
            <a:r>
              <a:rPr lang="ko-KR" altLang="en-US" sz="7200" b="1" spc="-359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팀원 소개</a:t>
            </a:r>
            <a:endParaRPr lang="ko-KR" altLang="en-US" sz="7200" b="1" spc="-359">
              <a:solidFill>
                <a:srgbClr val="000000"/>
              </a:solidFill>
              <a:latin typeface="Nanum Square Bold"/>
              <a:ea typeface="Nanum Square Bold"/>
              <a:cs typeface="Nanum Square Bold"/>
              <a:sym typeface="Nanum Square Bold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6950337" y="1450150"/>
            <a:ext cx="4387325" cy="302450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ctr">
              <a:lnSpc>
                <a:spcPts val="2352"/>
              </a:lnSpc>
              <a:defRPr/>
            </a:pPr>
            <a:endParaRPr lang="en-US" altLang="ko-KR" sz="2100" b="1">
              <a:solidFill>
                <a:srgbClr val="737373"/>
              </a:solidFill>
              <a:latin typeface="Heebo Bold"/>
              <a:ea typeface="Heebo Bold"/>
              <a:cs typeface="Heebo Bold"/>
              <a:sym typeface="Heebo Bold"/>
            </a:endParaRPr>
          </a:p>
        </p:txBody>
      </p:sp>
      <p:pic>
        <p:nvPicPr>
          <p:cNvPr id="12" name="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2971800" y="3695700"/>
            <a:ext cx="4876800" cy="5044965"/>
          </a:xfrm>
          <a:prstGeom prst="rect">
            <a:avLst/>
          </a:prstGeom>
          <a:effectLst>
            <a:outerShdw blurRad="76200" dist="76200" dir="2700000" algn="ctr" rotWithShape="0">
              <a:srgbClr val="000000">
                <a:alpha val="50000"/>
              </a:srgbClr>
            </a:outerShdw>
          </a:effectLst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4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635693" y="632336"/>
            <a:ext cx="1501661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w="sm" len="sm"/>
            <a:tailEnd w="sm" len="sm"/>
          </a:ln>
        </p:spPr>
        <p:txBody>
          <a:bodyPr wrap="square" anchor="ctr"/>
          <a:p>
            <a:pPr algn="ctr">
              <a:defRPr/>
            </a:pPr>
            <a:endParaRPr lang="ko-KR" altLang="en-US"/>
          </a:p>
        </p:txBody>
      </p:sp>
      <p:sp>
        <p:nvSpPr>
          <p:cNvPr id="3" name="AutoShape 3"/>
          <p:cNvSpPr/>
          <p:nvPr/>
        </p:nvSpPr>
        <p:spPr>
          <a:xfrm>
            <a:off x="1635693" y="9654664"/>
            <a:ext cx="1501661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w="sm" len="sm"/>
            <a:tailEnd w="sm" len="sm"/>
          </a:ln>
        </p:spPr>
        <p:txBody>
          <a:bodyPr wrap="square" anchor="ctr"/>
          <a:p>
            <a:pPr algn="ctr">
              <a:defRPr/>
            </a:pPr>
            <a:endParaRPr lang="ko-KR" altLang="en-US"/>
          </a:p>
        </p:txBody>
      </p:sp>
      <p:sp>
        <p:nvSpPr>
          <p:cNvPr id="9" name="TextBox 9"/>
          <p:cNvSpPr txBox="1"/>
          <p:nvPr/>
        </p:nvSpPr>
        <p:spPr>
          <a:xfrm>
            <a:off x="4078981" y="1757250"/>
            <a:ext cx="10130038" cy="1024050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ctr">
              <a:lnSpc>
                <a:spcPts val="8064"/>
              </a:lnSpc>
              <a:defRPr/>
            </a:pPr>
            <a:r>
              <a:rPr lang="ko-KR" altLang="en-US" sz="7200" b="1" spc="-359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개발 계획</a:t>
            </a:r>
            <a:endParaRPr lang="ko-KR" altLang="en-US" sz="7200" b="1" spc="-359">
              <a:solidFill>
                <a:srgbClr val="000000"/>
              </a:solidFill>
              <a:latin typeface="Nanum Square Bold"/>
              <a:ea typeface="Nanum Square Bold"/>
              <a:cs typeface="Nanum Square Bold"/>
              <a:sym typeface="Nanum Square Bold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6950337" y="1450150"/>
            <a:ext cx="4387325" cy="302450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ctr">
              <a:lnSpc>
                <a:spcPts val="2352"/>
              </a:lnSpc>
              <a:defRPr/>
            </a:pPr>
            <a:r>
              <a:rPr lang="en-US" altLang="ko-KR" sz="2100" b="1">
                <a:solidFill>
                  <a:srgbClr val="737373"/>
                </a:solidFill>
                <a:latin typeface="Heebo Bold"/>
                <a:ea typeface="Heebo Bold"/>
                <a:cs typeface="Heebo Bold"/>
                <a:sym typeface="Heebo Bold"/>
              </a:rPr>
              <a:t>Development Plan</a:t>
            </a:r>
            <a:endParaRPr lang="en-US" altLang="ko-KR" sz="2100" b="1">
              <a:solidFill>
                <a:srgbClr val="737373"/>
              </a:solidFill>
              <a:latin typeface="Heebo Bold"/>
              <a:ea typeface="Heebo Bold"/>
              <a:cs typeface="Heebo Bold"/>
              <a:sym typeface="Heebo Bold"/>
            </a:endParaRPr>
          </a:p>
        </p:txBody>
      </p:sp>
      <p:pic>
        <p:nvPicPr>
          <p:cNvPr id="11" name="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2133600" y="3238500"/>
            <a:ext cx="3276600" cy="1080580"/>
          </a:xfrm>
          <a:prstGeom prst="rect">
            <a:avLst/>
          </a:prstGeom>
          <a:effectLst>
            <a:outerShdw blurRad="76200" dist="76200" dir="2700000" algn="ctr" rotWithShape="0">
              <a:srgbClr val="000000">
                <a:alpha val="50000"/>
              </a:srgbClr>
            </a:outerShdw>
          </a:effectLst>
        </p:spPr>
      </p:pic>
      <p:sp>
        <p:nvSpPr>
          <p:cNvPr id="12" name="TextBox 6"/>
          <p:cNvSpPr txBox="1"/>
          <p:nvPr/>
        </p:nvSpPr>
        <p:spPr>
          <a:xfrm>
            <a:off x="2133600" y="4547489"/>
            <a:ext cx="10030815" cy="986536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3872"/>
              </a:lnSpc>
              <a:defRPr/>
            </a:pPr>
            <a:r>
              <a:rPr lang="en-US" sz="32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플래시365</a:t>
            </a:r>
            <a:r>
              <a:rPr lang="ko-KR" altLang="en-US" sz="32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 </a:t>
            </a:r>
            <a:r>
              <a:rPr lang="en-US" sz="32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처럼 여러 미니 게임을 한 곳에 모아 </a:t>
            </a:r>
            <a:endParaRPr lang="en-US" sz="3200" b="1" spc="-160">
              <a:solidFill>
                <a:srgbClr val="000000"/>
              </a:solidFill>
              <a:latin typeface="Nanum Square Bold"/>
              <a:ea typeface="Nanum Square Bold"/>
              <a:cs typeface="Nanum Square Bold"/>
              <a:sym typeface="Nanum Square Bold"/>
            </a:endParaRPr>
          </a:p>
          <a:p>
            <a:pPr algn="l">
              <a:lnSpc>
                <a:spcPts val="3872"/>
              </a:lnSpc>
              <a:defRPr/>
            </a:pPr>
            <a:r>
              <a:rPr lang="en-US" sz="32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제공하는 웹 플랫폼을 </a:t>
            </a:r>
            <a:r>
              <a:rPr lang="ko-KR" altLang="en-US" sz="32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모티브 </a:t>
            </a:r>
            <a:endParaRPr lang="ko-KR" altLang="en-US" sz="3200" b="1" spc="-160">
              <a:solidFill>
                <a:srgbClr val="000000"/>
              </a:solidFill>
              <a:latin typeface="Nanum Square Bold"/>
              <a:ea typeface="Nanum Square Bold"/>
              <a:cs typeface="Nanum Square Bold"/>
              <a:sym typeface="Nanum Square Bold"/>
            </a:endParaRPr>
          </a:p>
        </p:txBody>
      </p:sp>
      <p:sp>
        <p:nvSpPr>
          <p:cNvPr id="15" name="TextBox 6"/>
          <p:cNvSpPr txBox="1"/>
          <p:nvPr/>
        </p:nvSpPr>
        <p:spPr>
          <a:xfrm>
            <a:off x="2133600" y="5715000"/>
            <a:ext cx="10030815" cy="3467100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3872"/>
              </a:lnSpc>
              <a:defRPr/>
            </a:pPr>
            <a:r>
              <a:rPr lang="ko-KR" altLang="en-US" sz="32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기초 소스 탐색 및 개발 진행</a:t>
            </a:r>
            <a:endParaRPr lang="ko-KR" altLang="en-US" sz="3200" b="1" spc="-160">
              <a:solidFill>
                <a:srgbClr val="000000"/>
              </a:solidFill>
              <a:latin typeface="Nanum Square Bold"/>
              <a:ea typeface="Nanum Square Bold"/>
              <a:cs typeface="Nanum Square Bold"/>
              <a:sym typeface="Nanum Square Bold"/>
            </a:endParaRPr>
          </a:p>
          <a:p>
            <a:pPr algn="l">
              <a:lnSpc>
                <a:spcPts val="3872"/>
              </a:lnSpc>
              <a:defRPr/>
            </a:pPr>
            <a:endParaRPr lang="ko-KR" altLang="en-US" sz="3200" b="1" spc="-160">
              <a:solidFill>
                <a:srgbClr val="000000"/>
              </a:solidFill>
              <a:latin typeface="Nanum Square Bold"/>
              <a:ea typeface="Nanum Square Bold"/>
              <a:cs typeface="Nanum Square Bold"/>
              <a:sym typeface="Nanum Square Bold"/>
            </a:endParaRPr>
          </a:p>
          <a:p>
            <a:pPr algn="l">
              <a:lnSpc>
                <a:spcPts val="3872"/>
              </a:lnSpc>
              <a:defRPr/>
            </a:pPr>
            <a:r>
              <a:rPr lang="en-US" altLang="ko-KR" sz="32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-</a:t>
            </a:r>
            <a:r>
              <a:rPr lang="ko-KR" altLang="en-US" sz="32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 </a:t>
            </a:r>
            <a:r>
              <a:rPr lang="en-US" altLang="ko-KR" sz="32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Clicker </a:t>
            </a:r>
            <a:r>
              <a:rPr lang="ko-KR" altLang="en-US" sz="32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게임</a:t>
            </a:r>
            <a:endParaRPr lang="ko-KR" altLang="en-US" sz="3200" b="1" spc="-160">
              <a:solidFill>
                <a:srgbClr val="000000"/>
              </a:solidFill>
              <a:latin typeface="Nanum Square Bold"/>
              <a:ea typeface="Nanum Square Bold"/>
              <a:cs typeface="Nanum Square Bold"/>
              <a:sym typeface="Nanum Square Bold"/>
            </a:endParaRPr>
          </a:p>
          <a:p>
            <a:pPr algn="l">
              <a:lnSpc>
                <a:spcPts val="3872"/>
              </a:lnSpc>
              <a:defRPr/>
            </a:pPr>
            <a:endParaRPr lang="ko-KR" altLang="en-US" sz="3200" b="1" spc="-160">
              <a:solidFill>
                <a:srgbClr val="000000"/>
              </a:solidFill>
              <a:latin typeface="Nanum Square Bold"/>
              <a:ea typeface="Nanum Square Bold"/>
              <a:cs typeface="Nanum Square Bold"/>
              <a:sym typeface="Nanum Square Bold"/>
            </a:endParaRPr>
          </a:p>
          <a:p>
            <a:pPr algn="l">
              <a:lnSpc>
                <a:spcPts val="3872"/>
              </a:lnSpc>
              <a:defRPr/>
            </a:pPr>
            <a:r>
              <a:rPr lang="en-US" altLang="ko-KR" sz="32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-</a:t>
            </a:r>
            <a:r>
              <a:rPr lang="ko-KR" altLang="en-US" sz="32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 </a:t>
            </a:r>
            <a:r>
              <a:rPr lang="en-US" altLang="ko-KR" sz="32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Fishing</a:t>
            </a:r>
            <a:r>
              <a:rPr lang="ko-KR" altLang="en-US" sz="32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 게임</a:t>
            </a:r>
            <a:endParaRPr lang="ko-KR" altLang="en-US" sz="3200" b="1" spc="-160">
              <a:solidFill>
                <a:srgbClr val="000000"/>
              </a:solidFill>
              <a:latin typeface="Nanum Square Bold"/>
              <a:ea typeface="Nanum Square Bold"/>
              <a:cs typeface="Nanum Square Bold"/>
              <a:sym typeface="Nanum Square Bold"/>
            </a:endParaRPr>
          </a:p>
          <a:p>
            <a:pPr algn="l">
              <a:lnSpc>
                <a:spcPts val="3872"/>
              </a:lnSpc>
              <a:defRPr/>
            </a:pPr>
            <a:endParaRPr lang="ko-KR" altLang="en-US" sz="3200" b="1" spc="-160">
              <a:solidFill>
                <a:srgbClr val="000000"/>
              </a:solidFill>
              <a:latin typeface="Nanum Square Bold"/>
              <a:ea typeface="Nanum Square Bold"/>
              <a:cs typeface="Nanum Square Bold"/>
              <a:sym typeface="Nanum Square Bold"/>
            </a:endParaRPr>
          </a:p>
          <a:p>
            <a:pPr algn="l">
              <a:lnSpc>
                <a:spcPts val="3872"/>
              </a:lnSpc>
              <a:defRPr/>
            </a:pPr>
            <a:r>
              <a:rPr lang="en-US" altLang="ko-KR" sz="32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-</a:t>
            </a:r>
            <a:r>
              <a:rPr lang="ko-KR" altLang="en-US" sz="32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 </a:t>
            </a:r>
            <a:r>
              <a:rPr lang="en-US" altLang="ko-KR" sz="32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Runner</a:t>
            </a:r>
            <a:r>
              <a:rPr lang="ko-KR" altLang="en-US" sz="32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 게임</a:t>
            </a:r>
            <a:endParaRPr lang="ko-KR" altLang="en-US" sz="3200" b="1" spc="-160">
              <a:solidFill>
                <a:srgbClr val="000000"/>
              </a:solidFill>
              <a:latin typeface="Nanum Square Bold"/>
              <a:ea typeface="Nanum Square Bold"/>
              <a:cs typeface="Nanum Square Bold"/>
              <a:sym typeface="Nanum Square Bold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5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635693" y="632336"/>
            <a:ext cx="1501661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w="sm" len="sm"/>
            <a:tailEnd w="sm" len="sm"/>
          </a:ln>
        </p:spPr>
        <p:txBody>
          <a:bodyPr wrap="square"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3" name="AutoShape 3"/>
          <p:cNvSpPr/>
          <p:nvPr/>
        </p:nvSpPr>
        <p:spPr>
          <a:xfrm>
            <a:off x="1635693" y="9654664"/>
            <a:ext cx="1501661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w="sm" len="sm"/>
            <a:tailEnd w="sm" len="sm"/>
          </a:ln>
        </p:spPr>
        <p:txBody>
          <a:bodyPr wrap="square"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9" name="TextBox 9"/>
          <p:cNvSpPr txBox="1"/>
          <p:nvPr/>
        </p:nvSpPr>
        <p:spPr>
          <a:xfrm>
            <a:off x="4078981" y="2366850"/>
            <a:ext cx="10130038" cy="1024050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ctr">
              <a:lnSpc>
                <a:spcPts val="8064"/>
              </a:lnSpc>
              <a:defRPr/>
            </a:pPr>
            <a:r>
              <a:rPr lang="en-US" altLang="ko-KR" sz="7200" b="1" spc="-359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Clicker Game</a:t>
            </a:r>
            <a:endParaRPr lang="en-US" altLang="ko-KR" sz="7200" b="1" spc="-359">
              <a:solidFill>
                <a:srgbClr val="000000"/>
              </a:solidFill>
              <a:latin typeface="Nanum Square Bold"/>
              <a:ea typeface="Nanum Square Bold"/>
              <a:cs typeface="Nanum Square Bold"/>
              <a:sym typeface="Nanum Square Bold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6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635693" y="632336"/>
            <a:ext cx="1501661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w="sm" len="sm"/>
            <a:tailEnd w="sm" len="sm"/>
          </a:ln>
        </p:spPr>
        <p:txBody>
          <a:bodyPr wrap="square" anchor="ctr"/>
          <a:p>
            <a:pPr algn="ctr">
              <a:defRPr/>
            </a:pPr>
            <a:endParaRPr lang="ko-KR" altLang="en-US"/>
          </a:p>
        </p:txBody>
      </p:sp>
      <p:sp>
        <p:nvSpPr>
          <p:cNvPr id="3" name="AutoShape 3"/>
          <p:cNvSpPr/>
          <p:nvPr/>
        </p:nvSpPr>
        <p:spPr>
          <a:xfrm>
            <a:off x="1635693" y="9654664"/>
            <a:ext cx="1501661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w="sm" len="sm"/>
            <a:tailEnd w="sm" len="sm"/>
          </a:ln>
        </p:spPr>
        <p:txBody>
          <a:bodyPr wrap="square" anchor="ctr"/>
          <a:p>
            <a:pPr algn="ctr">
              <a:defRPr/>
            </a:pPr>
            <a:endParaRPr lang="ko-KR" altLang="en-US"/>
          </a:p>
        </p:txBody>
      </p:sp>
      <p:sp>
        <p:nvSpPr>
          <p:cNvPr id="5" name="TextBox 5"/>
          <p:cNvSpPr txBox="1"/>
          <p:nvPr/>
        </p:nvSpPr>
        <p:spPr>
          <a:xfrm>
            <a:off x="1635693" y="1428583"/>
            <a:ext cx="8014955" cy="1019342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8064"/>
              </a:lnSpc>
              <a:defRPr/>
            </a:pPr>
            <a:r>
              <a:rPr lang="ko-KR" altLang="en-US" sz="7200" b="1" spc="-359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기초 코드</a:t>
            </a:r>
            <a:endParaRPr lang="ko-KR" altLang="en-US" sz="7200" b="1" spc="-359">
              <a:solidFill>
                <a:srgbClr val="000000"/>
              </a:solidFill>
              <a:latin typeface="Nanum Square Bold"/>
              <a:ea typeface="Nanum Square Bold"/>
              <a:cs typeface="Nanum Square Bold"/>
              <a:sym typeface="Nanum Square Bold"/>
            </a:endParaRPr>
          </a:p>
        </p:txBody>
      </p:sp>
      <p:sp>
        <p:nvSpPr>
          <p:cNvPr id="7" name="TextBox 7"/>
          <p:cNvSpPr txBox="1"/>
          <p:nvPr/>
        </p:nvSpPr>
        <p:spPr>
          <a:xfrm>
            <a:off x="1714824" y="1121483"/>
            <a:ext cx="4211394" cy="297742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2352"/>
              </a:lnSpc>
              <a:defRPr/>
            </a:pPr>
            <a:r>
              <a:rPr lang="en-US" altLang="ko-KR" sz="2100" b="1">
                <a:solidFill>
                  <a:srgbClr val="737373"/>
                </a:solidFill>
                <a:latin typeface="Heebo Bold"/>
                <a:ea typeface="Heebo Bold"/>
                <a:cs typeface="Heebo Bold"/>
                <a:sym typeface="Heebo Bold"/>
              </a:rPr>
              <a:t>Clicker Game</a:t>
            </a:r>
            <a:endParaRPr lang="en-US" altLang="ko-KR" sz="2100" b="1">
              <a:solidFill>
                <a:srgbClr val="737373"/>
              </a:solidFill>
              <a:latin typeface="Heebo Bold"/>
              <a:ea typeface="Heebo Bold"/>
              <a:cs typeface="Heebo Bold"/>
              <a:sym typeface="Heebo Bold"/>
            </a:endParaRPr>
          </a:p>
        </p:txBody>
      </p:sp>
      <p:pic>
        <p:nvPicPr>
          <p:cNvPr id="8" name="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626843" y="2628900"/>
            <a:ext cx="13841757" cy="3705742"/>
          </a:xfrm>
          <a:prstGeom prst="rect">
            <a:avLst/>
          </a:prstGeom>
        </p:spPr>
      </p:pic>
      <p:sp>
        <p:nvSpPr>
          <p:cNvPr id="9" name="TextBox 6"/>
          <p:cNvSpPr txBox="1"/>
          <p:nvPr/>
        </p:nvSpPr>
        <p:spPr>
          <a:xfrm>
            <a:off x="1752600" y="6362700"/>
            <a:ext cx="9296400" cy="2971800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872"/>
              </a:lnSpc>
              <a:defRPr/>
            </a:pPr>
            <a:r>
              <a:rPr lang="en-US" altLang="ko-KR" sz="21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-</a:t>
            </a:r>
            <a:r>
              <a:rPr lang="ko-KR" altLang="en-US" sz="21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 </a:t>
            </a:r>
            <a:r>
              <a:rPr lang="en-US" altLang="ko-KR" sz="21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생성자 기반 상태 관리</a:t>
            </a:r>
            <a:endParaRPr lang="en-US" altLang="ko-KR" sz="2100" b="1" spc="-160">
              <a:solidFill>
                <a:srgbClr val="000000"/>
              </a:solidFill>
              <a:latin typeface="Nanum Square Bold"/>
              <a:ea typeface="Nanum Square Bold"/>
              <a:cs typeface="Nanum Square Bold"/>
              <a:sym typeface="Nanum Square Bold"/>
            </a:endParaRPr>
          </a:p>
          <a:p>
            <a:pPr algn="l">
              <a:lnSpc>
                <a:spcPts val="3872"/>
              </a:lnSpc>
              <a:defRPr/>
            </a:pPr>
            <a:r>
              <a:rPr lang="en-US" altLang="ko-KR" sz="21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time, score, target 등 저장</a:t>
            </a:r>
            <a:endParaRPr lang="en-US" altLang="ko-KR" sz="2100" b="1" spc="-160">
              <a:solidFill>
                <a:srgbClr val="000000"/>
              </a:solidFill>
              <a:latin typeface="Nanum Square Bold"/>
              <a:ea typeface="Nanum Square Bold"/>
              <a:cs typeface="Nanum Square Bold"/>
              <a:sym typeface="Nanum Square Bold"/>
            </a:endParaRPr>
          </a:p>
          <a:p>
            <a:pPr algn="l">
              <a:lnSpc>
                <a:spcPts val="3872"/>
              </a:lnSpc>
              <a:defRPr/>
            </a:pPr>
            <a:endParaRPr lang="en-US" altLang="ko-KR" sz="2100" b="1" spc="-160">
              <a:solidFill>
                <a:srgbClr val="000000"/>
              </a:solidFill>
              <a:latin typeface="Nanum Square Bold"/>
              <a:ea typeface="Nanum Square Bold"/>
              <a:cs typeface="Nanum Square Bold"/>
              <a:sym typeface="Nanum Square Bold"/>
            </a:endParaRPr>
          </a:p>
          <a:p>
            <a:pPr algn="l">
              <a:lnSpc>
                <a:spcPts val="3872"/>
              </a:lnSpc>
              <a:defRPr/>
            </a:pPr>
            <a:r>
              <a:rPr lang="en-US" altLang="ko-KR" sz="21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-</a:t>
            </a:r>
            <a:r>
              <a:rPr lang="ko-KR" altLang="en-US" sz="21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 update() 함수 </a:t>
            </a:r>
            <a:endParaRPr lang="ko-KR" altLang="en-US" sz="2100" b="1" spc="-160">
              <a:solidFill>
                <a:srgbClr val="000000"/>
              </a:solidFill>
              <a:latin typeface="Nanum Square Bold"/>
              <a:ea typeface="Nanum Square Bold"/>
              <a:cs typeface="Nanum Square Bold"/>
              <a:sym typeface="Nanum Square Bold"/>
            </a:endParaRPr>
          </a:p>
          <a:p>
            <a:pPr algn="l">
              <a:lnSpc>
                <a:spcPts val="3872"/>
              </a:lnSpc>
              <a:defRPr/>
            </a:pPr>
            <a:r>
              <a:rPr lang="ko-KR" altLang="en-US" sz="21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객체 생성/삭제</a:t>
            </a:r>
            <a:endParaRPr lang="ko-KR" altLang="en-US" sz="2100" b="1" spc="-160">
              <a:solidFill>
                <a:srgbClr val="000000"/>
              </a:solidFill>
              <a:latin typeface="Nanum Square Bold"/>
              <a:ea typeface="Nanum Square Bold"/>
              <a:cs typeface="Nanum Square Bold"/>
              <a:sym typeface="Nanum Square Bold"/>
            </a:endParaRPr>
          </a:p>
          <a:p>
            <a:pPr algn="l">
              <a:lnSpc>
                <a:spcPts val="3872"/>
              </a:lnSpc>
              <a:defRPr/>
            </a:pPr>
            <a:r>
              <a:rPr lang="ko-KR" altLang="en-US" sz="21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충돌(클릭 판정)</a:t>
            </a:r>
            <a:endParaRPr lang="ko-KR" altLang="en-US" sz="2100" b="1" spc="-160">
              <a:solidFill>
                <a:srgbClr val="000000"/>
              </a:solidFill>
              <a:latin typeface="Nanum Square Bold"/>
              <a:ea typeface="Nanum Square Bold"/>
              <a:cs typeface="Nanum Square Bold"/>
              <a:sym typeface="Nanum Square Bold"/>
            </a:endParaRPr>
          </a:p>
        </p:txBody>
      </p:sp>
      <p:pic>
        <p:nvPicPr>
          <p:cNvPr id="10" name="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11811000" y="5981700"/>
            <a:ext cx="3717590" cy="3220069"/>
          </a:xfrm>
          <a:prstGeom prst="rect">
            <a:avLst/>
          </a:prstGeom>
          <a:effectLst>
            <a:outerShdw blurRad="76200" dist="76200" dir="2700000" algn="ctr" rotWithShape="0">
              <a:srgbClr val="000000">
                <a:alpha val="50000"/>
              </a:srgbClr>
            </a:outerShdw>
          </a:effectLst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7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635693" y="632336"/>
            <a:ext cx="1501661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w="sm" len="sm"/>
            <a:tailEnd w="sm" len="sm"/>
          </a:ln>
        </p:spPr>
        <p:txBody>
          <a:bodyPr wrap="square" anchor="ctr"/>
          <a:p>
            <a:pPr algn="ctr">
              <a:defRPr/>
            </a:pPr>
            <a:endParaRPr lang="ko-KR" altLang="en-US"/>
          </a:p>
        </p:txBody>
      </p:sp>
      <p:sp>
        <p:nvSpPr>
          <p:cNvPr id="3" name="AutoShape 3"/>
          <p:cNvSpPr/>
          <p:nvPr/>
        </p:nvSpPr>
        <p:spPr>
          <a:xfrm>
            <a:off x="1635693" y="9654664"/>
            <a:ext cx="1501661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w="sm" len="sm"/>
            <a:tailEnd w="sm" len="sm"/>
          </a:ln>
        </p:spPr>
        <p:txBody>
          <a:bodyPr wrap="square" anchor="ctr"/>
          <a:p>
            <a:pPr algn="ctr">
              <a:defRPr/>
            </a:pPr>
            <a:endParaRPr lang="ko-KR" altLang="en-US"/>
          </a:p>
        </p:txBody>
      </p:sp>
      <p:sp>
        <p:nvSpPr>
          <p:cNvPr id="5" name="TextBox 5"/>
          <p:cNvSpPr txBox="1"/>
          <p:nvPr/>
        </p:nvSpPr>
        <p:spPr>
          <a:xfrm>
            <a:off x="1635693" y="1428583"/>
            <a:ext cx="8014955" cy="1019342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8064"/>
              </a:lnSpc>
              <a:defRPr/>
            </a:pPr>
            <a:r>
              <a:rPr lang="ko-KR" altLang="en-US" sz="7200" b="1" spc="-359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코드 업그레이드 </a:t>
            </a:r>
            <a:endParaRPr lang="ko-KR" altLang="en-US" sz="7200" b="1" spc="-359">
              <a:solidFill>
                <a:srgbClr val="000000"/>
              </a:solidFill>
              <a:latin typeface="Nanum Square Bold"/>
              <a:ea typeface="Nanum Square Bold"/>
              <a:cs typeface="Nanum Square Bold"/>
              <a:sym typeface="Nanum Square Bold"/>
            </a:endParaRPr>
          </a:p>
        </p:txBody>
      </p:sp>
      <p:sp>
        <p:nvSpPr>
          <p:cNvPr id="7" name="TextBox 7"/>
          <p:cNvSpPr txBox="1"/>
          <p:nvPr/>
        </p:nvSpPr>
        <p:spPr>
          <a:xfrm>
            <a:off x="1714824" y="1121483"/>
            <a:ext cx="4211394" cy="297742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2352"/>
              </a:lnSpc>
              <a:defRPr/>
            </a:pPr>
            <a:r>
              <a:rPr lang="en-US" altLang="ko-KR" sz="2100" b="1">
                <a:solidFill>
                  <a:srgbClr val="737373"/>
                </a:solidFill>
                <a:latin typeface="Heebo Bold"/>
                <a:ea typeface="Heebo Bold"/>
                <a:cs typeface="Heebo Bold"/>
                <a:sym typeface="Heebo Bold"/>
              </a:rPr>
              <a:t>Code Upgrade</a:t>
            </a:r>
            <a:endParaRPr lang="en-US" altLang="ko-KR" sz="2100" b="1">
              <a:solidFill>
                <a:srgbClr val="737373"/>
              </a:solidFill>
              <a:latin typeface="Heebo Bold"/>
              <a:ea typeface="Heebo Bold"/>
              <a:cs typeface="Heebo Bold"/>
              <a:sym typeface="Heebo Bold"/>
            </a:endParaRPr>
          </a:p>
        </p:txBody>
      </p:sp>
      <p:pic>
        <p:nvPicPr>
          <p:cNvPr id="11" name="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637358" y="2628900"/>
            <a:ext cx="6744641" cy="2191055"/>
          </a:xfrm>
          <a:prstGeom prst="rect">
            <a:avLst/>
          </a:prstGeom>
          <a:effectLst>
            <a:outerShdw blurRad="76200" dist="76200" dir="2700000" algn="ctr" rotWithShape="0">
              <a:srgbClr val="000000">
                <a:alpha val="50000"/>
              </a:srgbClr>
            </a:outerShdw>
          </a:effectLst>
        </p:spPr>
      </p:pic>
      <p:sp>
        <p:nvSpPr>
          <p:cNvPr id="12" name="TextBox 6"/>
          <p:cNvSpPr txBox="1"/>
          <p:nvPr/>
        </p:nvSpPr>
        <p:spPr>
          <a:xfrm>
            <a:off x="1676400" y="5448300"/>
            <a:ext cx="9296400" cy="3962400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872"/>
              </a:lnSpc>
              <a:defRPr/>
            </a:pPr>
            <a:r>
              <a:rPr lang="en-US" altLang="ko-KR" sz="21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-</a:t>
            </a:r>
            <a:r>
              <a:rPr lang="ko-KR" altLang="en-US" sz="21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 클릭 기반 게임  </a:t>
            </a:r>
            <a:r>
              <a:rPr lang="en-US" altLang="ko-KR" sz="21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&gt;</a:t>
            </a:r>
            <a:r>
              <a:rPr lang="ko-KR" altLang="en-US" sz="21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  웹에서의 </a:t>
            </a:r>
            <a:r>
              <a:rPr lang="en-US" altLang="ko-KR" sz="21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Aim traing </a:t>
            </a:r>
            <a:r>
              <a:rPr lang="ko-KR" altLang="en-US" sz="21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게임 개발</a:t>
            </a:r>
            <a:endParaRPr lang="ko-KR" altLang="en-US" sz="2100" b="1" spc="-160">
              <a:solidFill>
                <a:srgbClr val="000000"/>
              </a:solidFill>
              <a:latin typeface="Nanum Square Bold"/>
              <a:ea typeface="Nanum Square Bold"/>
              <a:cs typeface="Nanum Square Bold"/>
              <a:sym typeface="Nanum Square Bold"/>
            </a:endParaRPr>
          </a:p>
          <a:p>
            <a:pPr algn="l">
              <a:lnSpc>
                <a:spcPts val="3872"/>
              </a:lnSpc>
              <a:defRPr/>
            </a:pPr>
            <a:endParaRPr lang="ko-KR" altLang="en-US" sz="2100" b="1" spc="-160">
              <a:solidFill>
                <a:srgbClr val="000000"/>
              </a:solidFill>
              <a:latin typeface="Nanum Square Bold"/>
              <a:ea typeface="Nanum Square Bold"/>
              <a:cs typeface="Nanum Square Bold"/>
              <a:sym typeface="Nanum Square Bold"/>
            </a:endParaRPr>
          </a:p>
          <a:p>
            <a:pPr algn="l">
              <a:lnSpc>
                <a:spcPts val="3872"/>
              </a:lnSpc>
              <a:defRPr/>
            </a:pPr>
            <a:r>
              <a:rPr lang="en-US" altLang="ko-KR" sz="21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-</a:t>
            </a:r>
            <a:r>
              <a:rPr lang="ko-KR" altLang="en-US" sz="21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 웹 에서의 </a:t>
            </a:r>
            <a:r>
              <a:rPr lang="en-US" altLang="ko-KR" sz="21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3D</a:t>
            </a:r>
            <a:r>
              <a:rPr lang="ko-KR" altLang="en-US" sz="21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 구현</a:t>
            </a:r>
            <a:endParaRPr lang="ko-KR" altLang="en-US" sz="2100" b="1" spc="-160">
              <a:solidFill>
                <a:srgbClr val="000000"/>
              </a:solidFill>
              <a:latin typeface="Nanum Square Bold"/>
              <a:ea typeface="Nanum Square Bold"/>
              <a:cs typeface="Nanum Square Bold"/>
              <a:sym typeface="Nanum Square Bold"/>
            </a:endParaRPr>
          </a:p>
          <a:p>
            <a:pPr algn="l">
              <a:lnSpc>
                <a:spcPts val="3872"/>
              </a:lnSpc>
              <a:defRPr/>
            </a:pPr>
            <a:endParaRPr lang="ko-KR" altLang="en-US" sz="2100" b="1" spc="-160">
              <a:solidFill>
                <a:srgbClr val="000000"/>
              </a:solidFill>
              <a:latin typeface="Nanum Square Bold"/>
              <a:ea typeface="Nanum Square Bold"/>
              <a:cs typeface="Nanum Square Bold"/>
              <a:sym typeface="Nanum Square Bold"/>
            </a:endParaRPr>
          </a:p>
          <a:p>
            <a:pPr algn="l">
              <a:lnSpc>
                <a:spcPts val="3872"/>
              </a:lnSpc>
              <a:defRPr/>
            </a:pPr>
            <a:r>
              <a:rPr lang="en-US" altLang="ko-KR" sz="21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-</a:t>
            </a:r>
            <a:r>
              <a:rPr lang="ko-KR" altLang="en-US" sz="21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 시각 효과 업그레이드</a:t>
            </a:r>
            <a:endParaRPr lang="ko-KR" altLang="en-US" sz="2100" b="1" spc="-160">
              <a:solidFill>
                <a:srgbClr val="000000"/>
              </a:solidFill>
              <a:latin typeface="Nanum Square Bold"/>
              <a:ea typeface="Nanum Square Bold"/>
              <a:cs typeface="Nanum Square Bold"/>
              <a:sym typeface="Nanum Square Bold"/>
            </a:endParaRPr>
          </a:p>
          <a:p>
            <a:pPr algn="l">
              <a:lnSpc>
                <a:spcPts val="3872"/>
              </a:lnSpc>
              <a:defRPr/>
            </a:pPr>
            <a:endParaRPr lang="en-US" altLang="ko-KR" sz="2100" b="1" spc="-160">
              <a:solidFill>
                <a:srgbClr val="000000"/>
              </a:solidFill>
              <a:latin typeface="Nanum Square Bold"/>
              <a:ea typeface="Nanum Square Bold"/>
              <a:cs typeface="Nanum Square Bold"/>
              <a:sym typeface="Nanum Square Bold"/>
            </a:endParaRPr>
          </a:p>
          <a:p>
            <a:pPr algn="l">
              <a:lnSpc>
                <a:spcPts val="3872"/>
              </a:lnSpc>
              <a:defRPr/>
            </a:pPr>
            <a:r>
              <a:rPr lang="en-US" altLang="ko-KR" sz="21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-</a:t>
            </a:r>
            <a:r>
              <a:rPr lang="ko-KR" altLang="en-US" sz="21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 게임성 확장</a:t>
            </a:r>
            <a:endParaRPr lang="ko-KR" altLang="en-US" sz="2100" b="1" spc="-160">
              <a:solidFill>
                <a:srgbClr val="000000"/>
              </a:solidFill>
              <a:latin typeface="Nanum Square Bold"/>
              <a:ea typeface="Nanum Square Bold"/>
              <a:cs typeface="Nanum Square Bold"/>
              <a:sym typeface="Nanum Square Bold"/>
            </a:endParaRPr>
          </a:p>
          <a:p>
            <a:pPr algn="l">
              <a:lnSpc>
                <a:spcPts val="3872"/>
              </a:lnSpc>
              <a:defRPr/>
            </a:pPr>
            <a:endParaRPr lang="ko-KR" altLang="en-US" sz="2100" b="1" spc="-160">
              <a:solidFill>
                <a:srgbClr val="000000"/>
              </a:solidFill>
              <a:latin typeface="Nanum Square Bold"/>
              <a:ea typeface="Nanum Square Bold"/>
              <a:cs typeface="Nanum Square Bold"/>
              <a:sym typeface="Nanum Square Bold"/>
            </a:endParaRPr>
          </a:p>
        </p:txBody>
      </p:sp>
      <p:sp>
        <p:nvSpPr>
          <p:cNvPr id="13" name="TextBox 6"/>
          <p:cNvSpPr txBox="1"/>
          <p:nvPr/>
        </p:nvSpPr>
        <p:spPr>
          <a:xfrm>
            <a:off x="5791200" y="4686300"/>
            <a:ext cx="9296400" cy="990600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872"/>
              </a:lnSpc>
              <a:defRPr/>
            </a:pPr>
            <a:r>
              <a:rPr lang="en-US" altLang="ko-KR" sz="16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(Unity</a:t>
            </a:r>
            <a:r>
              <a:rPr lang="ko-KR" altLang="en-US" sz="16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 기반의 대표적인 클릭 게임</a:t>
            </a:r>
            <a:r>
              <a:rPr lang="en-US" altLang="ko-KR" sz="16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)</a:t>
            </a:r>
            <a:endParaRPr lang="en-US" altLang="ko-KR" sz="1600" b="1" spc="-160">
              <a:solidFill>
                <a:srgbClr val="000000"/>
              </a:solidFill>
              <a:latin typeface="Nanum Square Bold"/>
              <a:ea typeface="Nanum Square Bold"/>
              <a:cs typeface="Nanum Square Bold"/>
              <a:sym typeface="Nanum Square Bold"/>
            </a:endParaRPr>
          </a:p>
          <a:p>
            <a:pPr algn="l">
              <a:lnSpc>
                <a:spcPts val="3872"/>
              </a:lnSpc>
              <a:defRPr/>
            </a:pPr>
            <a:endParaRPr lang="ko-KR" altLang="en-US" sz="2100" b="1" spc="-160">
              <a:solidFill>
                <a:srgbClr val="000000"/>
              </a:solidFill>
              <a:latin typeface="Nanum Square Bold"/>
              <a:ea typeface="Nanum Square Bold"/>
              <a:cs typeface="Nanum Square Bold"/>
              <a:sym typeface="Nanum Square Bold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8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635693" y="632336"/>
            <a:ext cx="1501661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w="sm" len="sm"/>
            <a:tailEnd w="sm" len="sm"/>
          </a:ln>
        </p:spPr>
        <p:txBody>
          <a:bodyPr wrap="square" anchor="ctr"/>
          <a:p>
            <a:pPr algn="ctr">
              <a:defRPr/>
            </a:pPr>
            <a:endParaRPr lang="ko-KR" altLang="en-US"/>
          </a:p>
        </p:txBody>
      </p:sp>
      <p:sp>
        <p:nvSpPr>
          <p:cNvPr id="3" name="AutoShape 3"/>
          <p:cNvSpPr/>
          <p:nvPr/>
        </p:nvSpPr>
        <p:spPr>
          <a:xfrm>
            <a:off x="1635693" y="9654664"/>
            <a:ext cx="1501661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w="sm" len="sm"/>
            <a:tailEnd w="sm" len="sm"/>
          </a:ln>
        </p:spPr>
        <p:txBody>
          <a:bodyPr wrap="square" anchor="ctr"/>
          <a:p>
            <a:pPr algn="ctr">
              <a:defRPr/>
            </a:pPr>
            <a:endParaRPr lang="ko-KR" altLang="en-US"/>
          </a:p>
        </p:txBody>
      </p:sp>
      <p:sp>
        <p:nvSpPr>
          <p:cNvPr id="5" name="TextBox 5"/>
          <p:cNvSpPr txBox="1"/>
          <p:nvPr/>
        </p:nvSpPr>
        <p:spPr>
          <a:xfrm>
            <a:off x="1635693" y="1428583"/>
            <a:ext cx="8014955" cy="1019342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8064"/>
              </a:lnSpc>
              <a:defRPr/>
            </a:pPr>
            <a:r>
              <a:rPr lang="ko-KR" altLang="en-US" sz="7200" b="1" spc="-359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코드 업그레이드 </a:t>
            </a:r>
            <a:endParaRPr lang="ko-KR" altLang="en-US" sz="7200" b="1" spc="-359">
              <a:solidFill>
                <a:srgbClr val="000000"/>
              </a:solidFill>
              <a:latin typeface="Nanum Square Bold"/>
              <a:ea typeface="Nanum Square Bold"/>
              <a:cs typeface="Nanum Square Bold"/>
              <a:sym typeface="Nanum Square Bold"/>
            </a:endParaRPr>
          </a:p>
        </p:txBody>
      </p:sp>
      <p:sp>
        <p:nvSpPr>
          <p:cNvPr id="7" name="TextBox 7"/>
          <p:cNvSpPr txBox="1"/>
          <p:nvPr/>
        </p:nvSpPr>
        <p:spPr>
          <a:xfrm>
            <a:off x="1714824" y="1121483"/>
            <a:ext cx="4211394" cy="297742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2352"/>
              </a:lnSpc>
              <a:defRPr/>
            </a:pPr>
            <a:r>
              <a:rPr lang="en-US" altLang="ko-KR" sz="2100" b="1">
                <a:solidFill>
                  <a:srgbClr val="737373"/>
                </a:solidFill>
                <a:latin typeface="Heebo Bold"/>
                <a:ea typeface="Heebo Bold"/>
                <a:cs typeface="Heebo Bold"/>
                <a:sym typeface="Heebo Bold"/>
              </a:rPr>
              <a:t>Code Upgrade</a:t>
            </a:r>
            <a:endParaRPr lang="en-US" altLang="ko-KR" sz="2100" b="1">
              <a:solidFill>
                <a:srgbClr val="737373"/>
              </a:solidFill>
              <a:latin typeface="Heebo Bold"/>
              <a:ea typeface="Heebo Bold"/>
              <a:cs typeface="Heebo Bold"/>
              <a:sym typeface="Heebo Bold"/>
            </a:endParaRPr>
          </a:p>
        </p:txBody>
      </p:sp>
      <p:pic>
        <p:nvPicPr>
          <p:cNvPr id="11" name="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676400" y="2809730"/>
            <a:ext cx="3057951" cy="1038369"/>
          </a:xfrm>
          <a:prstGeom prst="rect">
            <a:avLst/>
          </a:prstGeom>
          <a:effectLst>
            <a:outerShdw blurRad="76200" dist="76200" dir="2700000" algn="ctr" rotWithShape="0">
              <a:srgbClr val="000000">
                <a:alpha val="50000"/>
              </a:srgbClr>
            </a:outerShdw>
          </a:effectLst>
        </p:spPr>
      </p:pic>
      <p:sp>
        <p:nvSpPr>
          <p:cNvPr id="12" name="TextBox 6"/>
          <p:cNvSpPr txBox="1"/>
          <p:nvPr/>
        </p:nvSpPr>
        <p:spPr>
          <a:xfrm>
            <a:off x="1676400" y="4000500"/>
            <a:ext cx="9296400" cy="3962400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872"/>
              </a:lnSpc>
              <a:defRPr/>
            </a:pPr>
            <a:r>
              <a:rPr lang="en-US" altLang="ko-KR" sz="21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-</a:t>
            </a:r>
            <a:r>
              <a:rPr lang="ko-KR" altLang="en-US" sz="21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 바빌론 엔진 사용</a:t>
            </a:r>
            <a:endParaRPr lang="ko-KR" altLang="en-US" sz="2100" b="1" spc="-160">
              <a:solidFill>
                <a:srgbClr val="000000"/>
              </a:solidFill>
              <a:latin typeface="Nanum Square Bold"/>
              <a:ea typeface="Nanum Square Bold"/>
              <a:cs typeface="Nanum Square Bold"/>
              <a:sym typeface="Nanum Square Bold"/>
            </a:endParaRPr>
          </a:p>
          <a:p>
            <a:pPr algn="l">
              <a:lnSpc>
                <a:spcPts val="3872"/>
              </a:lnSpc>
              <a:defRPr/>
            </a:pPr>
            <a:endParaRPr lang="ko-KR" altLang="en-US" sz="2100" b="1" spc="-160">
              <a:solidFill>
                <a:srgbClr val="000000"/>
              </a:solidFill>
              <a:latin typeface="Nanum Square Bold"/>
              <a:ea typeface="Nanum Square Bold"/>
              <a:cs typeface="Nanum Square Bold"/>
              <a:sym typeface="Nanum Square Bold"/>
            </a:endParaRPr>
          </a:p>
          <a:p>
            <a:pPr algn="l">
              <a:lnSpc>
                <a:spcPts val="3872"/>
              </a:lnSpc>
              <a:defRPr/>
            </a:pPr>
            <a:r>
              <a:rPr lang="en-US" altLang="ko-KR" sz="21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-</a:t>
            </a:r>
            <a:r>
              <a:rPr lang="ko-KR" altLang="en-US" sz="21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 카메라 설정</a:t>
            </a:r>
            <a:endParaRPr lang="ko-KR" altLang="en-US" sz="2100" b="1" spc="-160">
              <a:solidFill>
                <a:srgbClr val="000000"/>
              </a:solidFill>
              <a:latin typeface="Nanum Square Bold"/>
              <a:ea typeface="Nanum Square Bold"/>
              <a:cs typeface="Nanum Square Bold"/>
              <a:sym typeface="Nanum Square Bold"/>
            </a:endParaRPr>
          </a:p>
          <a:p>
            <a:pPr algn="l">
              <a:lnSpc>
                <a:spcPts val="3872"/>
              </a:lnSpc>
              <a:defRPr/>
            </a:pPr>
            <a:endParaRPr lang="ko-KR" altLang="en-US" sz="2100" b="1" spc="-160">
              <a:solidFill>
                <a:srgbClr val="000000"/>
              </a:solidFill>
              <a:latin typeface="Nanum Square Bold"/>
              <a:ea typeface="Nanum Square Bold"/>
              <a:cs typeface="Nanum Square Bold"/>
              <a:sym typeface="Nanum Square Bold"/>
            </a:endParaRPr>
          </a:p>
          <a:p>
            <a:pPr algn="l">
              <a:lnSpc>
                <a:spcPts val="3872"/>
              </a:lnSpc>
              <a:defRPr/>
            </a:pPr>
            <a:r>
              <a:rPr lang="en-US" altLang="ko-KR" sz="21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-3D </a:t>
            </a:r>
            <a:r>
              <a:rPr lang="ko-KR" altLang="en-US" sz="21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맵 모델링</a:t>
            </a:r>
            <a:endParaRPr lang="ko-KR" altLang="en-US" sz="2100" b="1" spc="-160">
              <a:solidFill>
                <a:srgbClr val="000000"/>
              </a:solidFill>
              <a:latin typeface="Nanum Square Bold"/>
              <a:ea typeface="Nanum Square Bold"/>
              <a:cs typeface="Nanum Square Bold"/>
              <a:sym typeface="Nanum Square Bold"/>
            </a:endParaRPr>
          </a:p>
          <a:p>
            <a:pPr algn="l">
              <a:lnSpc>
                <a:spcPts val="3872"/>
              </a:lnSpc>
              <a:defRPr/>
            </a:pPr>
            <a:endParaRPr lang="ko-KR" altLang="en-US" sz="2100" b="1" spc="-160">
              <a:solidFill>
                <a:srgbClr val="000000"/>
              </a:solidFill>
              <a:latin typeface="Nanum Square Bold"/>
              <a:ea typeface="Nanum Square Bold"/>
              <a:cs typeface="Nanum Square Bold"/>
              <a:sym typeface="Nanum Square Bold"/>
            </a:endParaRPr>
          </a:p>
          <a:p>
            <a:pPr algn="l">
              <a:lnSpc>
                <a:spcPts val="3872"/>
              </a:lnSpc>
              <a:defRPr/>
            </a:pPr>
            <a:r>
              <a:rPr lang="en-US" altLang="ko-KR" sz="21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-</a:t>
            </a:r>
            <a:r>
              <a:rPr lang="ko-KR" altLang="en-US" sz="21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사운드</a:t>
            </a:r>
            <a:endParaRPr lang="ko-KR" altLang="en-US" sz="2100" b="1" spc="-160">
              <a:solidFill>
                <a:srgbClr val="000000"/>
              </a:solidFill>
              <a:latin typeface="Nanum Square Bold"/>
              <a:ea typeface="Nanum Square Bold"/>
              <a:cs typeface="Nanum Square Bold"/>
              <a:sym typeface="Nanum Square Bold"/>
            </a:endParaRPr>
          </a:p>
          <a:p>
            <a:pPr algn="l">
              <a:lnSpc>
                <a:spcPts val="3872"/>
              </a:lnSpc>
              <a:defRPr/>
            </a:pPr>
            <a:endParaRPr lang="ko-KR" altLang="en-US" sz="2100" b="1" spc="-160">
              <a:solidFill>
                <a:srgbClr val="000000"/>
              </a:solidFill>
              <a:latin typeface="Nanum Square Bold"/>
              <a:ea typeface="Nanum Square Bold"/>
              <a:cs typeface="Nanum Square Bold"/>
              <a:sym typeface="Nanum Square Bold"/>
            </a:endParaRPr>
          </a:p>
        </p:txBody>
      </p:sp>
      <p:pic>
        <p:nvPicPr>
          <p:cNvPr id="15" name="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5834417" y="2661626"/>
            <a:ext cx="10853383" cy="6672874"/>
          </a:xfrm>
          <a:prstGeom prst="rect">
            <a:avLst/>
          </a:prstGeom>
          <a:effectLst>
            <a:outerShdw blurRad="76200" dist="76200" dir="2700000" algn="ctr" rotWithShape="0">
              <a:srgbClr val="000000">
                <a:alpha val="50000"/>
              </a:srgbClr>
            </a:outerShdw>
          </a:effectLst>
        </p:spPr>
      </p:pic>
      <p:grpSp>
        <p:nvGrpSpPr>
          <p:cNvPr id="18" name=""/>
          <p:cNvGrpSpPr/>
          <p:nvPr/>
        </p:nvGrpSpPr>
        <p:grpSpPr>
          <a:xfrm rot="0">
            <a:off x="1676400" y="7962900"/>
            <a:ext cx="1703294" cy="609600"/>
            <a:chOff x="1676400" y="4705289"/>
            <a:chExt cx="1703294" cy="609600"/>
          </a:xfrm>
        </p:grpSpPr>
        <p:pic>
          <p:nvPicPr>
            <p:cNvPr id="16" name=""/>
            <p:cNvPicPr>
              <a:picLocks noChangeAspect="1"/>
            </p:cNvPicPr>
            <p:nvPr/>
          </p:nvPicPr>
          <p:blipFill rotWithShape="1">
            <a:blip r:embed="rId4"/>
            <a:stretch>
              <a:fillRect/>
            </a:stretch>
          </p:blipFill>
          <p:spPr>
            <a:xfrm>
              <a:off x="1676400" y="4705289"/>
              <a:ext cx="1257475" cy="438211"/>
            </a:xfrm>
            <a:prstGeom prst="rect">
              <a:avLst/>
            </a:prstGeom>
          </p:spPr>
        </p:pic>
        <p:pic>
          <p:nvPicPr>
            <p:cNvPr id="17" name=""/>
            <p:cNvPicPr>
              <a:picLocks noChangeAspect="1"/>
            </p:cNvPicPr>
            <p:nvPr/>
          </p:nvPicPr>
          <p:blipFill rotWithShape="1">
            <a:blip r:embed="rId5"/>
            <a:stretch>
              <a:fillRect/>
            </a:stretch>
          </p:blipFill>
          <p:spPr>
            <a:xfrm>
              <a:off x="1752600" y="5086289"/>
              <a:ext cx="1627094" cy="228600"/>
            </a:xfrm>
            <a:prstGeom prst="rect">
              <a:avLst/>
            </a:prstGeom>
          </p:spPr>
        </p:pic>
      </p:grpSp>
      <p:pic>
        <p:nvPicPr>
          <p:cNvPr id="19" name="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1676400" y="7496110"/>
            <a:ext cx="1495633" cy="46679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9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635693" y="632336"/>
            <a:ext cx="1501661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w="sm" len="sm"/>
            <a:tailEnd w="sm" len="sm"/>
          </a:ln>
        </p:spPr>
        <p:txBody>
          <a:bodyPr wrap="square" anchor="ctr"/>
          <a:p>
            <a:pPr algn="ctr">
              <a:defRPr/>
            </a:pPr>
            <a:endParaRPr lang="ko-KR" altLang="en-US"/>
          </a:p>
        </p:txBody>
      </p:sp>
      <p:sp>
        <p:nvSpPr>
          <p:cNvPr id="3" name="AutoShape 3"/>
          <p:cNvSpPr/>
          <p:nvPr/>
        </p:nvSpPr>
        <p:spPr>
          <a:xfrm>
            <a:off x="1635693" y="9654664"/>
            <a:ext cx="1501661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w="sm" len="sm"/>
            <a:tailEnd w="sm" len="sm"/>
          </a:ln>
        </p:spPr>
        <p:txBody>
          <a:bodyPr wrap="square" anchor="ctr"/>
          <a:p>
            <a:pPr algn="ctr">
              <a:defRPr/>
            </a:pPr>
            <a:endParaRPr lang="ko-KR" altLang="en-US"/>
          </a:p>
        </p:txBody>
      </p:sp>
      <p:sp>
        <p:nvSpPr>
          <p:cNvPr id="5" name="TextBox 5"/>
          <p:cNvSpPr txBox="1"/>
          <p:nvPr/>
        </p:nvSpPr>
        <p:spPr>
          <a:xfrm>
            <a:off x="1635693" y="1428583"/>
            <a:ext cx="8014955" cy="1019342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8064"/>
              </a:lnSpc>
              <a:defRPr/>
            </a:pPr>
            <a:r>
              <a:rPr lang="ko-KR" altLang="en-US" sz="7200" b="1" spc="-359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코드 업그레이드 </a:t>
            </a:r>
            <a:endParaRPr lang="ko-KR" altLang="en-US" sz="7200" b="1" spc="-359">
              <a:solidFill>
                <a:srgbClr val="000000"/>
              </a:solidFill>
              <a:latin typeface="Nanum Square Bold"/>
              <a:ea typeface="Nanum Square Bold"/>
              <a:cs typeface="Nanum Square Bold"/>
              <a:sym typeface="Nanum Square Bold"/>
            </a:endParaRPr>
          </a:p>
        </p:txBody>
      </p:sp>
      <p:sp>
        <p:nvSpPr>
          <p:cNvPr id="7" name="TextBox 7"/>
          <p:cNvSpPr txBox="1"/>
          <p:nvPr/>
        </p:nvSpPr>
        <p:spPr>
          <a:xfrm>
            <a:off x="1714824" y="1121483"/>
            <a:ext cx="4211394" cy="297742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2352"/>
              </a:lnSpc>
              <a:defRPr/>
            </a:pPr>
            <a:r>
              <a:rPr lang="en-US" altLang="ko-KR" sz="2100" b="1">
                <a:solidFill>
                  <a:srgbClr val="737373"/>
                </a:solidFill>
                <a:latin typeface="Heebo Bold"/>
                <a:ea typeface="Heebo Bold"/>
                <a:cs typeface="Heebo Bold"/>
                <a:sym typeface="Heebo Bold"/>
              </a:rPr>
              <a:t>Code Upgrade</a:t>
            </a:r>
            <a:endParaRPr lang="en-US" altLang="ko-KR" sz="2100" b="1">
              <a:solidFill>
                <a:srgbClr val="737373"/>
              </a:solidFill>
              <a:latin typeface="Heebo Bold"/>
              <a:ea typeface="Heebo Bold"/>
              <a:cs typeface="Heebo Bold"/>
              <a:sym typeface="Heebo Bold"/>
            </a:endParaRPr>
          </a:p>
        </p:txBody>
      </p:sp>
      <p:pic>
        <p:nvPicPr>
          <p:cNvPr id="10" name="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1676399" y="2628900"/>
            <a:ext cx="14754085" cy="6781800"/>
          </a:xfrm>
          <a:prstGeom prst="rect">
            <a:avLst/>
          </a:prstGeom>
          <a:effectLst>
            <a:outerShdw blurRad="76200" dist="76200" dir="2700000" algn="ctr" rotWithShape="0">
              <a:srgbClr val="000000">
                <a:alpha val="50000"/>
              </a:srgbClr>
            </a:outerShdw>
          </a:effectLst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0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635693" y="632336"/>
            <a:ext cx="1501661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w="sm" len="sm"/>
            <a:tailEnd w="sm" len="sm"/>
          </a:ln>
        </p:spPr>
        <p:txBody>
          <a:bodyPr wrap="square" anchor="ctr"/>
          <a:p>
            <a:pPr algn="ctr">
              <a:defRPr/>
            </a:pPr>
            <a:endParaRPr lang="ko-KR" altLang="en-US"/>
          </a:p>
        </p:txBody>
      </p:sp>
      <p:sp>
        <p:nvSpPr>
          <p:cNvPr id="3" name="AutoShape 3"/>
          <p:cNvSpPr/>
          <p:nvPr/>
        </p:nvSpPr>
        <p:spPr>
          <a:xfrm>
            <a:off x="1635693" y="9654664"/>
            <a:ext cx="1501661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w="sm" len="sm"/>
            <a:tailEnd w="sm" len="sm"/>
          </a:ln>
        </p:spPr>
        <p:txBody>
          <a:bodyPr wrap="square" anchor="ctr"/>
          <a:p>
            <a:pPr algn="ctr">
              <a:defRPr/>
            </a:pPr>
            <a:endParaRPr lang="ko-KR" altLang="en-US"/>
          </a:p>
        </p:txBody>
      </p:sp>
      <p:sp>
        <p:nvSpPr>
          <p:cNvPr id="5" name="TextBox 5"/>
          <p:cNvSpPr txBox="1"/>
          <p:nvPr/>
        </p:nvSpPr>
        <p:spPr>
          <a:xfrm>
            <a:off x="1635693" y="1428583"/>
            <a:ext cx="8014955" cy="1019342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8064"/>
              </a:lnSpc>
              <a:defRPr/>
            </a:pPr>
            <a:r>
              <a:rPr lang="ko-KR" altLang="en-US" sz="7200" b="1" spc="-359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코드 업그레이드 </a:t>
            </a:r>
            <a:endParaRPr lang="ko-KR" altLang="en-US" sz="7200" b="1" spc="-359">
              <a:solidFill>
                <a:srgbClr val="000000"/>
              </a:solidFill>
              <a:latin typeface="Nanum Square Bold"/>
              <a:ea typeface="Nanum Square Bold"/>
              <a:cs typeface="Nanum Square Bold"/>
              <a:sym typeface="Nanum Square Bold"/>
            </a:endParaRPr>
          </a:p>
        </p:txBody>
      </p:sp>
      <p:sp>
        <p:nvSpPr>
          <p:cNvPr id="7" name="TextBox 7"/>
          <p:cNvSpPr txBox="1"/>
          <p:nvPr/>
        </p:nvSpPr>
        <p:spPr>
          <a:xfrm>
            <a:off x="1714824" y="1121483"/>
            <a:ext cx="4211394" cy="297742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2352"/>
              </a:lnSpc>
              <a:defRPr/>
            </a:pPr>
            <a:r>
              <a:rPr lang="en-US" altLang="ko-KR" sz="2100" b="1">
                <a:solidFill>
                  <a:srgbClr val="737373"/>
                </a:solidFill>
                <a:latin typeface="Heebo Bold"/>
                <a:ea typeface="Heebo Bold"/>
                <a:cs typeface="Heebo Bold"/>
                <a:sym typeface="Heebo Bold"/>
              </a:rPr>
              <a:t>Code Upgrade</a:t>
            </a:r>
            <a:endParaRPr lang="en-US" altLang="ko-KR" sz="2100" b="1">
              <a:solidFill>
                <a:srgbClr val="737373"/>
              </a:solidFill>
              <a:latin typeface="Heebo Bold"/>
              <a:ea typeface="Heebo Bold"/>
              <a:cs typeface="Heebo Bold"/>
              <a:sym typeface="Heebo Bold"/>
            </a:endParaRPr>
          </a:p>
        </p:txBody>
      </p:sp>
      <p:pic>
        <p:nvPicPr>
          <p:cNvPr id="11" name="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676400" y="2705100"/>
            <a:ext cx="3343741" cy="1933844"/>
          </a:xfrm>
          <a:prstGeom prst="rect">
            <a:avLst/>
          </a:prstGeom>
          <a:effectLst>
            <a:outerShdw blurRad="76200" dist="76200" dir="2700000" algn="ctr" rotWithShape="0">
              <a:srgbClr val="000000">
                <a:alpha val="50000"/>
              </a:srgbClr>
            </a:outerShdw>
          </a:effectLst>
        </p:spPr>
      </p:pic>
      <p:sp>
        <p:nvSpPr>
          <p:cNvPr id="12" name=""/>
          <p:cNvSpPr txBox="1"/>
          <p:nvPr/>
        </p:nvSpPr>
        <p:spPr>
          <a:xfrm>
            <a:off x="5105400" y="2705100"/>
            <a:ext cx="9144000" cy="582930"/>
          </a:xfrm>
          <a:prstGeom prst="rect">
            <a:avLst/>
          </a:prstGeom>
        </p:spPr>
        <p:txBody>
          <a:bodyPr wrap="square">
            <a:spAutoFit/>
          </a:bodyPr>
          <a:p>
            <a:pPr algn="l">
              <a:lnSpc>
                <a:spcPts val="3872"/>
              </a:lnSpc>
              <a:defRPr/>
            </a:pPr>
            <a:r>
              <a:rPr lang="en-US" altLang="ko-KR" sz="21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-</a:t>
            </a:r>
            <a:r>
              <a:rPr lang="ko-KR" altLang="en-US" sz="21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총구 화염 </a:t>
            </a:r>
            <a:r>
              <a:rPr lang="en-US" altLang="ko-KR" sz="21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,</a:t>
            </a:r>
            <a:r>
              <a:rPr lang="ko-KR" altLang="en-US" sz="21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 탄피 배출</a:t>
            </a:r>
            <a:endParaRPr lang="ko-KR" altLang="en-US"/>
          </a:p>
        </p:txBody>
      </p:sp>
      <p:pic>
        <p:nvPicPr>
          <p:cNvPr id="13" name="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1676400" y="4762500"/>
            <a:ext cx="1219370" cy="933580"/>
          </a:xfrm>
          <a:prstGeom prst="rect">
            <a:avLst/>
          </a:prstGeom>
          <a:effectLst>
            <a:outerShdw blurRad="76200" dist="76200" dir="2700000" algn="ctr" rotWithShape="0">
              <a:srgbClr val="000000">
                <a:alpha val="50000"/>
              </a:srgbClr>
            </a:outerShdw>
          </a:effectLst>
        </p:spPr>
      </p:pic>
      <p:sp>
        <p:nvSpPr>
          <p:cNvPr id="14" name=""/>
          <p:cNvSpPr txBox="1"/>
          <p:nvPr/>
        </p:nvSpPr>
        <p:spPr>
          <a:xfrm>
            <a:off x="2895600" y="4852035"/>
            <a:ext cx="9144000" cy="582930"/>
          </a:xfrm>
          <a:prstGeom prst="rect">
            <a:avLst/>
          </a:prstGeom>
        </p:spPr>
        <p:txBody>
          <a:bodyPr wrap="square">
            <a:spAutoFit/>
          </a:bodyPr>
          <a:p>
            <a:pPr algn="l">
              <a:lnSpc>
                <a:spcPts val="3872"/>
              </a:lnSpc>
              <a:defRPr/>
            </a:pPr>
            <a:r>
              <a:rPr lang="en-US" altLang="ko-KR" sz="21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-</a:t>
            </a:r>
            <a:r>
              <a:rPr lang="ko-KR" altLang="en-US" sz="21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조준선 </a:t>
            </a:r>
            <a:endParaRPr lang="ko-KR" altLang="en-US"/>
          </a:p>
        </p:txBody>
      </p:sp>
      <p:sp>
        <p:nvSpPr>
          <p:cNvPr id="15" name="TextBox 6"/>
          <p:cNvSpPr txBox="1"/>
          <p:nvPr/>
        </p:nvSpPr>
        <p:spPr>
          <a:xfrm>
            <a:off x="1676400" y="5829300"/>
            <a:ext cx="9296400" cy="1485900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872"/>
              </a:lnSpc>
              <a:defRPr/>
            </a:pPr>
            <a:r>
              <a:rPr lang="en-US" altLang="ko-KR" sz="21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-</a:t>
            </a:r>
            <a:r>
              <a:rPr lang="ko-KR" altLang="en-US" sz="21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 격발 시  총구 </a:t>
            </a:r>
            <a:r>
              <a:rPr lang="en-US" altLang="ko-KR" sz="21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pitch </a:t>
            </a:r>
            <a:r>
              <a:rPr lang="ko-KR" altLang="en-US" sz="21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회전 을 통해 반동 표현 </a:t>
            </a:r>
            <a:endParaRPr lang="ko-KR" altLang="en-US" sz="2100" b="1" spc="-160">
              <a:solidFill>
                <a:srgbClr val="000000"/>
              </a:solidFill>
              <a:latin typeface="Nanum Square Bold"/>
              <a:ea typeface="Nanum Square Bold"/>
              <a:cs typeface="Nanum Square Bold"/>
              <a:sym typeface="Nanum Square Bold"/>
            </a:endParaRPr>
          </a:p>
          <a:p>
            <a:pPr algn="l">
              <a:lnSpc>
                <a:spcPts val="3872"/>
              </a:lnSpc>
              <a:defRPr/>
            </a:pPr>
            <a:endParaRPr lang="ko-KR" altLang="en-US" sz="2100" b="1" spc="-160">
              <a:solidFill>
                <a:srgbClr val="000000"/>
              </a:solidFill>
              <a:latin typeface="Nanum Square Bold"/>
              <a:ea typeface="Nanum Square Bold"/>
              <a:cs typeface="Nanum Square Bold"/>
              <a:sym typeface="Nanum Square Bold"/>
            </a:endParaRPr>
          </a:p>
          <a:p>
            <a:pPr algn="l">
              <a:lnSpc>
                <a:spcPts val="3872"/>
              </a:lnSpc>
              <a:defRPr/>
            </a:pPr>
            <a:endParaRPr lang="ko-KR" altLang="en-US" sz="2100" b="1" spc="-160">
              <a:solidFill>
                <a:srgbClr val="000000"/>
              </a:solidFill>
              <a:latin typeface="Nanum Square Bold"/>
              <a:ea typeface="Nanum Square Bold"/>
              <a:cs typeface="Nanum Square Bold"/>
              <a:sym typeface="Nanum Square Bold"/>
            </a:endParaRPr>
          </a:p>
        </p:txBody>
      </p:sp>
      <p:pic>
        <p:nvPicPr>
          <p:cNvPr id="16" name="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1676400" y="6362700"/>
            <a:ext cx="4797380" cy="2286000"/>
          </a:xfrm>
          <a:prstGeom prst="rect">
            <a:avLst/>
          </a:prstGeom>
          <a:effectLst>
            <a:outerShdw blurRad="76200" dist="76200" dir="2700000" algn="ctr" rotWithShape="0">
              <a:srgbClr val="000000">
                <a:alpha val="50000"/>
              </a:srgbClr>
            </a:outerShdw>
          </a:effectLst>
        </p:spPr>
      </p:pic>
      <p:sp>
        <p:nvSpPr>
          <p:cNvPr id="17" name="TextBox 6"/>
          <p:cNvSpPr txBox="1"/>
          <p:nvPr/>
        </p:nvSpPr>
        <p:spPr>
          <a:xfrm>
            <a:off x="1676400" y="8801100"/>
            <a:ext cx="9296400" cy="1485900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872"/>
              </a:lnSpc>
              <a:defRPr/>
            </a:pPr>
            <a:r>
              <a:rPr lang="en-US" altLang="ko-KR" sz="21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-</a:t>
            </a:r>
            <a:r>
              <a:rPr lang="ko-KR" altLang="en-US" sz="21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 적중 시 사운드 </a:t>
            </a:r>
            <a:r>
              <a:rPr lang="en-US" altLang="ko-KR" sz="21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&amp;</a:t>
            </a:r>
            <a:r>
              <a:rPr lang="ko-KR" altLang="en-US" sz="21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 피격 효과 생성으로 타격감 </a:t>
            </a:r>
            <a:endParaRPr lang="ko-KR" altLang="en-US" sz="2100" b="1" spc="-160">
              <a:solidFill>
                <a:srgbClr val="000000"/>
              </a:solidFill>
              <a:latin typeface="Nanum Square Bold"/>
              <a:ea typeface="Nanum Square Bold"/>
              <a:cs typeface="Nanum Square Bold"/>
              <a:sym typeface="Nanum Square Bold"/>
            </a:endParaRPr>
          </a:p>
          <a:p>
            <a:pPr algn="l">
              <a:lnSpc>
                <a:spcPts val="3872"/>
              </a:lnSpc>
              <a:defRPr/>
            </a:pPr>
            <a:endParaRPr lang="ko-KR" altLang="en-US" sz="2100" b="1" spc="-160">
              <a:solidFill>
                <a:srgbClr val="000000"/>
              </a:solidFill>
              <a:latin typeface="Nanum Square Bold"/>
              <a:ea typeface="Nanum Square Bold"/>
              <a:cs typeface="Nanum Square Bold"/>
              <a:sym typeface="Nanum Square Bold"/>
            </a:endParaRPr>
          </a:p>
          <a:p>
            <a:pPr algn="l">
              <a:lnSpc>
                <a:spcPts val="3872"/>
              </a:lnSpc>
              <a:defRPr/>
            </a:pPr>
            <a:endParaRPr lang="ko-KR" altLang="en-US" sz="2100" b="1" spc="-160">
              <a:solidFill>
                <a:srgbClr val="000000"/>
              </a:solidFill>
              <a:latin typeface="Nanum Square Bold"/>
              <a:ea typeface="Nanum Square Bold"/>
              <a:cs typeface="Nanum Square Bold"/>
              <a:sym typeface="Nanum Square Bold"/>
            </a:endParaRPr>
          </a:p>
        </p:txBody>
      </p:sp>
      <p:pic>
        <p:nvPicPr>
          <p:cNvPr id="18" name="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8229600" y="3695700"/>
            <a:ext cx="3810000" cy="4179059"/>
          </a:xfrm>
          <a:prstGeom prst="rect">
            <a:avLst/>
          </a:prstGeom>
          <a:effectLst>
            <a:outerShdw blurRad="76200" dist="76200" dir="2700000" algn="ctr" rotWithShape="0">
              <a:srgbClr val="000000">
                <a:alpha val="50000"/>
              </a:srgbClr>
            </a:outerShdw>
          </a:effectLst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1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635693" y="632336"/>
            <a:ext cx="1501661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w="sm" len="sm"/>
            <a:tailEnd w="sm" len="sm"/>
          </a:ln>
        </p:spPr>
        <p:txBody>
          <a:bodyPr wrap="square"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3" name="AutoShape 3"/>
          <p:cNvSpPr/>
          <p:nvPr/>
        </p:nvSpPr>
        <p:spPr>
          <a:xfrm>
            <a:off x="1635693" y="9654664"/>
            <a:ext cx="1501661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w="sm" len="sm"/>
            <a:tailEnd w="sm" len="sm"/>
          </a:ln>
        </p:spPr>
        <p:txBody>
          <a:bodyPr wrap="square"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9" name="TextBox 9"/>
          <p:cNvSpPr txBox="1"/>
          <p:nvPr/>
        </p:nvSpPr>
        <p:spPr>
          <a:xfrm>
            <a:off x="4078981" y="2366850"/>
            <a:ext cx="10130038" cy="1024050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ctr">
              <a:lnSpc>
                <a:spcPts val="8064"/>
              </a:lnSpc>
              <a:defRPr/>
            </a:pPr>
            <a:r>
              <a:rPr lang="en-US" altLang="ko-KR" sz="7200" b="1" spc="-359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Fishing Game</a:t>
            </a:r>
            <a:endParaRPr lang="en-US" altLang="ko-KR" sz="7200" b="1" spc="-359">
              <a:solidFill>
                <a:srgbClr val="000000"/>
              </a:solidFill>
              <a:latin typeface="Nanum Square Bold"/>
              <a:ea typeface="Nanum Square Bold"/>
              <a:cs typeface="Nanum Square Bold"/>
              <a:sym typeface="Nanum Square Bold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2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635693" y="632336"/>
            <a:ext cx="1501661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w="sm" len="sm"/>
            <a:tailEnd w="sm" len="sm"/>
          </a:ln>
        </p:spPr>
        <p:txBody>
          <a:bodyPr wrap="square"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3" name="AutoShape 3"/>
          <p:cNvSpPr/>
          <p:nvPr/>
        </p:nvSpPr>
        <p:spPr>
          <a:xfrm>
            <a:off x="1635693" y="9654664"/>
            <a:ext cx="1501661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w="sm" len="sm"/>
            <a:tailEnd w="sm" len="sm"/>
          </a:ln>
        </p:spPr>
        <p:txBody>
          <a:bodyPr wrap="square"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7" name="TextBox 7"/>
          <p:cNvSpPr txBox="1"/>
          <p:nvPr/>
        </p:nvSpPr>
        <p:spPr>
          <a:xfrm>
            <a:off x="1714824" y="1121483"/>
            <a:ext cx="4211394" cy="311624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2352"/>
              </a:lnSpc>
              <a:defRPr/>
            </a:pPr>
            <a:r>
              <a:rPr lang="ko-KR" altLang="en-US" sz="2100" b="1">
                <a:solidFill>
                  <a:srgbClr val="737373"/>
                </a:solidFill>
                <a:latin typeface="Heebo Bold"/>
                <a:ea typeface="Heebo Bold"/>
                <a:cs typeface="Heebo Bold"/>
                <a:sym typeface="Heebo Bold"/>
              </a:rPr>
              <a:t>소스코드의 변화</a:t>
            </a:r>
            <a:endParaRPr lang="ko-KR" altLang="en-US" sz="2100" b="1">
              <a:solidFill>
                <a:srgbClr val="737373"/>
              </a:solidFill>
              <a:latin typeface="Heebo Bold"/>
              <a:ea typeface="Heebo Bold"/>
              <a:cs typeface="Heebo Bold"/>
              <a:sym typeface="Heebo Bold"/>
            </a:endParaRPr>
          </a:p>
        </p:txBody>
      </p:sp>
      <p:pic>
        <p:nvPicPr>
          <p:cNvPr id="6" name="그림 5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219200" y="1556401"/>
            <a:ext cx="6679746" cy="6400800"/>
          </a:xfrm>
          <a:prstGeom prst="rect">
            <a:avLst/>
          </a:prstGeom>
        </p:spPr>
      </p:pic>
      <p:pic>
        <p:nvPicPr>
          <p:cNvPr id="9" name="그림 8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9597975" y="1556401"/>
            <a:ext cx="7461947" cy="6400800"/>
          </a:xfrm>
          <a:prstGeom prst="rect">
            <a:avLst/>
          </a:prstGeom>
        </p:spPr>
      </p:pic>
      <p:sp>
        <p:nvSpPr>
          <p:cNvPr id="10" name="화살표: 오른쪽 9"/>
          <p:cNvSpPr/>
          <p:nvPr/>
        </p:nvSpPr>
        <p:spPr>
          <a:xfrm>
            <a:off x="8282639" y="4528202"/>
            <a:ext cx="990600" cy="457197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3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635693" y="632336"/>
            <a:ext cx="1501661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w="sm" len="sm"/>
            <a:tailEnd w="sm" len="sm"/>
          </a:ln>
        </p:spPr>
        <p:txBody>
          <a:bodyPr wrap="square"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3" name="AutoShape 3"/>
          <p:cNvSpPr/>
          <p:nvPr/>
        </p:nvSpPr>
        <p:spPr>
          <a:xfrm>
            <a:off x="1635693" y="9654664"/>
            <a:ext cx="1501661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w="sm" len="sm"/>
            <a:tailEnd w="sm" len="sm"/>
          </a:ln>
        </p:spPr>
        <p:txBody>
          <a:bodyPr wrap="square"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7" name="TextBox 7"/>
          <p:cNvSpPr txBox="1"/>
          <p:nvPr/>
        </p:nvSpPr>
        <p:spPr>
          <a:xfrm>
            <a:off x="838200" y="959136"/>
            <a:ext cx="4211394" cy="311624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2352"/>
              </a:lnSpc>
              <a:defRPr/>
            </a:pPr>
            <a:r>
              <a:rPr lang="ko-KR" altLang="en-US" sz="2100" b="1">
                <a:latin typeface="Heebo Bold"/>
                <a:ea typeface="Heebo Bold"/>
                <a:cs typeface="Heebo Bold"/>
                <a:sym typeface="Heebo Bold"/>
              </a:rPr>
              <a:t>기존 코드</a:t>
            </a:r>
            <a:endParaRPr lang="ko-KR" altLang="en-US" sz="2100" b="1">
              <a:latin typeface="Heebo Bold"/>
              <a:ea typeface="Heebo Bold"/>
              <a:cs typeface="Heebo Bold"/>
              <a:sym typeface="Heebo Bold"/>
            </a:endParaRPr>
          </a:p>
        </p:txBody>
      </p:sp>
      <p:pic>
        <p:nvPicPr>
          <p:cNvPr id="6" name="그림 5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1375186" y="925475"/>
            <a:ext cx="5277121" cy="8179220"/>
          </a:xfrm>
          <a:prstGeom prst="rect">
            <a:avLst/>
          </a:prstGeom>
        </p:spPr>
      </p:pic>
      <p:pic>
        <p:nvPicPr>
          <p:cNvPr id="9" name="그림 8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2793728" y="925475"/>
            <a:ext cx="5283472" cy="8179220"/>
          </a:xfrm>
          <a:prstGeom prst="rect">
            <a:avLst/>
          </a:prstGeom>
        </p:spPr>
      </p:pic>
      <p:sp>
        <p:nvSpPr>
          <p:cNvPr id="10" name="화살표: 왼쪽 9"/>
          <p:cNvSpPr/>
          <p:nvPr/>
        </p:nvSpPr>
        <p:spPr>
          <a:xfrm>
            <a:off x="8267700" y="3619500"/>
            <a:ext cx="914400" cy="533399"/>
          </a:xfrm>
          <a:prstGeom prst="leftArrow">
            <a:avLst>
              <a:gd name="adj1" fmla="val 50000"/>
              <a:gd name="adj2" fmla="val 50000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11" name="화살표: 왼쪽 10"/>
          <p:cNvSpPr/>
          <p:nvPr/>
        </p:nvSpPr>
        <p:spPr>
          <a:xfrm flipH="1">
            <a:off x="10210800" y="5219700"/>
            <a:ext cx="889161" cy="533396"/>
          </a:xfrm>
          <a:prstGeom prst="leftArrow">
            <a:avLst>
              <a:gd name="adj1" fmla="val 50000"/>
              <a:gd name="adj2" fmla="val 50000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12" name="TextBox 11"/>
          <p:cNvSpPr txBox="1"/>
          <p:nvPr/>
        </p:nvSpPr>
        <p:spPr>
          <a:xfrm>
            <a:off x="9372600" y="3707368"/>
            <a:ext cx="1676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/>
              <a:t>기본화면</a:t>
            </a:r>
            <a:endParaRPr lang="ko-KR" altLang="en-US"/>
          </a:p>
        </p:txBody>
      </p:sp>
      <p:sp>
        <p:nvSpPr>
          <p:cNvPr id="13" name="TextBox 12"/>
          <p:cNvSpPr txBox="1"/>
          <p:nvPr/>
        </p:nvSpPr>
        <p:spPr>
          <a:xfrm>
            <a:off x="8686800" y="5301732"/>
            <a:ext cx="1676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/>
              <a:t>클릭 후 화면</a:t>
            </a:r>
            <a:endParaRPr lang="ko-KR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4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635693" y="632336"/>
            <a:ext cx="1501661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w="sm" len="sm"/>
            <a:tailEnd w="sm" len="sm"/>
          </a:ln>
        </p:spPr>
        <p:txBody>
          <a:bodyPr wrap="square"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3" name="AutoShape 3"/>
          <p:cNvSpPr/>
          <p:nvPr/>
        </p:nvSpPr>
        <p:spPr>
          <a:xfrm>
            <a:off x="1635693" y="9654664"/>
            <a:ext cx="1501661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w="sm" len="sm"/>
            <a:tailEnd w="sm" len="sm"/>
          </a:ln>
        </p:spPr>
        <p:txBody>
          <a:bodyPr wrap="square"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7" name="TextBox 7"/>
          <p:cNvSpPr txBox="1"/>
          <p:nvPr/>
        </p:nvSpPr>
        <p:spPr>
          <a:xfrm>
            <a:off x="1714824" y="1121483"/>
            <a:ext cx="4211394" cy="311624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2352"/>
              </a:lnSpc>
              <a:defRPr/>
            </a:pPr>
            <a:r>
              <a:rPr lang="ko-KR" altLang="en-US" sz="2100" b="1">
                <a:solidFill>
                  <a:srgbClr val="737373"/>
                </a:solidFill>
                <a:latin typeface="Heebo Bold"/>
                <a:ea typeface="Heebo Bold"/>
                <a:cs typeface="Heebo Bold"/>
                <a:sym typeface="Heebo Bold"/>
              </a:rPr>
              <a:t>중요 코드 바뀐점</a:t>
            </a:r>
            <a:endParaRPr lang="ko-KR" altLang="en-US" sz="2100" b="1">
              <a:solidFill>
                <a:srgbClr val="737373"/>
              </a:solidFill>
              <a:latin typeface="Heebo Bold"/>
              <a:ea typeface="Heebo Bold"/>
              <a:cs typeface="Heebo Bold"/>
              <a:sym typeface="Heebo Bold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981200" y="1714500"/>
            <a:ext cx="7162800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/>
              <a:buChar char="•"/>
              <a:defRPr/>
            </a:pPr>
            <a:r>
              <a:rPr lang="ko-KR" altLang="en-US"/>
              <a:t>코드에 미니게임을 </a:t>
            </a:r>
            <a:r>
              <a:rPr lang="en-US" altLang="ko-KR"/>
              <a:t>2</a:t>
            </a:r>
            <a:r>
              <a:rPr lang="ko-KR" altLang="en-US"/>
              <a:t>개추가</a:t>
            </a:r>
            <a:endParaRPr lang="ko-KR" altLang="en-US"/>
          </a:p>
          <a:p>
            <a:pPr marL="800100" lvl="1" indent="-342900">
              <a:buFont typeface="+mj-lt"/>
              <a:buAutoNum type="arabicPeriod"/>
              <a:defRPr/>
            </a:pPr>
            <a:r>
              <a:rPr lang="ko-KR" altLang="en-US"/>
              <a:t>찌를 던질때 미니게임 추가</a:t>
            </a:r>
            <a:r>
              <a:rPr lang="en-US" altLang="ko-KR"/>
              <a:t>(</a:t>
            </a:r>
            <a:r>
              <a:rPr lang="ko-KR" altLang="en-US"/>
              <a:t>언더테일 참고</a:t>
            </a:r>
            <a:r>
              <a:rPr lang="en-US" altLang="ko-KR"/>
              <a:t>)</a:t>
            </a:r>
            <a:endParaRPr lang="en-US" altLang="ko-KR"/>
          </a:p>
          <a:p>
            <a:pPr marL="1257300" lvl="2" indent="-342900">
              <a:buFont typeface="Arial"/>
              <a:buChar char="•"/>
              <a:defRPr/>
            </a:pPr>
            <a:r>
              <a:rPr lang="ko-KR" altLang="en-US"/>
              <a:t>바 사이에 목표물이 왔다갔다거리고 스페이스바를 이용해 중앙을 마추는 게임</a:t>
            </a:r>
            <a:endParaRPr lang="ko-KR" altLang="en-US"/>
          </a:p>
          <a:p>
            <a:pPr marL="800100" lvl="1" indent="-342900">
              <a:buFont typeface="+mj-lt"/>
              <a:buAutoNum type="arabicPeriod"/>
              <a:defRPr/>
            </a:pPr>
            <a:r>
              <a:rPr lang="ko-KR" altLang="en-US"/>
              <a:t>물고기를 낚을때 미니게임 추가</a:t>
            </a:r>
            <a:r>
              <a:rPr lang="en-US" altLang="ko-KR"/>
              <a:t>(</a:t>
            </a:r>
            <a:r>
              <a:rPr lang="ko-KR" altLang="en-US"/>
              <a:t>스타듀밸리 참고</a:t>
            </a:r>
            <a:r>
              <a:rPr lang="en-US" altLang="ko-KR"/>
              <a:t>)</a:t>
            </a:r>
            <a:endParaRPr lang="en-US" altLang="ko-KR"/>
          </a:p>
          <a:p>
            <a:pPr marL="1257300" lvl="2" indent="-342900">
              <a:buFont typeface="Arial"/>
              <a:buChar char="•"/>
              <a:defRPr/>
            </a:pPr>
            <a:r>
              <a:rPr lang="ko-KR" altLang="en-US"/>
              <a:t>움직이는 물고기를 마우스 휠을 통해 계속 마추어 게이지를 누적시켜 물고기를 낚음</a:t>
            </a:r>
            <a:endParaRPr lang="ko-KR" altLang="en-US"/>
          </a:p>
          <a:p>
            <a:pPr marL="1200150" lvl="2" indent="-285750">
              <a:buFont typeface="Arial"/>
              <a:buChar char="•"/>
              <a:defRPr/>
            </a:pPr>
            <a:endParaRPr lang="en-US" altLang="ko-KR"/>
          </a:p>
          <a:p>
            <a:pPr marL="1200150" lvl="2" indent="-285750">
              <a:buFont typeface="Arial"/>
              <a:buChar char="•"/>
              <a:defRPr/>
            </a:pPr>
            <a:endParaRPr lang="en-US" altLang="ko-KR"/>
          </a:p>
        </p:txBody>
      </p:sp>
      <p:pic>
        <p:nvPicPr>
          <p:cNvPr id="11" name="그림 10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9665978" y="1714500"/>
            <a:ext cx="1886047" cy="6096313"/>
          </a:xfrm>
          <a:prstGeom prst="rect">
            <a:avLst/>
          </a:prstGeom>
        </p:spPr>
      </p:pic>
      <p:pic>
        <p:nvPicPr>
          <p:cNvPr id="13" name="그림 12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12192000" y="1333500"/>
            <a:ext cx="5039616" cy="707108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896309" y="7042810"/>
            <a:ext cx="71628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/>
              <a:defRPr/>
            </a:pPr>
            <a:r>
              <a:rPr lang="ko-KR" altLang="en-US"/>
              <a:t>물고기의 상하 증폭 증가</a:t>
            </a:r>
            <a:endParaRPr lang="ko-KR" altLang="en-US"/>
          </a:p>
          <a:p>
            <a:pPr marL="800100" lvl="1" indent="-342900">
              <a:buFont typeface="Arial"/>
              <a:buChar char="•"/>
              <a:defRPr/>
            </a:pPr>
            <a:r>
              <a:rPr lang="ko-KR" altLang="en-US"/>
              <a:t>물고기의 크기별 </a:t>
            </a:r>
            <a:r>
              <a:rPr lang="en-US" altLang="ko-KR"/>
              <a:t>‘</a:t>
            </a:r>
            <a:r>
              <a:rPr lang="ko-KR" altLang="en-US"/>
              <a:t>몸부림</a:t>
            </a:r>
            <a:r>
              <a:rPr lang="en-US" altLang="ko-KR"/>
              <a:t>’</a:t>
            </a:r>
            <a:r>
              <a:rPr lang="ko-KR" altLang="en-US"/>
              <a:t>의 강도가 심해짐</a:t>
            </a:r>
            <a:r>
              <a:rPr lang="en-US" altLang="ko-KR"/>
              <a:t>(</a:t>
            </a:r>
            <a:r>
              <a:rPr lang="ko-KR" altLang="en-US"/>
              <a:t>진폭</a:t>
            </a:r>
            <a:r>
              <a:rPr lang="en-US" altLang="ko-KR"/>
              <a:t>, </a:t>
            </a:r>
            <a:r>
              <a:rPr lang="ko-KR" altLang="en-US"/>
              <a:t>주파수</a:t>
            </a:r>
            <a:r>
              <a:rPr lang="en-US" altLang="ko-KR"/>
              <a:t>, </a:t>
            </a:r>
            <a:r>
              <a:rPr lang="ko-KR" altLang="en-US"/>
              <a:t>버스트 확률</a:t>
            </a:r>
            <a:r>
              <a:rPr lang="en-US" altLang="ko-KR"/>
              <a:t>)</a:t>
            </a:r>
            <a:endParaRPr lang="en-US" altLang="ko-KR"/>
          </a:p>
          <a:p>
            <a:pPr marL="342900" indent="-342900">
              <a:buFont typeface="+mj-lt"/>
              <a:buAutoNum type="arabicPeriod"/>
              <a:defRPr/>
            </a:pPr>
            <a:r>
              <a:rPr lang="ko-KR" altLang="en-US"/>
              <a:t>물고기의 단계와 나오는 물고기의 위치 확률 변경</a:t>
            </a:r>
            <a:endParaRPr lang="ko-KR" altLang="en-US"/>
          </a:p>
          <a:p>
            <a:pPr marL="800100" lvl="1" indent="-342900">
              <a:buFont typeface="Arial"/>
              <a:buChar char="•"/>
              <a:defRPr/>
            </a:pPr>
            <a:r>
              <a:rPr lang="ko-KR" altLang="en-US"/>
              <a:t>수면</a:t>
            </a:r>
            <a:r>
              <a:rPr lang="en-US" altLang="ko-KR"/>
              <a:t>/</a:t>
            </a:r>
            <a:r>
              <a:rPr lang="ko-KR" altLang="en-US"/>
              <a:t>중앙</a:t>
            </a:r>
            <a:r>
              <a:rPr lang="en-US" altLang="ko-KR"/>
              <a:t>/</a:t>
            </a:r>
            <a:r>
              <a:rPr lang="ko-KR" altLang="en-US"/>
              <a:t>심해 구역</a:t>
            </a:r>
            <a:r>
              <a:rPr lang="en-US" altLang="ko-KR"/>
              <a:t>, </a:t>
            </a:r>
            <a:r>
              <a:rPr lang="ko-KR" altLang="en-US"/>
              <a:t>캐스팅 정확도에 따라 구역 결정</a:t>
            </a:r>
            <a:endParaRPr lang="ko-KR" altLang="en-US"/>
          </a:p>
          <a:p>
            <a:pPr marL="342900" indent="-342900">
              <a:buFont typeface="+mj-lt"/>
              <a:buAutoNum type="arabicPeriod"/>
              <a:defRPr/>
            </a:pPr>
            <a:r>
              <a:rPr lang="ko-KR" altLang="en-US"/>
              <a:t>적절한 물고기 사진 적용</a:t>
            </a:r>
            <a:r>
              <a:rPr lang="en-US" altLang="ko-KR"/>
              <a:t>	</a:t>
            </a:r>
            <a:endParaRPr lang="en-US" altLang="ko-KR"/>
          </a:p>
          <a:p>
            <a:pPr marL="342900" indent="-342900">
              <a:buFont typeface="+mj-lt"/>
              <a:buAutoNum type="arabicPeriod"/>
              <a:defRPr/>
            </a:pPr>
            <a:r>
              <a:rPr lang="ko-KR" altLang="en-US"/>
              <a:t>게임 색상 적용 및 </a:t>
            </a:r>
            <a:r>
              <a:rPr lang="en-US" altLang="ko-KR"/>
              <a:t>bgm, </a:t>
            </a:r>
            <a:r>
              <a:rPr lang="ko-KR" altLang="en-US"/>
              <a:t>소리 적용</a:t>
            </a:r>
            <a:endParaRPr lang="en-US" altLang="ko-KR"/>
          </a:p>
        </p:txBody>
      </p:sp>
      <p:pic>
        <p:nvPicPr>
          <p:cNvPr id="16" name="그림 15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1845560" y="4103632"/>
            <a:ext cx="3577415" cy="1542760"/>
          </a:xfrm>
          <a:prstGeom prst="rect">
            <a:avLst/>
          </a:prstGeom>
        </p:spPr>
      </p:pic>
      <p:pic>
        <p:nvPicPr>
          <p:cNvPr id="18" name="그림 17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5926218" y="3654349"/>
            <a:ext cx="2311519" cy="2978303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2344640" y="5687218"/>
            <a:ext cx="244671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/>
              <a:t>(</a:t>
            </a:r>
            <a:r>
              <a:rPr lang="ko-KR" altLang="en-US"/>
              <a:t>언더테일의 미니게임</a:t>
            </a:r>
            <a:r>
              <a:rPr lang="en-US" altLang="ko-KR"/>
              <a:t>)</a:t>
            </a:r>
            <a:endParaRPr lang="ko-KR" altLang="en-US"/>
          </a:p>
        </p:txBody>
      </p:sp>
      <p:sp>
        <p:nvSpPr>
          <p:cNvPr id="20" name="TextBox 19"/>
          <p:cNvSpPr txBox="1"/>
          <p:nvPr/>
        </p:nvSpPr>
        <p:spPr>
          <a:xfrm>
            <a:off x="8229203" y="3933146"/>
            <a:ext cx="461665" cy="2819400"/>
          </a:xfrm>
          <a:prstGeom prst="rect">
            <a:avLst/>
          </a:prstGeom>
          <a:noFill/>
        </p:spPr>
        <p:txBody>
          <a:bodyPr vert="eaVert" wrap="square">
            <a:spAutoFit/>
          </a:bodyPr>
          <a:lstStyle/>
          <a:p>
            <a:pPr lvl="0">
              <a:defRPr/>
            </a:pPr>
            <a:r>
              <a:rPr lang="en-US" altLang="ko-KR"/>
              <a:t>(</a:t>
            </a:r>
            <a:r>
              <a:rPr lang="ko-KR" altLang="en-US"/>
              <a:t>스타듀밸리의 미니게임</a:t>
            </a:r>
            <a:r>
              <a:rPr lang="en-US" altLang="ko-KR"/>
              <a:t>)</a:t>
            </a:r>
            <a:endParaRPr lang="ko-KR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5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635693" y="632336"/>
            <a:ext cx="1501661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w="sm" len="sm"/>
            <a:tailEnd w="sm" len="sm"/>
          </a:ln>
        </p:spPr>
        <p:txBody>
          <a:bodyPr wrap="square"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3" name="AutoShape 3"/>
          <p:cNvSpPr/>
          <p:nvPr/>
        </p:nvSpPr>
        <p:spPr>
          <a:xfrm>
            <a:off x="1635693" y="9654664"/>
            <a:ext cx="1501661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w="sm" len="sm"/>
            <a:tailEnd w="sm" len="sm"/>
          </a:ln>
        </p:spPr>
        <p:txBody>
          <a:bodyPr wrap="square"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7" name="TextBox 7"/>
          <p:cNvSpPr txBox="1"/>
          <p:nvPr/>
        </p:nvSpPr>
        <p:spPr>
          <a:xfrm>
            <a:off x="1714824" y="1121483"/>
            <a:ext cx="4211394" cy="311624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2352"/>
              </a:lnSpc>
              <a:defRPr/>
            </a:pPr>
            <a:r>
              <a:rPr lang="ko-KR" altLang="en-US" sz="2100" b="1">
                <a:solidFill>
                  <a:srgbClr val="737373"/>
                </a:solidFill>
                <a:latin typeface="Heebo Bold"/>
                <a:ea typeface="Heebo Bold"/>
                <a:cs typeface="Heebo Bold"/>
                <a:sym typeface="Heebo Bold"/>
              </a:rPr>
              <a:t>캐스팅 </a:t>
            </a:r>
            <a:r>
              <a:rPr lang="en-US" altLang="ko-KR" sz="2100" b="1">
                <a:solidFill>
                  <a:srgbClr val="737373"/>
                </a:solidFill>
                <a:latin typeface="Heebo Bold"/>
                <a:ea typeface="Heebo Bold"/>
                <a:cs typeface="Heebo Bold"/>
                <a:sym typeface="Heebo Bold"/>
              </a:rPr>
              <a:t>‘</a:t>
            </a:r>
            <a:r>
              <a:rPr lang="ko-KR" altLang="en-US" sz="2100" b="1">
                <a:solidFill>
                  <a:srgbClr val="737373"/>
                </a:solidFill>
                <a:latin typeface="Heebo Bold"/>
                <a:ea typeface="Heebo Bold"/>
                <a:cs typeface="Heebo Bold"/>
                <a:sym typeface="Heebo Bold"/>
              </a:rPr>
              <a:t>타이밍바</a:t>
            </a:r>
            <a:r>
              <a:rPr lang="en-US" altLang="ko-KR" sz="2100" b="1">
                <a:solidFill>
                  <a:srgbClr val="737373"/>
                </a:solidFill>
                <a:latin typeface="Heebo Bold"/>
                <a:ea typeface="Heebo Bold"/>
                <a:cs typeface="Heebo Bold"/>
                <a:sym typeface="Heebo Bold"/>
              </a:rPr>
              <a:t>’</a:t>
            </a:r>
            <a:r>
              <a:rPr lang="ko-KR" altLang="en-US" sz="2100" b="1">
                <a:solidFill>
                  <a:srgbClr val="737373"/>
                </a:solidFill>
                <a:latin typeface="Heebo Bold"/>
                <a:ea typeface="Heebo Bold"/>
                <a:cs typeface="Heebo Bold"/>
                <a:sym typeface="Heebo Bold"/>
              </a:rPr>
              <a:t> 미니게임</a:t>
            </a:r>
            <a:endParaRPr lang="ko-KR" altLang="en-US" sz="2100" b="1">
              <a:solidFill>
                <a:srgbClr val="737373"/>
              </a:solidFill>
              <a:latin typeface="Heebo Bold"/>
              <a:ea typeface="Heebo Bold"/>
              <a:cs typeface="Heebo Bold"/>
              <a:sym typeface="Heebo Bold"/>
            </a:endParaRPr>
          </a:p>
        </p:txBody>
      </p:sp>
      <p:pic>
        <p:nvPicPr>
          <p:cNvPr id="6" name="그림 5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8915482" y="1123333"/>
            <a:ext cx="7436232" cy="3219615"/>
          </a:xfrm>
          <a:prstGeom prst="rect">
            <a:avLst/>
          </a:prstGeom>
        </p:spPr>
      </p:pic>
      <p:pic>
        <p:nvPicPr>
          <p:cNvPr id="9" name="그림 8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8229600" y="5448300"/>
            <a:ext cx="9036514" cy="330217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447800" y="2171700"/>
            <a:ext cx="6400800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/>
              <a:defRPr/>
            </a:pPr>
            <a:r>
              <a:rPr lang="ko-KR" altLang="en-US"/>
              <a:t>시작 </a:t>
            </a:r>
            <a:r>
              <a:rPr lang="en-US" altLang="ko-KR"/>
              <a:t>: _startCastTiming()</a:t>
            </a:r>
            <a:endParaRPr lang="en-US" altLang="ko-KR"/>
          </a:p>
          <a:p>
            <a:pPr marL="800100" lvl="1" indent="-342900">
              <a:buFont typeface="Arial"/>
              <a:buChar char="•"/>
              <a:defRPr/>
            </a:pPr>
            <a:r>
              <a:rPr lang="ko-KR" altLang="en-US"/>
              <a:t>수면 기준으로 타이밍 바의 위치</a:t>
            </a:r>
            <a:r>
              <a:rPr lang="en-US" altLang="ko-KR"/>
              <a:t>(y)</a:t>
            </a:r>
            <a:r>
              <a:rPr lang="ko-KR" altLang="en-US"/>
              <a:t>와 높이</a:t>
            </a:r>
            <a:r>
              <a:rPr lang="en-US" altLang="ko-KR"/>
              <a:t>(h)</a:t>
            </a:r>
            <a:r>
              <a:rPr lang="ko-KR" altLang="en-US"/>
              <a:t>를 계산</a:t>
            </a:r>
            <a:endParaRPr lang="ko-KR" altLang="en-US"/>
          </a:p>
          <a:p>
            <a:pPr marL="800100" lvl="1" indent="-342900">
              <a:buFont typeface="Arial"/>
              <a:buChar char="•"/>
              <a:defRPr/>
            </a:pPr>
            <a:r>
              <a:rPr lang="ko-KR" altLang="en-US"/>
              <a:t>바의 중앙선</a:t>
            </a:r>
            <a:r>
              <a:rPr lang="en-US" altLang="ko-KR"/>
              <a:t>(centerY), </a:t>
            </a:r>
            <a:r>
              <a:rPr lang="ko-KR" altLang="en-US"/>
              <a:t>마커 초기 위치</a:t>
            </a:r>
            <a:r>
              <a:rPr lang="en-US" altLang="ko-KR"/>
              <a:t>(markerY), </a:t>
            </a:r>
            <a:r>
              <a:rPr lang="ko-KR" altLang="en-US"/>
              <a:t>이동 방향</a:t>
            </a:r>
            <a:r>
              <a:rPr lang="en-US" altLang="ko-KR"/>
              <a:t>(dir)</a:t>
            </a:r>
            <a:r>
              <a:rPr lang="ko-KR" altLang="en-US"/>
              <a:t>을 세팅</a:t>
            </a:r>
            <a:endParaRPr lang="ko-KR" altLang="en-US"/>
          </a:p>
          <a:p>
            <a:pPr marL="800100" lvl="1" indent="-342900">
              <a:buFont typeface="Arial"/>
              <a:buChar char="•"/>
              <a:defRPr/>
            </a:pPr>
            <a:r>
              <a:rPr lang="ko-KR" altLang="en-US"/>
              <a:t>게임 상태를 </a:t>
            </a:r>
            <a:r>
              <a:rPr lang="en-US" altLang="ko-KR"/>
              <a:t>cast_timing</a:t>
            </a:r>
            <a:r>
              <a:rPr lang="ko-KR" altLang="en-US"/>
              <a:t>으로 바꿔 미니게임 진입</a:t>
            </a:r>
            <a:endParaRPr lang="ko-KR" altLang="en-US"/>
          </a:p>
          <a:p>
            <a:pPr marL="342900" indent="-342900">
              <a:buFont typeface="+mj-lt"/>
              <a:buAutoNum type="arabicPeriod"/>
              <a:defRPr/>
            </a:pPr>
            <a:r>
              <a:rPr lang="ko-KR" altLang="en-US"/>
              <a:t>루프 </a:t>
            </a:r>
            <a:r>
              <a:rPr lang="en-US" altLang="ko-KR"/>
              <a:t>: state === 'cast_timing’</a:t>
            </a:r>
            <a:endParaRPr lang="en-US" altLang="ko-KR"/>
          </a:p>
          <a:p>
            <a:pPr marL="800100" lvl="1" indent="-342900">
              <a:buFont typeface="Arial"/>
              <a:buChar char="•"/>
              <a:defRPr/>
            </a:pPr>
            <a:r>
              <a:rPr lang="ko-KR" altLang="en-US"/>
              <a:t>매 프레임 </a:t>
            </a:r>
            <a:r>
              <a:rPr lang="en-US" altLang="ko-KR"/>
              <a:t>markerY += dir * speed * dt</a:t>
            </a:r>
            <a:r>
              <a:rPr lang="ko-KR" altLang="en-US"/>
              <a:t>로 마커를 위</a:t>
            </a:r>
            <a:r>
              <a:rPr lang="en-US" altLang="ko-KR"/>
              <a:t>/</a:t>
            </a:r>
            <a:r>
              <a:rPr lang="ko-KR" altLang="en-US"/>
              <a:t>아래로 이동</a:t>
            </a:r>
            <a:endParaRPr lang="ko-KR" altLang="en-US"/>
          </a:p>
          <a:p>
            <a:pPr marL="800100" lvl="1" indent="-342900">
              <a:buFont typeface="Arial"/>
              <a:buChar char="•"/>
              <a:defRPr/>
            </a:pPr>
            <a:r>
              <a:rPr lang="ko-KR" altLang="en-US"/>
              <a:t>위아래 경계</a:t>
            </a:r>
            <a:r>
              <a:rPr lang="en-US" altLang="ko-KR"/>
              <a:t>(yMin, yMax)</a:t>
            </a:r>
            <a:r>
              <a:rPr lang="ko-KR" altLang="en-US"/>
              <a:t>에 닿으면 방향 반전해서 왕복</a:t>
            </a:r>
            <a:endParaRPr lang="ko-KR" altLang="en-US"/>
          </a:p>
          <a:p>
            <a:pPr marL="800100" lvl="1" indent="-342900">
              <a:buFont typeface="Arial"/>
              <a:buChar char="•"/>
              <a:defRPr/>
            </a:pPr>
            <a:r>
              <a:rPr lang="ko-KR" altLang="en-US"/>
              <a:t>입력</a:t>
            </a:r>
            <a:r>
              <a:rPr lang="en-US" altLang="ko-KR"/>
              <a:t>(</a:t>
            </a:r>
            <a:r>
              <a:rPr lang="ko-KR" altLang="en-US"/>
              <a:t>스페이스</a:t>
            </a:r>
            <a:r>
              <a:rPr lang="en-US" altLang="ko-KR"/>
              <a:t>/</a:t>
            </a:r>
            <a:r>
              <a:rPr lang="ko-KR" altLang="en-US"/>
              <a:t>엔터</a:t>
            </a:r>
            <a:r>
              <a:rPr lang="en-US" altLang="ko-KR"/>
              <a:t>/</a:t>
            </a:r>
            <a:r>
              <a:rPr lang="ko-KR" altLang="en-US"/>
              <a:t>클릭</a:t>
            </a:r>
            <a:r>
              <a:rPr lang="en-US" altLang="ko-KR"/>
              <a:t>) </a:t>
            </a:r>
            <a:r>
              <a:rPr lang="ko-KR" altLang="en-US"/>
              <a:t>발생 시 확정 함수 호출</a:t>
            </a:r>
            <a:endParaRPr lang="ko-KR" altLang="en-US"/>
          </a:p>
          <a:p>
            <a:pPr marL="342900" indent="-342900">
              <a:buFont typeface="+mj-lt"/>
              <a:buAutoNum type="arabicPeriod"/>
              <a:defRPr/>
            </a:pPr>
            <a:r>
              <a:rPr lang="ko-KR" altLang="en-US"/>
              <a:t>확정 </a:t>
            </a:r>
            <a:r>
              <a:rPr lang="en-US" altLang="ko-KR"/>
              <a:t>: _confirmCastFromTiming()</a:t>
            </a:r>
            <a:endParaRPr lang="en-US" altLang="ko-KR"/>
          </a:p>
          <a:p>
            <a:pPr marL="800100" lvl="1" indent="-342900">
              <a:buFont typeface="Arial"/>
              <a:buChar char="•"/>
              <a:defRPr/>
            </a:pPr>
            <a:r>
              <a:rPr lang="ko-KR" altLang="en-US"/>
              <a:t>정확도 계산</a:t>
            </a:r>
            <a:r>
              <a:rPr lang="en-US" altLang="ko-KR"/>
              <a:t>: dist = |markerY - centerY|</a:t>
            </a:r>
            <a:endParaRPr lang="en-US" altLang="ko-KR"/>
          </a:p>
          <a:p>
            <a:pPr marL="800100" lvl="1" indent="-342900">
              <a:buFont typeface="Arial"/>
              <a:buChar char="•"/>
              <a:defRPr/>
            </a:pPr>
            <a:r>
              <a:rPr lang="ko-KR" altLang="en-US"/>
              <a:t>깊이</a:t>
            </a:r>
            <a:r>
              <a:rPr lang="en-US" altLang="ko-KR"/>
              <a:t>·</a:t>
            </a:r>
            <a:r>
              <a:rPr lang="ko-KR" altLang="en-US"/>
              <a:t>구역 결정</a:t>
            </a:r>
            <a:endParaRPr lang="ko-KR" altLang="en-US"/>
          </a:p>
          <a:p>
            <a:pPr marL="1257300" lvl="2" indent="-342900">
              <a:buFont typeface="Arial"/>
              <a:buChar char="•"/>
              <a:defRPr/>
            </a:pPr>
            <a:r>
              <a:rPr lang="en-US" altLang="ko-KR"/>
              <a:t>depth = 1 - clamp(dist/0.5)</a:t>
            </a:r>
            <a:r>
              <a:rPr lang="ko-KR" altLang="en-US"/>
              <a:t> 같은 방식으로 </a:t>
            </a:r>
            <a:r>
              <a:rPr lang="en-US" altLang="ko-KR"/>
              <a:t>0~1 </a:t>
            </a:r>
            <a:r>
              <a:rPr lang="ko-KR" altLang="en-US"/>
              <a:t>스케일을 만들고</a:t>
            </a:r>
            <a:endParaRPr lang="ko-KR" altLang="en-US"/>
          </a:p>
          <a:p>
            <a:pPr marL="1257300" lvl="2" indent="-342900">
              <a:buFont typeface="Arial"/>
              <a:buChar char="•"/>
              <a:defRPr/>
            </a:pPr>
            <a:r>
              <a:rPr lang="en-US" altLang="ko-KR"/>
              <a:t>zone = surface / mid / deep</a:t>
            </a:r>
            <a:r>
              <a:rPr lang="ko-KR" altLang="en-US"/>
              <a:t>로 매핑</a:t>
            </a:r>
            <a:endParaRPr lang="ko-KR" altLang="en-US"/>
          </a:p>
          <a:p>
            <a:pPr marL="800100" lvl="1" indent="-342900">
              <a:buFont typeface="Arial"/>
              <a:buChar char="•"/>
              <a:defRPr/>
            </a:pPr>
            <a:r>
              <a:rPr lang="ko-KR" altLang="en-US"/>
              <a:t>물고기 크기</a:t>
            </a:r>
            <a:r>
              <a:rPr lang="en-US" altLang="ko-KR"/>
              <a:t>/</a:t>
            </a:r>
            <a:r>
              <a:rPr lang="ko-KR" altLang="en-US"/>
              <a:t>확률 설정</a:t>
            </a:r>
            <a:r>
              <a:rPr lang="en-US" altLang="ko-KR"/>
              <a:t>: </a:t>
            </a:r>
            <a:r>
              <a:rPr lang="ko-KR" altLang="en-US"/>
              <a:t>정확도가 좋을수록 큰 물고기 비중이 높아짐</a:t>
            </a:r>
            <a:endParaRPr lang="en-US" altLang="ko-KR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6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635693" y="632336"/>
            <a:ext cx="1501661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w="sm" len="sm"/>
            <a:tailEnd w="sm" len="sm"/>
          </a:ln>
        </p:spPr>
        <p:txBody>
          <a:bodyPr wrap="square"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3" name="AutoShape 3"/>
          <p:cNvSpPr/>
          <p:nvPr/>
        </p:nvSpPr>
        <p:spPr>
          <a:xfrm>
            <a:off x="1635693" y="9654664"/>
            <a:ext cx="1501661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w="sm" len="sm"/>
            <a:tailEnd w="sm" len="sm"/>
          </a:ln>
        </p:spPr>
        <p:txBody>
          <a:bodyPr wrap="square"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7" name="TextBox 7"/>
          <p:cNvSpPr txBox="1"/>
          <p:nvPr/>
        </p:nvSpPr>
        <p:spPr>
          <a:xfrm>
            <a:off x="1714824" y="1121483"/>
            <a:ext cx="4211394" cy="311624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2352"/>
              </a:lnSpc>
              <a:defRPr/>
            </a:pPr>
            <a:r>
              <a:rPr lang="ko-KR" altLang="en-US" sz="2100" b="1">
                <a:solidFill>
                  <a:srgbClr val="737373"/>
                </a:solidFill>
                <a:latin typeface="Heebo Bold"/>
                <a:ea typeface="Heebo Bold"/>
                <a:cs typeface="Heebo Bold"/>
                <a:sym typeface="Heebo Bold"/>
              </a:rPr>
              <a:t>낚시 미니게임</a:t>
            </a:r>
            <a:endParaRPr lang="ko-KR" altLang="en-US" sz="2100" b="1">
              <a:solidFill>
                <a:srgbClr val="737373"/>
              </a:solidFill>
              <a:latin typeface="Heebo Bold"/>
              <a:ea typeface="Heebo Bold"/>
              <a:cs typeface="Heebo Bold"/>
              <a:sym typeface="Heebo Bold"/>
            </a:endParaRPr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8551784" y="810212"/>
            <a:ext cx="7620000" cy="4035111"/>
          </a:xfrm>
          <a:prstGeom prst="rect">
            <a:avLst/>
          </a:prstGeom>
        </p:spPr>
      </p:pic>
      <p:pic>
        <p:nvPicPr>
          <p:cNvPr id="10" name="그림 9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8534768" y="5143500"/>
            <a:ext cx="7801214" cy="403511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28800" y="1638300"/>
            <a:ext cx="6096000" cy="72943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/>
              <a:defRPr/>
            </a:pPr>
            <a:r>
              <a:rPr lang="ko-KR" altLang="en-US"/>
              <a:t>진입</a:t>
            </a:r>
            <a:r>
              <a:rPr lang="en-US" altLang="ko-KR"/>
              <a:t>(</a:t>
            </a:r>
            <a:r>
              <a:rPr lang="ko-KR" altLang="en-US"/>
              <a:t>상태전환</a:t>
            </a:r>
            <a:r>
              <a:rPr lang="en-US" altLang="ko-KR"/>
              <a:t>)</a:t>
            </a:r>
            <a:endParaRPr lang="en-US" altLang="ko-KR"/>
          </a:p>
          <a:p>
            <a:pPr marL="800100" lvl="1" indent="-342900">
              <a:buFont typeface="Arial"/>
              <a:buChar char="•"/>
              <a:defRPr/>
            </a:pPr>
            <a:r>
              <a:rPr lang="en-US" altLang="ko-KR"/>
              <a:t>cast_timing</a:t>
            </a:r>
            <a:r>
              <a:rPr lang="ko-KR" altLang="en-US"/>
              <a:t>에서 </a:t>
            </a:r>
            <a:r>
              <a:rPr lang="en-US" altLang="ko-KR"/>
              <a:t>_confirmCastFromTiming()</a:t>
            </a:r>
            <a:r>
              <a:rPr lang="ko-KR" altLang="en-US"/>
              <a:t>으로 </a:t>
            </a:r>
            <a:r>
              <a:rPr lang="en-US" altLang="ko-KR"/>
              <a:t>zone/depth/size</a:t>
            </a:r>
            <a:r>
              <a:rPr lang="ko-KR" altLang="en-US"/>
              <a:t>와 난이도 </a:t>
            </a:r>
            <a:r>
              <a:rPr lang="en-US" altLang="ko-KR"/>
              <a:t>cfg</a:t>
            </a:r>
            <a:r>
              <a:rPr lang="ko-KR" altLang="en-US"/>
              <a:t>를 생성</a:t>
            </a:r>
            <a:endParaRPr lang="ko-KR" altLang="en-US"/>
          </a:p>
          <a:p>
            <a:pPr marL="800100" lvl="1" indent="-342900">
              <a:buFont typeface="Arial"/>
              <a:buChar char="•"/>
              <a:defRPr/>
            </a:pPr>
            <a:r>
              <a:rPr lang="ko-KR" altLang="en-US"/>
              <a:t>짧은 </a:t>
            </a:r>
            <a:r>
              <a:rPr lang="en-US" altLang="ko-KR"/>
              <a:t>wait </a:t>
            </a:r>
            <a:r>
              <a:rPr lang="ko-KR" altLang="en-US"/>
              <a:t>후 </a:t>
            </a:r>
            <a:r>
              <a:rPr lang="en-US" altLang="ko-KR"/>
              <a:t>this.state = 'minigame’</a:t>
            </a:r>
            <a:endParaRPr lang="en-US" altLang="ko-KR"/>
          </a:p>
          <a:p>
            <a:pPr marL="800100" lvl="1" indent="-342900">
              <a:buFont typeface="Arial"/>
              <a:buChar char="•"/>
              <a:defRPr/>
            </a:pPr>
            <a:r>
              <a:rPr lang="ko-KR" altLang="en-US"/>
              <a:t>초기화</a:t>
            </a:r>
            <a:r>
              <a:rPr lang="en-US" altLang="ko-KR"/>
              <a:t>: this.fill=0~1, this.bar={y,v,h}, this.fish={y,t,profile}, this.timeSinceStart=0</a:t>
            </a:r>
            <a:endParaRPr lang="en-US" altLang="ko-KR"/>
          </a:p>
          <a:p>
            <a:pPr marL="342900" indent="-342900">
              <a:buFont typeface="+mj-lt"/>
              <a:buAutoNum type="arabicPeriod"/>
              <a:defRPr/>
            </a:pPr>
            <a:r>
              <a:rPr lang="ko-KR" altLang="en-US"/>
              <a:t>입력 </a:t>
            </a:r>
            <a:r>
              <a:rPr lang="en-US" altLang="ko-KR"/>
              <a:t>&amp; </a:t>
            </a:r>
            <a:r>
              <a:rPr lang="ko-KR" altLang="en-US"/>
              <a:t>바 물리</a:t>
            </a:r>
            <a:r>
              <a:rPr lang="en-US" altLang="ko-KR"/>
              <a:t>(</a:t>
            </a:r>
            <a:r>
              <a:rPr lang="ko-KR" altLang="en-US"/>
              <a:t>휠 조작</a:t>
            </a:r>
            <a:r>
              <a:rPr lang="en-US" altLang="ko-KR"/>
              <a:t>)</a:t>
            </a:r>
            <a:endParaRPr lang="en-US" altLang="ko-KR"/>
          </a:p>
          <a:p>
            <a:pPr marL="800100" lvl="1" indent="-342900">
              <a:buFont typeface="Arial"/>
              <a:buChar char="•"/>
              <a:defRPr/>
            </a:pPr>
            <a:r>
              <a:rPr lang="ko-KR" altLang="en-US"/>
              <a:t>휠 아래</a:t>
            </a:r>
            <a:r>
              <a:rPr lang="en-US" altLang="ko-KR"/>
              <a:t>=</a:t>
            </a:r>
            <a:r>
              <a:rPr lang="ko-KR" altLang="en-US"/>
              <a:t>위로 </a:t>
            </a:r>
            <a:r>
              <a:rPr lang="en-US" altLang="ko-KR"/>
              <a:t>/ </a:t>
            </a:r>
            <a:r>
              <a:rPr lang="ko-KR" altLang="en-US"/>
              <a:t>휠 위</a:t>
            </a:r>
            <a:r>
              <a:rPr lang="en-US" altLang="ko-KR"/>
              <a:t>=</a:t>
            </a:r>
            <a:r>
              <a:rPr lang="ko-KR" altLang="en-US"/>
              <a:t>아래로</a:t>
            </a:r>
            <a:r>
              <a:rPr lang="en-US" altLang="ko-KR"/>
              <a:t>(</a:t>
            </a:r>
            <a:r>
              <a:rPr lang="ko-KR" altLang="en-US"/>
              <a:t>반전</a:t>
            </a:r>
            <a:r>
              <a:rPr lang="en-US" altLang="ko-KR"/>
              <a:t>) </a:t>
            </a:r>
            <a:r>
              <a:rPr lang="ko-KR" altLang="en-US"/>
              <a:t>가속</a:t>
            </a:r>
            <a:endParaRPr lang="ko-KR" altLang="en-US"/>
          </a:p>
          <a:p>
            <a:pPr marL="800100" lvl="1" indent="-342900">
              <a:buFont typeface="Arial"/>
              <a:buChar char="•"/>
              <a:defRPr/>
            </a:pPr>
            <a:r>
              <a:rPr lang="ko-KR" altLang="en-US"/>
              <a:t>가속</a:t>
            </a:r>
            <a:r>
              <a:rPr lang="en-US" altLang="ko-KR"/>
              <a:t>·</a:t>
            </a:r>
            <a:r>
              <a:rPr lang="ko-KR" altLang="en-US"/>
              <a:t>속도제한</a:t>
            </a:r>
            <a:r>
              <a:rPr lang="en-US" altLang="ko-KR"/>
              <a:t>·</a:t>
            </a:r>
            <a:r>
              <a:rPr lang="ko-KR" altLang="en-US"/>
              <a:t>감속</a:t>
            </a:r>
            <a:r>
              <a:rPr lang="en-US" altLang="ko-KR"/>
              <a:t>·</a:t>
            </a:r>
            <a:r>
              <a:rPr lang="ko-KR" altLang="en-US"/>
              <a:t>경계처리</a:t>
            </a:r>
            <a:endParaRPr lang="ko-KR" altLang="en-US"/>
          </a:p>
          <a:p>
            <a:pPr marL="800100" lvl="1" indent="-342900">
              <a:buFont typeface="Arial"/>
              <a:buChar char="•"/>
              <a:defRPr/>
            </a:pPr>
            <a:r>
              <a:rPr lang="ko-KR" altLang="en-US"/>
              <a:t>바의 높이</a:t>
            </a:r>
            <a:r>
              <a:rPr lang="en-US" altLang="ko-KR"/>
              <a:t>(</a:t>
            </a:r>
            <a:r>
              <a:rPr lang="ko-KR" altLang="en-US"/>
              <a:t>판정폭</a:t>
            </a:r>
            <a:r>
              <a:rPr lang="en-US" altLang="ko-KR"/>
              <a:t>) = this.bar.h</a:t>
            </a:r>
            <a:endParaRPr lang="en-US" altLang="ko-KR"/>
          </a:p>
          <a:p>
            <a:pPr marL="342900" indent="-342900">
              <a:buFont typeface="+mj-lt"/>
              <a:buAutoNum type="arabicPeriod"/>
              <a:defRPr/>
            </a:pPr>
            <a:r>
              <a:rPr lang="ko-KR" altLang="en-US"/>
              <a:t>물고기 </a:t>
            </a:r>
            <a:r>
              <a:rPr lang="en-US" altLang="ko-KR"/>
              <a:t>AI</a:t>
            </a:r>
            <a:endParaRPr lang="en-US" altLang="ko-KR"/>
          </a:p>
          <a:p>
            <a:pPr marL="800100" lvl="1" indent="-342900">
              <a:buFont typeface="Arial"/>
              <a:buChar char="•"/>
              <a:defRPr/>
            </a:pPr>
            <a:r>
              <a:rPr lang="en-US" altLang="ko-KR"/>
              <a:t>const F = this.fish.profile</a:t>
            </a:r>
            <a:endParaRPr lang="en-US" altLang="ko-KR"/>
          </a:p>
          <a:p>
            <a:pPr marL="800100" lvl="1" indent="-342900">
              <a:buFont typeface="Arial"/>
              <a:buChar char="•"/>
              <a:defRPr/>
            </a:pPr>
            <a:r>
              <a:rPr lang="ko-KR" altLang="en-US"/>
              <a:t>목표 궤적</a:t>
            </a:r>
            <a:r>
              <a:rPr lang="en-US" altLang="ko-KR"/>
              <a:t>: </a:t>
            </a:r>
            <a:r>
              <a:rPr lang="ko-KR" altLang="en-US"/>
              <a:t>사인파 </a:t>
            </a:r>
            <a:r>
              <a:rPr lang="en-US" altLang="ko-KR"/>
              <a:t>+ </a:t>
            </a:r>
            <a:r>
              <a:rPr lang="ko-KR" altLang="en-US"/>
              <a:t>지터 </a:t>
            </a:r>
            <a:r>
              <a:rPr lang="en-US" altLang="ko-KR"/>
              <a:t>+ </a:t>
            </a:r>
            <a:r>
              <a:rPr lang="ko-KR" altLang="en-US"/>
              <a:t>버스트</a:t>
            </a:r>
            <a:endParaRPr lang="ko-KR" altLang="en-US"/>
          </a:p>
          <a:p>
            <a:pPr marL="800100" lvl="1" indent="-342900">
              <a:buFont typeface="Arial"/>
              <a:buChar char="•"/>
              <a:defRPr/>
            </a:pPr>
            <a:r>
              <a:rPr lang="ko-KR" altLang="en-US"/>
              <a:t>추종</a:t>
            </a:r>
            <a:r>
              <a:rPr lang="en-US" altLang="ko-KR"/>
              <a:t>(</a:t>
            </a:r>
            <a:r>
              <a:rPr lang="ko-KR" altLang="en-US"/>
              <a:t>부드럽게 따라감</a:t>
            </a:r>
            <a:r>
              <a:rPr lang="en-US" altLang="ko-KR"/>
              <a:t>): this.fish.y += (target - this.fish.y) * (F.follow * dt)</a:t>
            </a:r>
            <a:endParaRPr lang="en-US" altLang="ko-KR"/>
          </a:p>
          <a:p>
            <a:pPr marL="800100" lvl="1" indent="-342900">
              <a:buFont typeface="Arial"/>
              <a:buChar char="•"/>
              <a:defRPr/>
            </a:pPr>
            <a:r>
              <a:rPr lang="ko-KR" altLang="en-US"/>
              <a:t>범위 고정</a:t>
            </a:r>
            <a:r>
              <a:rPr lang="en-US" altLang="ko-KR"/>
              <a:t>: ln.top..ln.bottom</a:t>
            </a:r>
            <a:endParaRPr lang="en-US" altLang="ko-KR"/>
          </a:p>
          <a:p>
            <a:pPr marL="342900" indent="-342900">
              <a:buFont typeface="+mj-lt"/>
              <a:buAutoNum type="arabicPeriod"/>
              <a:defRPr/>
            </a:pPr>
            <a:r>
              <a:rPr lang="ko-KR" altLang="en-US"/>
              <a:t>겹침 판정 </a:t>
            </a:r>
            <a:r>
              <a:rPr lang="en-US" altLang="ko-KR"/>
              <a:t>&gt; </a:t>
            </a:r>
            <a:r>
              <a:rPr lang="ko-KR" altLang="en-US"/>
              <a:t>캐치 게이지</a:t>
            </a:r>
            <a:endParaRPr lang="ko-KR" altLang="en-US"/>
          </a:p>
          <a:p>
            <a:pPr marL="800100" lvl="1" indent="-342900">
              <a:buFont typeface="Arial"/>
              <a:buChar char="•"/>
              <a:defRPr/>
            </a:pPr>
            <a:r>
              <a:rPr lang="ko-KR" altLang="en-US"/>
              <a:t>바 중앙</a:t>
            </a:r>
            <a:r>
              <a:rPr lang="en-US" altLang="ko-KR"/>
              <a:t>: barC = this.bar.y + this.bar.h/2</a:t>
            </a:r>
            <a:endParaRPr lang="en-US" altLang="ko-KR"/>
          </a:p>
          <a:p>
            <a:pPr marL="800100" lvl="1" indent="-342900">
              <a:buFont typeface="Arial"/>
              <a:buChar char="•"/>
              <a:defRPr/>
            </a:pPr>
            <a:r>
              <a:rPr lang="ko-KR" altLang="en-US"/>
              <a:t>겹침 여부</a:t>
            </a:r>
            <a:r>
              <a:rPr lang="en-US" altLang="ko-KR"/>
              <a:t>: inside = |this.fish.y - barC| ≤ this.bar.h/2</a:t>
            </a:r>
            <a:endParaRPr lang="en-US" altLang="ko-KR"/>
          </a:p>
          <a:p>
            <a:pPr marL="800100" lvl="1" indent="-342900">
              <a:buFont typeface="Arial"/>
              <a:buChar char="•"/>
              <a:defRPr/>
            </a:pPr>
            <a:r>
              <a:rPr lang="ko-KR" altLang="en-US"/>
              <a:t>누적</a:t>
            </a:r>
            <a:r>
              <a:rPr lang="en-US" altLang="ko-KR"/>
              <a:t>: this.fill = clamp(this.fill + delta*dt, 0, 1)</a:t>
            </a:r>
            <a:endParaRPr lang="en-US" altLang="ko-KR"/>
          </a:p>
          <a:p>
            <a:pPr marL="342900" indent="-342900">
              <a:buFont typeface="+mj-lt"/>
              <a:buAutoNum type="arabicPeriod"/>
              <a:defRPr/>
            </a:pPr>
            <a:r>
              <a:rPr lang="ko-KR" altLang="en-US"/>
              <a:t>성공</a:t>
            </a:r>
            <a:r>
              <a:rPr lang="en-US" altLang="ko-KR"/>
              <a:t>/</a:t>
            </a:r>
            <a:r>
              <a:rPr lang="ko-KR" altLang="en-US"/>
              <a:t>실패 판정</a:t>
            </a:r>
            <a:r>
              <a:rPr lang="en-US" altLang="ko-KR"/>
              <a:t>&amp;</a:t>
            </a:r>
            <a:r>
              <a:rPr lang="ko-KR" altLang="en-US"/>
              <a:t>점수</a:t>
            </a:r>
            <a:endParaRPr lang="ko-KR" altLang="en-US"/>
          </a:p>
          <a:p>
            <a:pPr marL="800100" lvl="1" indent="-342900">
              <a:buFont typeface="Arial"/>
              <a:buChar char="•"/>
              <a:defRPr/>
            </a:pPr>
            <a:r>
              <a:rPr lang="en-US" altLang="ko-KR"/>
              <a:t>this.fill ≥ 1 → this.state='caught’</a:t>
            </a:r>
            <a:endParaRPr lang="en-US" altLang="ko-KR"/>
          </a:p>
          <a:p>
            <a:pPr marL="800100" lvl="1" indent="-342900">
              <a:buFont typeface="Arial"/>
              <a:buChar char="•"/>
              <a:defRPr/>
            </a:pPr>
            <a:r>
              <a:rPr lang="en-US" altLang="ko-KR"/>
              <a:t>this.fill ≤ 0 → this.state='miss’</a:t>
            </a:r>
            <a:endParaRPr lang="en-US" altLang="ko-KR"/>
          </a:p>
          <a:p>
            <a:pPr marL="800100" lvl="1" indent="-342900">
              <a:buFont typeface="Arial"/>
              <a:buChar char="•"/>
              <a:defRPr/>
            </a:pPr>
            <a:r>
              <a:rPr lang="ko-KR" altLang="en-US"/>
              <a:t>점수 가중</a:t>
            </a:r>
            <a:r>
              <a:rPr lang="en-US" altLang="ko-KR"/>
              <a:t>: </a:t>
            </a:r>
            <a:r>
              <a:rPr lang="ko-KR" altLang="en-US"/>
              <a:t>물고기 크기별 </a:t>
            </a:r>
            <a:r>
              <a:rPr lang="en-US" altLang="ko-KR"/>
              <a:t>small=1, mid=3, big=5</a:t>
            </a:r>
            <a:r>
              <a:rPr lang="ko-KR" altLang="en-US"/>
              <a:t> 추가</a:t>
            </a:r>
            <a:endParaRPr lang="ko-KR" altLang="en-US"/>
          </a:p>
          <a:p>
            <a:pPr marL="800100" lvl="1" indent="-342900">
              <a:buFont typeface="Arial"/>
              <a:buChar char="•"/>
              <a:defRPr/>
            </a:pPr>
            <a:r>
              <a:rPr lang="ko-KR" altLang="en-US"/>
              <a:t>단축키</a:t>
            </a:r>
            <a:r>
              <a:rPr lang="en-US" altLang="ko-KR"/>
              <a:t>: R</a:t>
            </a:r>
            <a:r>
              <a:rPr lang="ko-KR" altLang="en-US"/>
              <a:t>로 즉시 리셋</a:t>
            </a:r>
            <a:r>
              <a:rPr lang="en-US" altLang="ko-KR"/>
              <a:t>(</a:t>
            </a:r>
            <a:r>
              <a:rPr lang="ko-KR" altLang="en-US"/>
              <a:t>테스트용</a:t>
            </a:r>
            <a:r>
              <a:rPr lang="en-US" altLang="ko-KR"/>
              <a:t>)</a:t>
            </a:r>
            <a:endParaRPr lang="en-US" altLang="ko-KR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7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635693" y="632336"/>
            <a:ext cx="1501661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w="sm" len="sm"/>
            <a:tailEnd w="sm" len="sm"/>
          </a:ln>
        </p:spPr>
        <p:txBody>
          <a:bodyPr wrap="square"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3" name="AutoShape 3"/>
          <p:cNvSpPr/>
          <p:nvPr/>
        </p:nvSpPr>
        <p:spPr>
          <a:xfrm>
            <a:off x="1635693" y="9654664"/>
            <a:ext cx="1501661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w="sm" len="sm"/>
            <a:tailEnd w="sm" len="sm"/>
          </a:ln>
        </p:spPr>
        <p:txBody>
          <a:bodyPr wrap="square"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9" name="TextBox 9"/>
          <p:cNvSpPr txBox="1"/>
          <p:nvPr/>
        </p:nvSpPr>
        <p:spPr>
          <a:xfrm>
            <a:off x="4078981" y="2366850"/>
            <a:ext cx="10130038" cy="1024050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ctr">
              <a:lnSpc>
                <a:spcPts val="8064"/>
              </a:lnSpc>
              <a:defRPr/>
            </a:pPr>
            <a:r>
              <a:rPr lang="en-US" altLang="ko-KR" sz="7200" b="1" spc="-359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Runner Game</a:t>
            </a:r>
            <a:endParaRPr lang="en-US" altLang="ko-KR" sz="7200" b="1" spc="-359">
              <a:solidFill>
                <a:srgbClr val="000000"/>
              </a:solidFill>
              <a:latin typeface="Nanum Square Bold"/>
              <a:ea typeface="Nanum Square Bold"/>
              <a:cs typeface="Nanum Square Bold"/>
              <a:sym typeface="Nanum Square Bold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8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635693" y="632336"/>
            <a:ext cx="1501661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w="sm" len="sm"/>
            <a:tailEnd w="sm" len="sm"/>
          </a:ln>
        </p:spPr>
        <p:txBody>
          <a:bodyPr wrap="square" anchor="ctr"/>
          <a:p>
            <a:pPr algn="ctr">
              <a:defRPr/>
            </a:pPr>
            <a:endParaRPr lang="ko-KR" altLang="en-US"/>
          </a:p>
        </p:txBody>
      </p:sp>
      <p:sp>
        <p:nvSpPr>
          <p:cNvPr id="3" name="AutoShape 3"/>
          <p:cNvSpPr/>
          <p:nvPr/>
        </p:nvSpPr>
        <p:spPr>
          <a:xfrm>
            <a:off x="1635693" y="9654664"/>
            <a:ext cx="1501661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w="sm" len="sm"/>
            <a:tailEnd w="sm" len="sm"/>
          </a:ln>
        </p:spPr>
        <p:txBody>
          <a:bodyPr wrap="square" anchor="ctr"/>
          <a:p>
            <a:pPr algn="ctr">
              <a:defRPr/>
            </a:pPr>
            <a:endParaRPr lang="ko-KR" altLang="en-US"/>
          </a:p>
        </p:txBody>
      </p:sp>
      <p:sp>
        <p:nvSpPr>
          <p:cNvPr id="5" name="TextBox 5"/>
          <p:cNvSpPr txBox="1"/>
          <p:nvPr/>
        </p:nvSpPr>
        <p:spPr>
          <a:xfrm>
            <a:off x="1635693" y="1428583"/>
            <a:ext cx="8014955" cy="1019342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8064"/>
              </a:lnSpc>
              <a:defRPr/>
            </a:pPr>
            <a:r>
              <a:rPr lang="ko-KR" altLang="en-US" sz="7200" b="1" spc="-359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러너</a:t>
            </a:r>
            <a:r>
              <a:rPr lang="en-US" altLang="ko-KR" sz="7200" b="1" spc="-359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 -</a:t>
            </a:r>
            <a:r>
              <a:rPr lang="ko-KR" altLang="en-US" sz="7200" b="1" spc="-359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 소스코드</a:t>
            </a:r>
            <a:endParaRPr lang="ko-KR" altLang="en-US" sz="7200" b="1" spc="-359">
              <a:solidFill>
                <a:srgbClr val="000000"/>
              </a:solidFill>
              <a:latin typeface="Nanum Square Bold"/>
              <a:ea typeface="Nanum Square Bold"/>
              <a:cs typeface="Nanum Square Bold"/>
              <a:sym typeface="Nanum Square Bold"/>
            </a:endParaRPr>
          </a:p>
        </p:txBody>
      </p:sp>
      <p:sp>
        <p:nvSpPr>
          <p:cNvPr id="7" name="TextBox 7"/>
          <p:cNvSpPr txBox="1"/>
          <p:nvPr/>
        </p:nvSpPr>
        <p:spPr>
          <a:xfrm>
            <a:off x="1714824" y="1121483"/>
            <a:ext cx="4211394" cy="297742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2352"/>
              </a:lnSpc>
              <a:defRPr/>
            </a:pPr>
            <a:r>
              <a:rPr lang="en-US" altLang="ko-KR" sz="2100" b="1">
                <a:solidFill>
                  <a:srgbClr val="737373"/>
                </a:solidFill>
                <a:latin typeface="Heebo Bold"/>
                <a:ea typeface="Heebo Bold"/>
                <a:cs typeface="Heebo Bold"/>
                <a:sym typeface="Heebo Bold"/>
              </a:rPr>
              <a:t>Runner</a:t>
            </a:r>
            <a:endParaRPr lang="ko-KR" altLang="en-US" sz="2100" b="1">
              <a:solidFill>
                <a:srgbClr val="737373"/>
              </a:solidFill>
              <a:latin typeface="Heebo Bold"/>
              <a:ea typeface="Heebo Bold"/>
              <a:cs typeface="Heebo Bold"/>
              <a:sym typeface="Heebo Bold"/>
            </a:endParaRPr>
          </a:p>
        </p:txBody>
      </p:sp>
      <p:pic>
        <p:nvPicPr>
          <p:cNvPr id="8" name="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0781678" y="777287"/>
            <a:ext cx="5829922" cy="873242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  <a:effectLst>
            <a:outerShdw blurRad="76200" dist="76200" dir="2700000" algn="ctr" rotWithShape="0">
              <a:srgbClr val="000000">
                <a:alpha val="50000"/>
              </a:srgbClr>
            </a:outerShdw>
          </a:effectLst>
        </p:spPr>
      </p:pic>
      <p:sp>
        <p:nvSpPr>
          <p:cNvPr id="9" name=""/>
          <p:cNvSpPr txBox="1"/>
          <p:nvPr/>
        </p:nvSpPr>
        <p:spPr>
          <a:xfrm>
            <a:off x="1676400" y="6743700"/>
            <a:ext cx="8915400" cy="1360170"/>
          </a:xfrm>
          <a:prstGeom prst="rect">
            <a:avLst/>
          </a:prstGeom>
        </p:spPr>
        <p:txBody>
          <a:bodyPr wrap="square">
            <a:spAutoFit/>
          </a:bodyPr>
          <a:p>
            <a:pPr algn="ctr">
              <a:defRPr/>
            </a:pPr>
            <a:r>
              <a:rPr lang="en-US" altLang="ko-KR" sz="2100">
                <a:latin typeface="나눔스퀘어 Bold"/>
                <a:ea typeface="나눔스퀘어 Bold"/>
              </a:rPr>
              <a:t>1.</a:t>
            </a:r>
            <a:r>
              <a:rPr lang="ko-KR" altLang="en-US" sz="2100">
                <a:latin typeface="나눔스퀘어 Bold"/>
                <a:ea typeface="나눔스퀘어 Bold"/>
              </a:rPr>
              <a:t> 플레이어 기본 설정</a:t>
            </a:r>
            <a:endParaRPr lang="ko-KR" altLang="en-US" sz="2100">
              <a:latin typeface="나눔스퀘어 Bold"/>
              <a:ea typeface="나눔스퀘어 Bold"/>
            </a:endParaRPr>
          </a:p>
          <a:p>
            <a:pPr algn="ctr">
              <a:defRPr/>
            </a:pPr>
            <a:r>
              <a:rPr lang="en-US" altLang="ko-KR" sz="2100">
                <a:latin typeface="나눔스퀘어 Bold"/>
                <a:ea typeface="나눔스퀘어 Bold"/>
              </a:rPr>
              <a:t>2.</a:t>
            </a:r>
            <a:r>
              <a:rPr lang="ko-KR" altLang="en-US" sz="2100">
                <a:latin typeface="나눔스퀘어 Bold"/>
                <a:ea typeface="나눔스퀘어 Bold"/>
              </a:rPr>
              <a:t> 물리 엔진 요소</a:t>
            </a:r>
            <a:endParaRPr lang="ko-KR" altLang="en-US" sz="2100">
              <a:latin typeface="나눔스퀘어 Bold"/>
              <a:ea typeface="나눔스퀘어 Bold"/>
            </a:endParaRPr>
          </a:p>
          <a:p>
            <a:pPr algn="ctr">
              <a:defRPr/>
            </a:pPr>
            <a:r>
              <a:rPr lang="en-US" altLang="ko-KR" sz="2100">
                <a:latin typeface="나눔스퀘어 Bold"/>
                <a:ea typeface="나눔스퀘어 Bold"/>
              </a:rPr>
              <a:t>3.</a:t>
            </a:r>
            <a:r>
              <a:rPr lang="ko-KR" altLang="en-US" sz="2100">
                <a:latin typeface="나눔스퀘어 Bold"/>
                <a:ea typeface="나눔스퀘어 Bold"/>
              </a:rPr>
              <a:t> </a:t>
            </a:r>
            <a:r>
              <a:rPr lang="en-US" altLang="ko-KR" sz="2100">
                <a:latin typeface="나눔스퀘어 Bold"/>
                <a:ea typeface="나눔스퀘어 Bold"/>
              </a:rPr>
              <a:t>게임 상태 변수</a:t>
            </a:r>
            <a:endParaRPr lang="en-US" altLang="ko-KR" sz="2100">
              <a:latin typeface="나눔스퀘어 Bold"/>
              <a:ea typeface="나눔스퀘어 Bold"/>
            </a:endParaRPr>
          </a:p>
          <a:p>
            <a:pPr algn="ctr">
              <a:defRPr/>
            </a:pPr>
            <a:r>
              <a:rPr lang="en-US" altLang="ko-KR" sz="2100">
                <a:latin typeface="나눔스퀘어 Bold"/>
                <a:ea typeface="나눔스퀘어 Bold"/>
              </a:rPr>
              <a:t>4.</a:t>
            </a:r>
            <a:r>
              <a:rPr lang="ko-KR" altLang="en-US" sz="2100">
                <a:latin typeface="나눔스퀘어 Bold"/>
                <a:ea typeface="나눔스퀘어 Bold"/>
              </a:rPr>
              <a:t> 입력처리</a:t>
            </a:r>
            <a:endParaRPr lang="ko-KR" altLang="en-US" sz="2100">
              <a:latin typeface="나눔스퀘어 Bold"/>
              <a:ea typeface="나눔스퀘어 Bold"/>
            </a:endParaRPr>
          </a:p>
        </p:txBody>
      </p:sp>
      <p:sp>
        <p:nvSpPr>
          <p:cNvPr id="10" name=""/>
          <p:cNvSpPr txBox="1"/>
          <p:nvPr/>
        </p:nvSpPr>
        <p:spPr>
          <a:xfrm>
            <a:off x="1752600" y="2868929"/>
            <a:ext cx="8915400" cy="720091"/>
          </a:xfrm>
          <a:prstGeom prst="rect">
            <a:avLst/>
          </a:prstGeom>
        </p:spPr>
        <p:txBody>
          <a:bodyPr wrap="square">
            <a:spAutoFit/>
          </a:bodyPr>
          <a:p>
            <a:pPr marL="0" indent="0" algn="ctr" defTabSz="91440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2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나눔스퀘어 Bold"/>
                <a:ea typeface="나눔스퀘어 Bold"/>
              </a:rPr>
              <a:t>미니게임에 들어갈 쿠키런 스타일의 러너 게임을 만들고 싶은데, </a:t>
            </a:r>
            <a:endParaRPr xmlns:mc="http://schemas.openxmlformats.org/markup-compatibility/2006" xmlns:hp="http://schemas.haansoft.com/office/presentation/8.0" kumimoji="0" lang="ko-KR" altLang="en-US" sz="2100" b="0" i="0" u="none" strike="noStrike" kern="1200" cap="none" spc="0" normalizeH="0" baseline="0" mc:Ignorable="hp" hp:hslEmbossed="0">
              <a:solidFill>
                <a:srgbClr val="000000"/>
              </a:solidFill>
              <a:latin typeface="나눔스퀘어 Bold"/>
              <a:ea typeface="나눔스퀘어 Bold"/>
            </a:endParaRPr>
          </a:p>
          <a:p>
            <a:pPr marL="0" indent="0" algn="ctr" defTabSz="91440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2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나눔스퀘어 Bold"/>
                <a:ea typeface="나눔스퀘어 Bold"/>
              </a:rPr>
              <a:t>그 기반이 될 기초 소스코드를 작성해 주세요.</a:t>
            </a:r>
            <a:endParaRPr xmlns:mc="http://schemas.openxmlformats.org/markup-compatibility/2006" xmlns:hp="http://schemas.haansoft.com/office/presentation/8.0" kumimoji="0" lang="ko-KR" altLang="en-US" sz="2100" b="0" i="0" u="none" strike="noStrike" kern="1200" cap="none" spc="0" normalizeH="0" baseline="0" mc:Ignorable="hp" hp:hslEmbossed="0">
              <a:solidFill>
                <a:srgbClr val="000000"/>
              </a:solidFill>
              <a:latin typeface="나눔스퀘어 Bold"/>
              <a:ea typeface="나눔스퀘어 Bold"/>
            </a:endParaRPr>
          </a:p>
        </p:txBody>
      </p:sp>
      <p:sp>
        <p:nvSpPr>
          <p:cNvPr id="13" name=""/>
          <p:cNvSpPr/>
          <p:nvPr/>
        </p:nvSpPr>
        <p:spPr>
          <a:xfrm>
            <a:off x="5257800" y="3810000"/>
            <a:ext cx="1828800" cy="2667000"/>
          </a:xfrm>
          <a:prstGeom prst="downArrow">
            <a:avLst>
              <a:gd name="adj1" fmla="val 50000"/>
              <a:gd name="adj2" fmla="val 50000"/>
            </a:avLst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9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635693" y="632336"/>
            <a:ext cx="1501661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w="sm" len="sm"/>
            <a:tailEnd w="sm" len="sm"/>
          </a:ln>
        </p:spPr>
        <p:txBody>
          <a:bodyPr wrap="square" anchor="ctr"/>
          <a:p>
            <a:pPr algn="ctr">
              <a:defRPr/>
            </a:pPr>
            <a:endParaRPr lang="ko-KR" altLang="en-US"/>
          </a:p>
        </p:txBody>
      </p:sp>
      <p:sp>
        <p:nvSpPr>
          <p:cNvPr id="3" name="AutoShape 3"/>
          <p:cNvSpPr/>
          <p:nvPr/>
        </p:nvSpPr>
        <p:spPr>
          <a:xfrm>
            <a:off x="1635693" y="9654664"/>
            <a:ext cx="1501661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w="sm" len="sm"/>
            <a:tailEnd w="sm" len="sm"/>
          </a:ln>
        </p:spPr>
        <p:txBody>
          <a:bodyPr wrap="square" anchor="ctr"/>
          <a:p>
            <a:pPr algn="ctr">
              <a:defRPr/>
            </a:pPr>
            <a:endParaRPr lang="ko-KR" altLang="en-US"/>
          </a:p>
        </p:txBody>
      </p:sp>
      <p:sp>
        <p:nvSpPr>
          <p:cNvPr id="8" name="TextBox 5"/>
          <p:cNvSpPr txBox="1"/>
          <p:nvPr/>
        </p:nvSpPr>
        <p:spPr>
          <a:xfrm>
            <a:off x="1635693" y="1428583"/>
            <a:ext cx="8014955" cy="1019342"/>
          </a:xfrm>
          <a:prstGeom prst="rect">
            <a:avLst/>
          </a:prstGeom>
        </p:spPr>
        <p:txBody>
          <a:bodyPr lIns="0" tIns="0" rIns="0" bIns="0" anchor="t">
            <a:spAutoFit/>
          </a:bodyPr>
          <a:p>
            <a:pPr marL="0" indent="0" algn="l" defTabSz="914400" rtl="0" eaLnBrk="1" latinLnBrk="0" hangingPunct="1">
              <a:lnSpc>
                <a:spcPts val="8064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7200" b="1" i="0" u="none" strike="noStrike" kern="1200" cap="none" spc="-359" normalizeH="0" baseline="0" mc:Ignorable="hp" hp:hslEmbossed="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러너</a:t>
            </a:r>
            <a:r>
              <a:rPr xmlns:mc="http://schemas.openxmlformats.org/markup-compatibility/2006" xmlns:hp="http://schemas.haansoft.com/office/presentation/8.0" kumimoji="0" lang="en-US" altLang="ko-KR" sz="7200" b="1" i="0" u="none" strike="noStrike" kern="1200" cap="none" spc="-359" normalizeH="0" baseline="0" mc:Ignorable="hp" hp:hslEmbossed="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 -</a:t>
            </a:r>
            <a:r>
              <a:rPr xmlns:mc="http://schemas.openxmlformats.org/markup-compatibility/2006" xmlns:hp="http://schemas.haansoft.com/office/presentation/8.0" kumimoji="0" lang="ko-KR" altLang="en-US" sz="7200" b="1" i="0" u="none" strike="noStrike" kern="1200" cap="none" spc="-359" normalizeH="0" baseline="0" mc:Ignorable="hp" hp:hslEmbossed="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 기획 </a:t>
            </a:r>
            <a:endParaRPr xmlns:mc="http://schemas.openxmlformats.org/markup-compatibility/2006" xmlns:hp="http://schemas.haansoft.com/office/presentation/8.0" kumimoji="0" lang="ko-KR" altLang="en-US" sz="7200" b="1" i="0" u="none" strike="noStrike" kern="1200" cap="none" spc="-359" normalizeH="0" baseline="0" mc:Ignorable="hp" hp:hslEmbossed="0">
              <a:solidFill>
                <a:srgbClr val="000000"/>
              </a:solidFill>
              <a:latin typeface="Nanum Square Bold"/>
              <a:ea typeface="Nanum Square Bold"/>
              <a:cs typeface="Nanum Square Bold"/>
              <a:sym typeface="Nanum Square Bold"/>
            </a:endParaRPr>
          </a:p>
        </p:txBody>
      </p:sp>
      <p:sp>
        <p:nvSpPr>
          <p:cNvPr id="9" name="TextBox 7"/>
          <p:cNvSpPr txBox="1"/>
          <p:nvPr/>
        </p:nvSpPr>
        <p:spPr>
          <a:xfrm>
            <a:off x="1714824" y="1121483"/>
            <a:ext cx="4211394" cy="297742"/>
          </a:xfrm>
          <a:prstGeom prst="rect">
            <a:avLst/>
          </a:prstGeom>
        </p:spPr>
        <p:txBody>
          <a:bodyPr lIns="0" tIns="0" rIns="0" bIns="0" anchor="t">
            <a:spAutoFit/>
          </a:bodyPr>
          <a:p>
            <a:pPr marL="0" indent="0" algn="l" defTabSz="914400" rtl="0" eaLnBrk="1" latinLnBrk="0" hangingPunct="1">
              <a:lnSpc>
                <a:spcPts val="2352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2100" b="1" i="0" u="none" strike="noStrike" kern="1200" cap="none" spc="0" normalizeH="0" baseline="0" mc:Ignorable="hp" hp:hslEmbossed="0">
                <a:solidFill>
                  <a:srgbClr val="737373"/>
                </a:solidFill>
                <a:latin typeface="Heebo Bold"/>
                <a:ea typeface="Heebo Bold"/>
                <a:cs typeface="Heebo Bold"/>
                <a:sym typeface="Heebo Bold"/>
              </a:rPr>
              <a:t>Runner</a:t>
            </a:r>
            <a:endParaRPr xmlns:mc="http://schemas.openxmlformats.org/markup-compatibility/2006" xmlns:hp="http://schemas.haansoft.com/office/presentation/8.0" kumimoji="0" lang="ko-KR" altLang="en-US" sz="2100" b="1" i="0" u="none" strike="noStrike" kern="1200" cap="none" spc="0" normalizeH="0" baseline="0" mc:Ignorable="hp" hp:hslEmbossed="0">
              <a:solidFill>
                <a:srgbClr val="737373"/>
              </a:solidFill>
              <a:latin typeface="Heebo Bold"/>
              <a:ea typeface="Heebo Bold"/>
              <a:cs typeface="Heebo Bold"/>
              <a:sym typeface="Heebo Bold"/>
            </a:endParaRPr>
          </a:p>
        </p:txBody>
      </p:sp>
      <p:pic>
        <p:nvPicPr>
          <p:cNvPr id="16" name="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6248400" y="6438900"/>
            <a:ext cx="990600" cy="990600"/>
          </a:xfrm>
          <a:prstGeom prst="rect">
            <a:avLst/>
          </a:prstGeom>
        </p:spPr>
      </p:pic>
      <p:grpSp>
        <p:nvGrpSpPr>
          <p:cNvPr id="23" name=""/>
          <p:cNvGrpSpPr/>
          <p:nvPr/>
        </p:nvGrpSpPr>
        <p:grpSpPr>
          <a:xfrm rot="0">
            <a:off x="1905000" y="2705100"/>
            <a:ext cx="8077200" cy="1350645"/>
            <a:chOff x="1905000" y="2705100"/>
            <a:chExt cx="8077200" cy="1350645"/>
          </a:xfrm>
        </p:grpSpPr>
        <p:sp>
          <p:nvSpPr>
            <p:cNvPr id="15" name=""/>
            <p:cNvSpPr txBox="1"/>
            <p:nvPr/>
          </p:nvSpPr>
          <p:spPr>
            <a:xfrm>
              <a:off x="1905000" y="3009900"/>
              <a:ext cx="8077200" cy="1045845"/>
            </a:xfrm>
            <a:prstGeom prst="rect">
              <a:avLst/>
            </a:prstGeom>
          </p:spPr>
          <p:txBody>
            <a:bodyPr wrap="square">
              <a:spAutoFit/>
            </a:bodyPr>
            <a:p>
              <a:pPr marL="299880" indent="-299880">
                <a:buClr>
                  <a:schemeClr val="tx1"/>
                </a:buClr>
                <a:buFont typeface="Wingdings"/>
                <a:buChar char="ü"/>
                <a:defRPr/>
              </a:pPr>
              <a:r>
                <a:rPr lang="ko-KR" altLang="en-US" sz="2100">
                  <a:latin typeface="나눔스퀘어 Bold"/>
                  <a:ea typeface="나눔스퀘어 Bold"/>
                </a:rPr>
                <a:t>진행 중에 부딛힐 장애물 필요</a:t>
              </a:r>
              <a:endParaRPr lang="ko-KR" altLang="en-US" sz="2100">
                <a:latin typeface="나눔스퀘어 Bold"/>
                <a:ea typeface="나눔스퀘어 Bold"/>
              </a:endParaRPr>
            </a:p>
            <a:p>
              <a:pPr marL="299880" indent="-299880">
                <a:buClr>
                  <a:schemeClr val="tx1"/>
                </a:buClr>
                <a:buFont typeface="Wingdings"/>
                <a:buChar char="ü"/>
                <a:defRPr/>
              </a:pPr>
              <a:r>
                <a:rPr lang="ko-KR" altLang="en-US" sz="2100">
                  <a:latin typeface="나눔스퀘어 Bold"/>
                  <a:ea typeface="나눔스퀘어 Bold"/>
                </a:rPr>
                <a:t>점프 뿐만 아니라 슬라이딩</a:t>
              </a:r>
              <a:r>
                <a:rPr lang="en-US" altLang="ko-KR" sz="2100">
                  <a:latin typeface="나눔스퀘어 Bold"/>
                  <a:ea typeface="나눔스퀘어 Bold"/>
                </a:rPr>
                <a:t>,</a:t>
              </a:r>
              <a:r>
                <a:rPr lang="ko-KR" altLang="en-US" sz="2100">
                  <a:latin typeface="나눔스퀘어 Bold"/>
                  <a:ea typeface="나눔스퀘어 Bold"/>
                </a:rPr>
                <a:t> 급강하 구현</a:t>
              </a:r>
              <a:endParaRPr lang="ko-KR" altLang="en-US" sz="2100">
                <a:latin typeface="나눔스퀘어 Bold"/>
                <a:ea typeface="나눔스퀘어 Bold"/>
              </a:endParaRPr>
            </a:p>
            <a:p>
              <a:pPr marL="299880" indent="-299880">
                <a:buClr>
                  <a:schemeClr val="tx1"/>
                </a:buClr>
                <a:buFont typeface="Wingdings"/>
                <a:buChar char="ü"/>
                <a:defRPr/>
              </a:pPr>
              <a:r>
                <a:rPr lang="ko-KR" altLang="en-US" sz="2100">
                  <a:latin typeface="나눔스퀘어 Bold"/>
                  <a:ea typeface="나눔스퀘어 Bold"/>
                </a:rPr>
                <a:t>주인공</a:t>
              </a:r>
              <a:r>
                <a:rPr lang="en-US" altLang="ko-KR" sz="2100">
                  <a:latin typeface="나눔스퀘어 Bold"/>
                  <a:ea typeface="나눔스퀘어 Bold"/>
                </a:rPr>
                <a:t>/</a:t>
              </a:r>
              <a:r>
                <a:rPr lang="ko-KR" altLang="en-US" sz="2100">
                  <a:latin typeface="나눔스퀘어 Bold"/>
                  <a:ea typeface="나눔스퀘어 Bold"/>
                </a:rPr>
                <a:t>장애물</a:t>
              </a:r>
              <a:r>
                <a:rPr lang="en-US" altLang="ko-KR" sz="2100">
                  <a:latin typeface="나눔스퀘어 Bold"/>
                  <a:ea typeface="나눔스퀘어 Bold"/>
                </a:rPr>
                <a:t>/</a:t>
              </a:r>
              <a:r>
                <a:rPr lang="ko-KR" altLang="en-US" sz="2100">
                  <a:latin typeface="나눔스퀘어 Bold"/>
                  <a:ea typeface="나눔스퀘어 Bold"/>
                </a:rPr>
                <a:t>배경 이미지</a:t>
              </a:r>
              <a:r>
                <a:rPr lang="en-US" altLang="ko-KR" sz="2100">
                  <a:latin typeface="나눔스퀘어 Bold"/>
                  <a:ea typeface="나눔스퀘어 Bold"/>
                </a:rPr>
                <a:t>,</a:t>
              </a:r>
              <a:r>
                <a:rPr lang="ko-KR" altLang="en-US" sz="2100">
                  <a:latin typeface="나눔스퀘어 Bold"/>
                  <a:ea typeface="나눔스퀘어 Bold"/>
                </a:rPr>
                <a:t> 배경음악</a:t>
              </a:r>
              <a:r>
                <a:rPr lang="en-US" altLang="ko-KR" sz="2100">
                  <a:latin typeface="나눔스퀘어 Bold"/>
                  <a:ea typeface="나눔스퀘어 Bold"/>
                </a:rPr>
                <a:t>,</a:t>
              </a:r>
              <a:r>
                <a:rPr lang="ko-KR" altLang="en-US" sz="2100">
                  <a:latin typeface="나눔스퀘어 Bold"/>
                  <a:ea typeface="나눔스퀘어 Bold"/>
                </a:rPr>
                <a:t> 효과음 필요</a:t>
              </a:r>
              <a:endParaRPr lang="ko-KR" altLang="en-US" sz="2100">
                <a:latin typeface="나눔스퀘어 Bold"/>
                <a:ea typeface="나눔스퀘어 Bold"/>
              </a:endParaRPr>
            </a:p>
          </p:txBody>
        </p:sp>
        <p:sp>
          <p:nvSpPr>
            <p:cNvPr id="21" name=""/>
            <p:cNvSpPr txBox="1"/>
            <p:nvPr/>
          </p:nvSpPr>
          <p:spPr>
            <a:xfrm>
              <a:off x="1905000" y="2705100"/>
              <a:ext cx="1143000" cy="367665"/>
            </a:xfrm>
            <a:prstGeom prst="rect">
              <a:avLst/>
            </a:prstGeom>
          </p:spPr>
          <p:txBody>
            <a:bodyPr wrap="square">
              <a:spAutoFit/>
            </a:bodyPr>
            <a:p>
              <a:pPr>
                <a:defRPr/>
              </a:pPr>
              <a:r>
                <a:rPr lang="ko-KR" altLang="en-US">
                  <a:latin typeface="하늘보리체"/>
                  <a:ea typeface="하늘보리체"/>
                </a:rPr>
                <a:t>초반</a:t>
              </a:r>
              <a:endParaRPr lang="ko-KR" altLang="en-US">
                <a:latin typeface="하늘보리체"/>
                <a:ea typeface="하늘보리체"/>
              </a:endParaRPr>
            </a:p>
          </p:txBody>
        </p:sp>
        <p:cxnSp>
          <p:nvCxnSpPr>
            <p:cNvPr id="22" name=""/>
            <p:cNvCxnSpPr/>
            <p:nvPr/>
          </p:nvCxnSpPr>
          <p:spPr>
            <a:xfrm>
              <a:off x="2438400" y="2857500"/>
              <a:ext cx="5203325" cy="0"/>
            </a:xfrm>
            <a:prstGeom prst="line">
              <a:avLst/>
            </a:prstGeom>
            <a:ln>
              <a:solidFill>
                <a:schemeClr val="dk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"/>
          <p:cNvGrpSpPr/>
          <p:nvPr/>
        </p:nvGrpSpPr>
        <p:grpSpPr>
          <a:xfrm rot="0">
            <a:off x="1905000" y="4152900"/>
            <a:ext cx="8077200" cy="1664970"/>
            <a:chOff x="1905000" y="2705100"/>
            <a:chExt cx="8077200" cy="1664970"/>
          </a:xfrm>
        </p:grpSpPr>
        <p:sp>
          <p:nvSpPr>
            <p:cNvPr id="25" name=""/>
            <p:cNvSpPr txBox="1"/>
            <p:nvPr/>
          </p:nvSpPr>
          <p:spPr>
            <a:xfrm>
              <a:off x="1905000" y="3009900"/>
              <a:ext cx="8077200" cy="1360170"/>
            </a:xfrm>
            <a:prstGeom prst="rect">
              <a:avLst/>
            </a:prstGeom>
          </p:spPr>
          <p:txBody>
            <a:bodyPr wrap="square">
              <a:spAutoFit/>
            </a:bodyPr>
            <a:p>
              <a:pPr marL="299880" indent="-299880" algn="l" defTabSz="914400" rtl="0" eaLnBrk="1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>
                  <a:schemeClr val="tx1"/>
                </a:buClr>
                <a:buFont typeface="Wingdings"/>
                <a:buChar char="ü"/>
                <a:defRPr/>
              </a:pPr>
              <a:r>
                <a:rPr xmlns:mc="http://schemas.openxmlformats.org/markup-compatibility/2006" xmlns:hp="http://schemas.haansoft.com/office/presentation/8.0" kumimoji="0" lang="ko-KR" altLang="en-US" sz="2100" b="0" i="0" u="none" strike="noStrike" kern="1200" cap="none" spc="0" normalizeH="0" baseline="0" mc:Ignorable="hp" hp:hslEmbossed="0">
                  <a:solidFill>
                    <a:srgbClr val="000000"/>
                  </a:solidFill>
                  <a:latin typeface="나눔스퀘어 Bold"/>
                  <a:ea typeface="나눔스퀘어 Bold"/>
                </a:rPr>
                <a:t>점수 대신 레벨업 시스템 구현</a:t>
              </a:r>
              <a:endParaRPr xmlns:mc="http://schemas.openxmlformats.org/markup-compatibility/2006" xmlns:hp="http://schemas.haansoft.com/office/presentation/8.0" kumimoji="0" lang="ko-KR" altLang="en-US" sz="2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나눔스퀘어 Bold"/>
                <a:ea typeface="나눔스퀘어 Bold"/>
              </a:endParaRPr>
            </a:p>
            <a:p>
              <a:pPr marL="299880" indent="-299880" algn="l" defTabSz="914400" rtl="0" eaLnBrk="1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>
                  <a:schemeClr val="tx1"/>
                </a:buClr>
                <a:buFont typeface="Wingdings"/>
                <a:buChar char="ü"/>
                <a:defRPr/>
              </a:pPr>
              <a:r>
                <a:rPr xmlns:mc="http://schemas.openxmlformats.org/markup-compatibility/2006" xmlns:hp="http://schemas.haansoft.com/office/presentation/8.0" kumimoji="0" lang="ko-KR" altLang="en-US" sz="2100" b="0" i="0" u="none" strike="noStrike" kern="1200" cap="none" spc="0" normalizeH="0" baseline="0" mc:Ignorable="hp" hp:hslEmbossed="0">
                  <a:solidFill>
                    <a:srgbClr val="000000"/>
                  </a:solidFill>
                  <a:latin typeface="나눔스퀘어 Bold"/>
                  <a:ea typeface="나눔스퀘어 Bold"/>
                </a:rPr>
                <a:t>추가 장애물 미사일과 러너 속도 점진적 증가 </a:t>
              </a:r>
              <a:endParaRPr xmlns:mc="http://schemas.openxmlformats.org/markup-compatibility/2006" xmlns:hp="http://schemas.haansoft.com/office/presentation/8.0" kumimoji="0" lang="ko-KR" altLang="en-US" sz="2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나눔스퀘어 Bold"/>
                <a:ea typeface="나눔스퀘어 Bold"/>
              </a:endParaRPr>
            </a:p>
            <a:p>
              <a:pPr marL="299880" indent="-299880" algn="l" defTabSz="914400" rtl="0" eaLnBrk="1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>
                  <a:schemeClr val="tx1"/>
                </a:buClr>
                <a:buFont typeface="Wingdings"/>
                <a:buChar char="ü"/>
                <a:defRPr/>
              </a:pPr>
              <a:r>
                <a:rPr xmlns:mc="http://schemas.openxmlformats.org/markup-compatibility/2006" xmlns:hp="http://schemas.haansoft.com/office/presentation/8.0" kumimoji="0" lang="ko-KR" altLang="en-US" sz="2100" b="0" i="0" u="none" strike="noStrike" kern="1200" cap="none" spc="0" normalizeH="0" baseline="0" mc:Ignorable="hp" hp:hslEmbossed="0">
                  <a:solidFill>
                    <a:srgbClr val="000000"/>
                  </a:solidFill>
                  <a:latin typeface="나눔스퀘어 Bold"/>
                  <a:ea typeface="나눔스퀘어 Bold"/>
                </a:rPr>
                <a:t>배경 이미지가 움직이지 않는걸 방지하기 위해 반복되는 이미지로 교체</a:t>
              </a:r>
              <a:endParaRPr xmlns:mc="http://schemas.openxmlformats.org/markup-compatibility/2006" xmlns:hp="http://schemas.haansoft.com/office/presentation/8.0" kumimoji="0" lang="ko-KR" altLang="en-US" sz="2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나눔스퀘어 Bold"/>
                <a:ea typeface="나눔스퀘어 Bold"/>
              </a:endParaRPr>
            </a:p>
            <a:p>
              <a:pPr marL="299880" indent="-299880" algn="l" defTabSz="914400" rtl="0" eaLnBrk="1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>
                  <a:schemeClr val="tx1"/>
                </a:buClr>
                <a:buFont typeface="Wingdings"/>
                <a:buChar char="ü"/>
                <a:defRPr/>
              </a:pPr>
              <a:r>
                <a:rPr xmlns:mc="http://schemas.openxmlformats.org/markup-compatibility/2006" xmlns:hp="http://schemas.haansoft.com/office/presentation/8.0" kumimoji="0" lang="ko-KR" altLang="en-US" sz="2100" b="0" i="0" u="none" strike="noStrike" kern="1200" cap="none" spc="0" normalizeH="0" baseline="0" mc:Ignorable="hp" hp:hslEmbossed="0">
                  <a:solidFill>
                    <a:srgbClr val="000000"/>
                  </a:solidFill>
                  <a:latin typeface="나눔스퀘어 Bold"/>
                  <a:ea typeface="나눔스퀘어 Bold"/>
                </a:rPr>
                <a:t>목숨 </a:t>
              </a:r>
              <a:r>
                <a:rPr xmlns:mc="http://schemas.openxmlformats.org/markup-compatibility/2006" xmlns:hp="http://schemas.haansoft.com/office/presentation/8.0" kumimoji="0" lang="en-US" altLang="ko-KR" sz="2100" b="0" i="0" u="none" strike="noStrike" kern="1200" cap="none" spc="0" normalizeH="0" baseline="0" mc:Ignorable="hp" hp:hslEmbossed="0">
                  <a:solidFill>
                    <a:srgbClr val="000000"/>
                  </a:solidFill>
                  <a:latin typeface="나눔스퀘어 Bold"/>
                  <a:ea typeface="나눔스퀘어 Bold"/>
                </a:rPr>
                <a:t>3</a:t>
              </a:r>
              <a:r>
                <a:rPr xmlns:mc="http://schemas.openxmlformats.org/markup-compatibility/2006" xmlns:hp="http://schemas.haansoft.com/office/presentation/8.0" kumimoji="0" lang="ko-KR" altLang="en-US" sz="2100" b="0" i="0" u="none" strike="noStrike" kern="1200" cap="none" spc="0" normalizeH="0" baseline="0" mc:Ignorable="hp" hp:hslEmbossed="0">
                  <a:solidFill>
                    <a:srgbClr val="000000"/>
                  </a:solidFill>
                  <a:latin typeface="나눔스퀘어 Bold"/>
                  <a:ea typeface="나눔스퀘어 Bold"/>
                </a:rPr>
                <a:t>개 구현</a:t>
              </a:r>
              <a:endParaRPr xmlns:mc="http://schemas.openxmlformats.org/markup-compatibility/2006" xmlns:hp="http://schemas.haansoft.com/office/presentation/8.0" kumimoji="0" lang="ko-KR" altLang="en-US" sz="2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나눔스퀘어 Bold"/>
                <a:ea typeface="나눔스퀘어 Bold"/>
              </a:endParaRPr>
            </a:p>
          </p:txBody>
        </p:sp>
        <p:sp>
          <p:nvSpPr>
            <p:cNvPr id="26" name=""/>
            <p:cNvSpPr txBox="1"/>
            <p:nvPr/>
          </p:nvSpPr>
          <p:spPr>
            <a:xfrm>
              <a:off x="1905000" y="2705100"/>
              <a:ext cx="1143000" cy="367665"/>
            </a:xfrm>
            <a:prstGeom prst="rect">
              <a:avLst/>
            </a:prstGeom>
          </p:spPr>
          <p:txBody>
            <a:bodyPr wrap="square">
              <a:spAutoFit/>
            </a:bodyPr>
            <a:p>
              <a:pPr marL="0" indent="0" algn="l" defTabSz="914400" rtl="0" eaLnBrk="1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None/>
                <a:defRPr/>
              </a:pPr>
              <a:r>
                <a: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    <a:solidFill>
                    <a:srgbClr val="000000"/>
                  </a:solidFill>
                  <a:latin typeface="하늘보리체"/>
                  <a:ea typeface="하늘보리체"/>
                </a:rPr>
                <a:t>중반</a:t>
              </a:r>
  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하늘보리체"/>
                <a:ea typeface="하늘보리체"/>
              </a:endParaRPr>
            </a:p>
          </p:txBody>
        </p:sp>
        <p:cxnSp>
          <p:nvCxnSpPr>
            <p:cNvPr id="27" name=""/>
            <p:cNvCxnSpPr/>
            <p:nvPr/>
          </p:nvCxnSpPr>
          <p:spPr>
            <a:xfrm>
              <a:off x="2438400" y="2857500"/>
              <a:ext cx="5203325" cy="0"/>
            </a:xfrm>
            <a:prstGeom prst="line">
              <a:avLst/>
            </a:prstGeom>
            <a:noFill/>
            <a:ln w="9525" cap="flat" cmpd="sng" algn="ctr">
              <a:solidFill>
                <a:srgbClr val="000000">
                  <a:alpha val="100000"/>
                </a:srgbClr>
              </a:solidFill>
              <a:prstDash val="solid"/>
            </a:ln>
          </p:spPr>
        </p:cxnSp>
      </p:grpSp>
      <p:pic>
        <p:nvPicPr>
          <p:cNvPr id="28" name="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9778790" y="1943100"/>
            <a:ext cx="1651210" cy="2895600"/>
          </a:xfrm>
          <a:prstGeom prst="rect">
            <a:avLst/>
          </a:prstGeom>
          <a:effectLst>
            <a:outerShdw blurRad="76200" dist="76200" dir="2700000" algn="ctr" rotWithShape="0">
              <a:srgbClr val="000000">
                <a:alpha val="50000"/>
              </a:srgbClr>
            </a:outerShdw>
          </a:effectLst>
        </p:spPr>
      </p:pic>
      <p:pic>
        <p:nvPicPr>
          <p:cNvPr id="33" name="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11658600" y="1595526"/>
            <a:ext cx="4572000" cy="7095949"/>
          </a:xfrm>
          <a:prstGeom prst="rect">
            <a:avLst/>
          </a:prstGeom>
          <a:effectLst>
            <a:outerShdw blurRad="76200" dist="76200" dir="2700000" algn="ctr" rotWithShape="0">
              <a:srgbClr val="000000">
                <a:alpha val="50000"/>
              </a:srgbClr>
            </a:outerShdw>
          </a:effectLst>
        </p:spPr>
      </p:pic>
      <p:grpSp>
        <p:nvGrpSpPr>
          <p:cNvPr id="34" name=""/>
          <p:cNvGrpSpPr/>
          <p:nvPr/>
        </p:nvGrpSpPr>
        <p:grpSpPr>
          <a:xfrm rot="0">
            <a:off x="1904999" y="6099810"/>
            <a:ext cx="8077200" cy="1024890"/>
            <a:chOff x="1905000" y="2705100"/>
            <a:chExt cx="8077200" cy="1024890"/>
          </a:xfrm>
        </p:grpSpPr>
        <p:sp>
          <p:nvSpPr>
            <p:cNvPr id="35" name=""/>
            <p:cNvSpPr txBox="1"/>
            <p:nvPr/>
          </p:nvSpPr>
          <p:spPr>
            <a:xfrm>
              <a:off x="1905000" y="3009900"/>
              <a:ext cx="8077200" cy="720090"/>
            </a:xfrm>
            <a:prstGeom prst="rect">
              <a:avLst/>
            </a:prstGeom>
          </p:spPr>
          <p:txBody>
            <a:bodyPr wrap="square">
              <a:spAutoFit/>
            </a:bodyPr>
            <a:p>
              <a:pPr marL="299880" indent="-299880" algn="l" defTabSz="914400" rtl="0" eaLnBrk="1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>
                  <a:schemeClr val="tx1"/>
                </a:buClr>
                <a:buFont typeface="Wingdings"/>
                <a:buChar char="ü"/>
                <a:defRPr/>
              </a:pPr>
              <a:r>
                <a:rPr xmlns:mc="http://schemas.openxmlformats.org/markup-compatibility/2006" xmlns:hp="http://schemas.haansoft.com/office/presentation/8.0" kumimoji="0" lang="ko-KR" altLang="en-US" sz="2100" b="0" i="0" u="none" strike="noStrike" kern="1200" cap="none" spc="0" normalizeH="0" baseline="0" mc:Ignorable="hp" hp:hslEmbossed="0">
                  <a:solidFill>
                    <a:srgbClr val="000000"/>
                  </a:solidFill>
                  <a:latin typeface="나눔스퀘어 Bold"/>
                  <a:ea typeface="나눔스퀘어 Bold"/>
                </a:rPr>
                <a:t>카드를 고른 후 카운트 다운 적용</a:t>
              </a:r>
              <a:endParaRPr xmlns:mc="http://schemas.openxmlformats.org/markup-compatibility/2006" xmlns:hp="http://schemas.haansoft.com/office/presentation/8.0" kumimoji="0" lang="ko-KR" altLang="en-US" sz="2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나눔스퀘어 Bold"/>
                <a:ea typeface="나눔스퀘어 Bold"/>
              </a:endParaRPr>
            </a:p>
            <a:p>
              <a:pPr marL="299880" indent="-299880" algn="l" defTabSz="914400" rtl="0" eaLnBrk="1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>
                  <a:schemeClr val="tx1"/>
                </a:buClr>
                <a:buFont typeface="Wingdings"/>
                <a:buChar char="ü"/>
                <a:defRPr/>
              </a:pPr>
              <a:r>
                <a:rPr xmlns:mc="http://schemas.openxmlformats.org/markup-compatibility/2006" xmlns:hp="http://schemas.haansoft.com/office/presentation/8.0" kumimoji="0" lang="ko-KR" altLang="en-US" sz="2100" b="0" i="0" u="none" strike="noStrike" kern="1200" cap="none" spc="0" normalizeH="0" baseline="0" mc:Ignorable="hp" hp:hslEmbossed="0">
                  <a:solidFill>
                    <a:srgbClr val="000000"/>
                  </a:solidFill>
                  <a:latin typeface="나눔스퀘어 Bold"/>
                  <a:ea typeface="나눔스퀘어 Bold"/>
                </a:rPr>
                <a:t>버그픽스</a:t>
              </a:r>
              <a:endParaRPr xmlns:mc="http://schemas.openxmlformats.org/markup-compatibility/2006" xmlns:hp="http://schemas.haansoft.com/office/presentation/8.0" kumimoji="0" lang="ko-KR" altLang="en-US" sz="2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나눔스퀘어 Bold"/>
                <a:ea typeface="나눔스퀘어 Bold"/>
              </a:endParaRPr>
            </a:p>
          </p:txBody>
        </p:sp>
        <p:sp>
          <p:nvSpPr>
            <p:cNvPr id="36" name=""/>
            <p:cNvSpPr txBox="1"/>
            <p:nvPr/>
          </p:nvSpPr>
          <p:spPr>
            <a:xfrm>
              <a:off x="1905000" y="2705100"/>
              <a:ext cx="1143000" cy="358139"/>
            </a:xfrm>
            <a:prstGeom prst="rect">
              <a:avLst/>
            </a:prstGeom>
          </p:spPr>
          <p:txBody>
            <a:bodyPr wrap="square">
              <a:spAutoFit/>
            </a:bodyPr>
            <a:p>
              <a:pPr marL="0" indent="0" algn="l" defTabSz="914400" rtl="0" eaLnBrk="1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None/>
                <a:defRPr/>
              </a:pPr>
              <a:r>
                <a: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    <a:solidFill>
                    <a:srgbClr val="000000"/>
                  </a:solidFill>
                  <a:latin typeface="하늘보리체"/>
                  <a:ea typeface="하늘보리체"/>
                </a:rPr>
                <a:t>후반</a:t>
              </a:r>
  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하늘보리체"/>
                <a:ea typeface="하늘보리체"/>
              </a:endParaRPr>
            </a:p>
          </p:txBody>
        </p:sp>
        <p:cxnSp>
          <p:nvCxnSpPr>
            <p:cNvPr id="37" name=""/>
            <p:cNvCxnSpPr/>
            <p:nvPr/>
          </p:nvCxnSpPr>
          <p:spPr>
            <a:xfrm>
              <a:off x="2438400" y="2857500"/>
              <a:ext cx="5203325" cy="0"/>
            </a:xfrm>
            <a:prstGeom prst="line">
              <a:avLst/>
            </a:prstGeom>
            <a:noFill/>
            <a:ln w="9525" cap="flat" cmpd="sng" algn="ctr">
              <a:solidFill>
                <a:srgbClr val="000000">
                  <a:alpha val="100000"/>
                </a:srgbClr>
              </a:solidFill>
              <a:prstDash val="solid"/>
            </a:ln>
          </p:spPr>
        </p:cxnSp>
      </p:grpSp>
      <p:cxnSp>
        <p:nvCxnSpPr>
          <p:cNvPr id="41" name=""/>
          <p:cNvCxnSpPr>
            <a:endCxn id="28" idx="2"/>
          </p:cNvCxnSpPr>
          <p:nvPr/>
        </p:nvCxnSpPr>
        <p:spPr>
          <a:xfrm flipV="1">
            <a:off x="9982200" y="4838700"/>
            <a:ext cx="622195" cy="609600"/>
          </a:xfrm>
          <a:prstGeom prst="curvedConnector2">
            <a:avLst/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"/>
          <p:cNvSpPr/>
          <p:nvPr/>
        </p:nvSpPr>
        <p:spPr>
          <a:xfrm>
            <a:off x="9532620" y="1322070"/>
            <a:ext cx="2049780" cy="62103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p>
            <a:pPr algn="ctr">
              <a:defRPr/>
            </a:pPr>
            <a:r>
              <a:rPr xmlns:mc="http://schemas.openxmlformats.org/markup-compatibility/2006" xmlns:hp="http://schemas.haansoft.com/office/presentation/8.0" lang="en-US" altLang="ko-KR" sz="1800" b="0" i="0" strike="noStrike" mc:Ignorable="hp" hp:hslEmbossed="0">
                <a:solidFill>
                  <a:srgbClr val="000000">
                    <a:alpha val="100000"/>
                  </a:srgbClr>
                </a:solidFill>
                <a:latin typeface="하늘보리체"/>
                <a:ea typeface="하늘보리체"/>
              </a:rPr>
              <a:t> </a:t>
            </a:r>
            <a:r>
              <a:rPr xmlns:mc="http://schemas.openxmlformats.org/markup-compatibility/2006" xmlns:hp="http://schemas.haansoft.com/office/presentation/8.0" lang="en-US" altLang="ko-KR" sz="1700" b="0" i="0" strike="noStrike" mc:Ignorable="hp" hp:hslEmbossed="0">
                <a:solidFill>
                  <a:srgbClr val="000000">
                    <a:alpha val="100000"/>
                  </a:srgbClr>
                </a:solidFill>
                <a:latin typeface="하늘보리체"/>
                <a:ea typeface="하늘보리체"/>
              </a:rPr>
              <a:t>FlappyBird</a:t>
            </a:r>
            <a:r>
              <a:rPr xmlns:mc="http://schemas.openxmlformats.org/markup-compatibility/2006" xmlns:hp="http://schemas.haansoft.com/office/presentation/8.0" lang="ko-KR" altLang="en-US" sz="1700" b="0" i="0" strike="noStrike" mc:Ignorable="hp" hp:hslEmbossed="0">
                <a:solidFill>
                  <a:srgbClr val="000000">
                    <a:alpha val="100000"/>
                  </a:srgbClr>
                </a:solidFill>
                <a:latin typeface="하늘보리체"/>
                <a:ea typeface="하늘보리체"/>
              </a:rPr>
              <a:t>에서 영감을 받음</a:t>
            </a:r>
            <a:endParaRPr xmlns:mc="http://schemas.openxmlformats.org/markup-compatibility/2006" xmlns:hp="http://schemas.haansoft.com/office/presentation/8.0" lang="ko-KR" altLang="en-US" sz="1700" b="0" i="0" strike="noStrike" mc:Ignorable="hp" hp:hslEmbossed="0">
              <a:solidFill>
                <a:srgbClr val="000000">
                  <a:alpha val="100000"/>
                </a:srgbClr>
              </a:solidFill>
              <a:latin typeface="하늘보리체"/>
              <a:ea typeface="하늘보리체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20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635693" y="632336"/>
            <a:ext cx="1501661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w="sm" len="sm"/>
            <a:tailEnd w="sm" len="sm"/>
          </a:ln>
        </p:spPr>
        <p:txBody>
          <a:bodyPr wrap="square" anchor="ctr"/>
          <a:p>
            <a:pPr algn="ctr">
              <a:defRPr/>
            </a:pPr>
            <a:endParaRPr lang="ko-KR" altLang="en-US"/>
          </a:p>
        </p:txBody>
      </p:sp>
      <p:sp>
        <p:nvSpPr>
          <p:cNvPr id="3" name="AutoShape 3"/>
          <p:cNvSpPr/>
          <p:nvPr/>
        </p:nvSpPr>
        <p:spPr>
          <a:xfrm>
            <a:off x="1635693" y="9654664"/>
            <a:ext cx="1501661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w="sm" len="sm"/>
            <a:tailEnd w="sm" len="sm"/>
          </a:ln>
        </p:spPr>
        <p:txBody>
          <a:bodyPr wrap="square" anchor="ctr"/>
          <a:p>
            <a:pPr algn="ctr">
              <a:defRPr/>
            </a:pPr>
            <a:endParaRPr lang="ko-KR" altLang="en-US"/>
          </a:p>
        </p:txBody>
      </p:sp>
      <p:sp>
        <p:nvSpPr>
          <p:cNvPr id="5" name="TextBox 5"/>
          <p:cNvSpPr txBox="1"/>
          <p:nvPr/>
        </p:nvSpPr>
        <p:spPr>
          <a:xfrm>
            <a:off x="1635693" y="1428583"/>
            <a:ext cx="8014955" cy="1019342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8064"/>
              </a:lnSpc>
              <a:defRPr/>
            </a:pPr>
            <a:r>
              <a:rPr lang="ko-KR" altLang="en-US" sz="7200" b="1" spc="-359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챌린지 </a:t>
            </a:r>
            <a:endParaRPr lang="ko-KR" altLang="en-US" sz="7200" b="1" spc="-359">
              <a:solidFill>
                <a:srgbClr val="000000"/>
              </a:solidFill>
              <a:latin typeface="Nanum Square Bold"/>
              <a:ea typeface="Nanum Square Bold"/>
              <a:cs typeface="Nanum Square Bold"/>
              <a:sym typeface="Nanum Square Bold"/>
            </a:endParaRPr>
          </a:p>
        </p:txBody>
      </p:sp>
      <p:sp>
        <p:nvSpPr>
          <p:cNvPr id="7" name="TextBox 7"/>
          <p:cNvSpPr txBox="1"/>
          <p:nvPr/>
        </p:nvSpPr>
        <p:spPr>
          <a:xfrm>
            <a:off x="1714824" y="1121483"/>
            <a:ext cx="4211394" cy="297742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2352"/>
              </a:lnSpc>
              <a:defRPr/>
            </a:pPr>
            <a:r>
              <a:rPr lang="en-US" altLang="ko-KR" sz="2100" b="1">
                <a:solidFill>
                  <a:srgbClr val="737373"/>
                </a:solidFill>
                <a:latin typeface="Heebo Bold"/>
                <a:ea typeface="Heebo Bold"/>
                <a:cs typeface="Heebo Bold"/>
                <a:sym typeface="Heebo Bold"/>
              </a:rPr>
              <a:t>C</a:t>
            </a:r>
            <a:r>
              <a:rPr lang="ko-KR" altLang="en-US" sz="2100" b="1">
                <a:solidFill>
                  <a:srgbClr val="737373"/>
                </a:solidFill>
                <a:latin typeface="Heebo Bold"/>
                <a:ea typeface="Heebo Bold"/>
                <a:cs typeface="Heebo Bold"/>
                <a:sym typeface="Heebo Bold"/>
              </a:rPr>
              <a:t>hallenge</a:t>
            </a:r>
            <a:endParaRPr lang="ko-KR" altLang="en-US" sz="2100" b="1">
              <a:solidFill>
                <a:srgbClr val="737373"/>
              </a:solidFill>
              <a:latin typeface="Heebo Bold"/>
              <a:ea typeface="Heebo Bold"/>
              <a:cs typeface="Heebo Bold"/>
              <a:sym typeface="Heebo Bold"/>
            </a:endParaRPr>
          </a:p>
        </p:txBody>
      </p:sp>
      <p:pic>
        <p:nvPicPr>
          <p:cNvPr id="9" name="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9608699" y="1219200"/>
            <a:ext cx="6926701" cy="7848600"/>
          </a:xfrm>
          <a:prstGeom prst="rect">
            <a:avLst/>
          </a:prstGeom>
        </p:spPr>
      </p:pic>
      <p:sp>
        <p:nvSpPr>
          <p:cNvPr id="10" name=""/>
          <p:cNvSpPr txBox="1"/>
          <p:nvPr/>
        </p:nvSpPr>
        <p:spPr>
          <a:xfrm>
            <a:off x="1752600" y="2868929"/>
            <a:ext cx="7620000" cy="720091"/>
          </a:xfrm>
          <a:prstGeom prst="rect">
            <a:avLst/>
          </a:prstGeom>
        </p:spPr>
        <p:txBody>
          <a:bodyPr wrap="square">
            <a:spAutoFit/>
          </a:bodyPr>
          <a:p>
            <a:pPr marL="0" indent="0" algn="ctr" defTabSz="91440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2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나눔스퀘어 Bold"/>
                <a:ea typeface="나눔스퀘어 Bold"/>
              </a:rPr>
              <a:t>3</a:t>
            </a:r>
            <a:r>
              <a:rPr xmlns:mc="http://schemas.openxmlformats.org/markup-compatibility/2006" xmlns:hp="http://schemas.haansoft.com/office/presentation/8.0" kumimoji="0" lang="ko-KR" altLang="en-US" sz="2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나눔스퀘어 Bold"/>
                <a:ea typeface="나눔스퀘어 Bold"/>
              </a:rPr>
              <a:t>개의 게임을 병합한 메인 게임</a:t>
            </a:r>
            <a:endParaRPr xmlns:mc="http://schemas.openxmlformats.org/markup-compatibility/2006" xmlns:hp="http://schemas.haansoft.com/office/presentation/8.0" kumimoji="0" lang="ko-KR" altLang="en-US" sz="2100" b="0" i="0" u="none" strike="noStrike" kern="1200" cap="none" spc="0" normalizeH="0" baseline="0" mc:Ignorable="hp" hp:hslEmbossed="0">
              <a:solidFill>
                <a:srgbClr val="000000"/>
              </a:solidFill>
              <a:latin typeface="나눔스퀘어 Bold"/>
              <a:ea typeface="나눔스퀘어 Bold"/>
            </a:endParaRPr>
          </a:p>
          <a:p>
            <a:pPr marL="0" indent="0" algn="ctr" defTabSz="91440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2100" b="0" i="0" u="none" strike="noStrike" kern="1200" cap="none" spc="0" normalizeH="0" baseline="0" mc:Ignorable="hp" hp:hslEmbossed="0">
              <a:solidFill>
                <a:srgbClr val="000000"/>
              </a:solidFill>
              <a:latin typeface="나눔스퀘어 Bold"/>
              <a:ea typeface="나눔스퀘어 Bold"/>
            </a:endParaRPr>
          </a:p>
        </p:txBody>
      </p:sp>
      <p:pic>
        <p:nvPicPr>
          <p:cNvPr id="11" name="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9144000" y="5143500"/>
            <a:ext cx="0" cy="0"/>
          </a:xfrm>
          <a:prstGeom prst="rect">
            <a:avLst/>
          </a:prstGeom>
        </p:spPr>
      </p:pic>
      <p:pic>
        <p:nvPicPr>
          <p:cNvPr id="12" name="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9296400" y="5295900"/>
            <a:ext cx="0" cy="0"/>
          </a:xfrm>
          <a:prstGeom prst="rect">
            <a:avLst/>
          </a:prstGeom>
        </p:spPr>
      </p:pic>
      <p:pic>
        <p:nvPicPr>
          <p:cNvPr id="16" name="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9448800" y="5448300"/>
            <a:ext cx="0" cy="0"/>
          </a:xfrm>
          <a:prstGeom prst="rect">
            <a:avLst/>
          </a:prstGeom>
        </p:spPr>
      </p:pic>
      <p:pic>
        <p:nvPicPr>
          <p:cNvPr id="18" name="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3124200" y="3619500"/>
            <a:ext cx="6220275" cy="3048000"/>
          </a:xfrm>
          <a:prstGeom prst="rect">
            <a:avLst/>
          </a:prstGeom>
          <a:solidFill>
            <a:schemeClr val="dk1"/>
          </a:solidFill>
          <a:ln>
            <a:solidFill>
              <a:schemeClr val="dk1"/>
            </a:solidFill>
          </a:ln>
          <a:effectLst>
            <a:outerShdw blurRad="76200" dist="76200" dir="2700000" algn="ctr" rotWithShape="0">
              <a:srgbClr val="000000">
                <a:alpha val="50000"/>
              </a:srgbClr>
            </a:outerShdw>
          </a:effectLst>
        </p:spPr>
      </p:pic>
      <p:pic>
        <p:nvPicPr>
          <p:cNvPr id="19" name=""/>
          <p:cNvPicPr>
            <a:picLocks noChangeAspect="1"/>
          </p:cNvPicPr>
          <p:nvPr/>
        </p:nvPicPr>
        <p:blipFill rotWithShape="1">
          <a:blip r:embed="rId7"/>
          <a:stretch>
            <a:fillRect/>
          </a:stretch>
        </p:blipFill>
        <p:spPr>
          <a:xfrm>
            <a:off x="1066800" y="3861847"/>
            <a:ext cx="2954957" cy="4482052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  <a:effectLst>
            <a:outerShdw blurRad="76200" dist="76200" dir="2700000" algn="ctr" rotWithShape="0">
              <a:srgbClr val="000000">
                <a:alpha val="50000"/>
              </a:srgbClr>
            </a:outerShdw>
          </a:effectLst>
        </p:spPr>
      </p:pic>
      <p:pic>
        <p:nvPicPr>
          <p:cNvPr id="17" name=""/>
          <p:cNvPicPr>
            <a:picLocks noChangeAspect="1"/>
          </p:cNvPicPr>
          <p:nvPr/>
        </p:nvPicPr>
        <p:blipFill rotWithShape="1">
          <a:blip r:embed="rId8"/>
          <a:stretch>
            <a:fillRect/>
          </a:stretch>
        </p:blipFill>
        <p:spPr>
          <a:xfrm>
            <a:off x="3581400" y="5829300"/>
            <a:ext cx="2209800" cy="3429708"/>
          </a:xfrm>
          <a:prstGeom prst="rect">
            <a:avLst/>
          </a:prstGeom>
          <a:ln>
            <a:solidFill>
              <a:schemeClr val="dk1"/>
            </a:solidFill>
          </a:ln>
          <a:effectLst>
            <a:outerShdw blurRad="76200" dist="76200" dir="2700000" algn="ctr" rotWithShape="0">
              <a:srgbClr val="000000">
                <a:alpha val="50000"/>
              </a:srgbClr>
            </a:outerShdw>
          </a:effectLst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21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635693" y="632336"/>
            <a:ext cx="1501661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w="sm" len="sm"/>
            <a:tailEnd w="sm" len="sm"/>
          </a:ln>
        </p:spPr>
        <p:txBody>
          <a:bodyPr wrap="square" anchor="ctr"/>
          <a:p>
            <a:pPr algn="ctr">
              <a:defRPr/>
            </a:pPr>
            <a:endParaRPr lang="ko-KR" altLang="en-US"/>
          </a:p>
        </p:txBody>
      </p:sp>
      <p:sp>
        <p:nvSpPr>
          <p:cNvPr id="3" name="AutoShape 3"/>
          <p:cNvSpPr/>
          <p:nvPr/>
        </p:nvSpPr>
        <p:spPr>
          <a:xfrm>
            <a:off x="1635693" y="9654664"/>
            <a:ext cx="1501661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w="sm" len="sm"/>
            <a:tailEnd w="sm" len="sm"/>
          </a:ln>
        </p:spPr>
        <p:txBody>
          <a:bodyPr wrap="square" anchor="ctr"/>
          <a:p>
            <a:pPr algn="ctr">
              <a:defRPr/>
            </a:pPr>
            <a:endParaRPr lang="ko-KR" altLang="en-US"/>
          </a:p>
        </p:txBody>
      </p:sp>
      <p:sp>
        <p:nvSpPr>
          <p:cNvPr id="5" name="TextBox 5"/>
          <p:cNvSpPr txBox="1"/>
          <p:nvPr/>
        </p:nvSpPr>
        <p:spPr>
          <a:xfrm>
            <a:off x="1635693" y="1428583"/>
            <a:ext cx="8014955" cy="1019342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8064"/>
              </a:lnSpc>
              <a:defRPr/>
            </a:pPr>
            <a:r>
              <a:rPr lang="ko-KR" altLang="en-US" sz="7200" b="1" spc="-359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게임 시연</a:t>
            </a:r>
            <a:endParaRPr lang="ko-KR" altLang="en-US" sz="7200" b="1" spc="-359">
              <a:solidFill>
                <a:srgbClr val="000000"/>
              </a:solidFill>
              <a:latin typeface="Nanum Square Bold"/>
              <a:ea typeface="Nanum Square Bold"/>
              <a:cs typeface="Nanum Square Bold"/>
              <a:sym typeface="Nanum Square Bold"/>
            </a:endParaRPr>
          </a:p>
        </p:txBody>
      </p:sp>
      <p:sp>
        <p:nvSpPr>
          <p:cNvPr id="7" name="TextBox 7"/>
          <p:cNvSpPr txBox="1"/>
          <p:nvPr/>
        </p:nvSpPr>
        <p:spPr>
          <a:xfrm>
            <a:off x="1714824" y="1121483"/>
            <a:ext cx="4211394" cy="297742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2352"/>
              </a:lnSpc>
              <a:defRPr/>
            </a:pPr>
            <a:endParaRPr lang="ko-KR" altLang="en-US" sz="2100" b="1">
              <a:solidFill>
                <a:srgbClr val="737373"/>
              </a:solidFill>
              <a:latin typeface="Heebo Bold"/>
              <a:ea typeface="Heebo Bold"/>
              <a:cs typeface="Heebo Bold"/>
              <a:sym typeface="Heebo Bold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theme/theme1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name="한컴오피스">
  <a:themeElements>
    <a:clrScheme name="한컴오피스">
      <a:dk1>
        <a:sysClr val="windowText" lastClr="000000"/>
      </a:dk1>
      <a:lt1>
        <a:sysClr val="window" lastClr="ffffff"/>
      </a:lt1>
      <a:dk2>
        <a:srgbClr val="3a3c84"/>
      </a:dk2>
      <a:lt2>
        <a:srgbClr val="faf3db"/>
      </a:lt2>
      <a:accent1>
        <a:srgbClr val="6182d6"/>
      </a:accent1>
      <a:accent2>
        <a:srgbClr val="ff843a"/>
      </a:accent2>
      <a:accent3>
        <a:srgbClr val="b2b2b2"/>
      </a:accent3>
      <a:accent4>
        <a:srgbClr val="ffd700"/>
      </a:accent4>
      <a:accent5>
        <a:srgbClr val="289b6e"/>
      </a:accent5>
      <a:accent6>
        <a:srgbClr val="9d5cbb"/>
      </a:accent6>
      <a:hlink>
        <a:srgbClr val="0000ff"/>
      </a:hlink>
      <a:folHlink>
        <a:srgbClr val="800080"/>
      </a:folHlink>
    </a:clrScheme>
    <a:fontScheme name="한컴오피스">
      <a:maj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inorFont>
    </a:fontScheme>
    <a:fmtScheme name="한컴오피스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12700" cap="flat" cmpd="sng" algn="ctr">
          <a:solidFill>
            <a:schemeClr val="phClr">
              <a:satMod val="105000"/>
            </a:schemeClr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reflection blurRad="12700" stA="26000" endPos="28000" dist="38100" dir="5400000" sy="-100000" rotWithShape="0"/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ep:Properties xmlns:r="http://schemas.openxmlformats.org/officeDocument/2006/relationships" xmlns:ep="http://schemas.openxmlformats.org/officeDocument/2006/extended-properties" xmlns:vt="http://schemas.openxmlformats.org/officeDocument/2006/docPropsVTypes">
  <ep:Manager/>
  <ep:Company/>
  <ep:Words>506</ep:Words>
  <ep:PresentationFormat>On-screen Show (4:3)</ep:PresentationFormat>
  <ep:Paragraphs>118</ep:Paragraphs>
  <ep:Slides>21</ep:Slides>
  <ep:Notes>1</ep:Notes>
  <ep:TotalTime>0</ep:TotalTime>
  <ep:HiddenSlides>0</ep:HiddenSlides>
  <ep:MMClips>0</ep:MMClips>
  <ep:HeadingPairs>
    <vt:vector size="4" baseType="variant">
      <vt:variant>
        <vt:lpstr>테마</vt:lpstr>
      </vt:variant>
      <vt:variant>
        <vt:i4>1</vt:i4>
      </vt:variant>
      <vt:variant>
        <vt:lpstr>슬라이드 제목</vt:lpstr>
      </vt:variant>
      <vt:variant>
        <vt:i4>21</vt:i4>
      </vt:variant>
    </vt:vector>
  </ep:HeadingPairs>
  <ep:TitlesOfParts>
    <vt:vector size="22" baseType="lpstr">
      <vt:lpstr>Office Theme</vt:lpstr>
      <vt:lpstr>슬라이드 1</vt:lpstr>
      <vt:lpstr>슬라이드 2</vt:lpstr>
      <vt:lpstr>슬라이드 3</vt:lpstr>
      <vt:lpstr>슬라이드 4</vt:lpstr>
      <vt:lpstr>슬라이드 5</vt:lpstr>
      <vt:lpstr>슬라이드 6</vt:lpstr>
      <vt:lpstr>슬라이드 7</vt:lpstr>
      <vt:lpstr>슬라이드 8</vt:lpstr>
      <vt:lpstr>슬라이드 9</vt:lpstr>
      <vt:lpstr>슬라이드 10</vt:lpstr>
      <vt:lpstr>슬라이드 11</vt:lpstr>
      <vt:lpstr>슬라이드 12</vt:lpstr>
      <vt:lpstr>슬라이드 13</vt:lpstr>
      <vt:lpstr>슬라이드 14</vt:lpstr>
      <vt:lpstr>슬라이드 15</vt:lpstr>
      <vt:lpstr>슬라이드 16</vt:lpstr>
      <vt:lpstr>슬라이드 17</vt:lpstr>
      <vt:lpstr>슬라이드 18</vt:lpstr>
      <vt:lpstr>슬라이드 19</vt:lpstr>
      <vt:lpstr>슬라이드 20</vt:lpstr>
      <vt:lpstr>슬라이드 21</vt:lpstr>
    </vt:vector>
  </ep:TitlesOfParts>
  <ep:HyperlinkBase/>
  <ep:Application>Show</ep:Application>
  <ep:AppVersion>12.0000</ep:AppVersion>
</ep:Properties>
</file>

<file path=docProps/core.xml><?xml version="1.0" encoding="utf-8"?>
<cp:coreProperties xmlns:r="http://schemas.openxmlformats.org/officeDocument/2006/relationships"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2006-08-16T00:00:00.000</dcterms:created>
  <cp:lastModifiedBy>Won</cp:lastModifiedBy>
  <dcterms:modified xsi:type="dcterms:W3CDTF">2025-11-06T16:25:27.072</dcterms:modified>
  <cp:revision>272</cp:revision>
  <dc:title>검정색 단순 심플한 그룹 과제 프레젠테이션</dc:title>
  <cp:version/>
</cp:coreProperties>
</file>

<file path=docProps/custom.xml><?xml version="1.0" encoding="utf-8"?>
<cfp:Properties xmlns:r="http://schemas.openxmlformats.org/officeDocument/2006/relationships" xmlns:cfp="http://schemas.openxmlformats.org/officeDocument/2006/custom-properties" xmlns:vt="http://schemas.openxmlformats.org/officeDocument/2006/docPropsVTypes"/>
</file>