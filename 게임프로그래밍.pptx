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9" r:id="rId1"/>
  </p:sldMasterIdLst>
  <p:notesMasterIdLst>
    <p:notesMasterId r:id="rId24"/>
  </p:notesMasterIdLst>
  <p:sldIdLst>
    <p:sldId id="261" r:id="rId2"/>
    <p:sldId id="272" r:id="rId3"/>
    <p:sldId id="273" r:id="rId4"/>
    <p:sldId id="263" r:id="rId5"/>
    <p:sldId id="281" r:id="rId6"/>
    <p:sldId id="257" r:id="rId7"/>
    <p:sldId id="274" r:id="rId8"/>
    <p:sldId id="275" r:id="rId9"/>
    <p:sldId id="276" r:id="rId10"/>
    <p:sldId id="277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78" r:id="rId19"/>
    <p:sldId id="279" r:id="rId20"/>
    <p:sldId id="280" r:id="rId21"/>
    <p:sldId id="290" r:id="rId22"/>
    <p:sldId id="289" r:id="rId23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39">
          <p15:clr>
            <a:srgbClr val="A4A3A4"/>
          </p15:clr>
        </p15:guide>
        <p15:guide id="2" pos="575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140" y="52"/>
      </p:cViewPr>
      <p:guideLst>
        <p:guide orient="horz" pos="3239"/>
        <p:guide pos="575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2025-11-07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40107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jpe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e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35693" y="632336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635693" y="9654664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grpSp>
        <p:nvGrpSpPr>
          <p:cNvPr id="14" name="그룹 13"/>
          <p:cNvGrpSpPr/>
          <p:nvPr/>
        </p:nvGrpSpPr>
        <p:grpSpPr>
          <a:xfrm>
            <a:off x="2438400" y="2400300"/>
            <a:ext cx="8839200" cy="1295400"/>
            <a:chOff x="2514600" y="2400300"/>
            <a:chExt cx="8839200" cy="1295400"/>
          </a:xfrm>
        </p:grpSpPr>
        <p:sp>
          <p:nvSpPr>
            <p:cNvPr id="5" name="TextBox 5"/>
            <p:cNvSpPr txBox="1"/>
            <p:nvPr/>
          </p:nvSpPr>
          <p:spPr>
            <a:xfrm>
              <a:off x="2514600" y="2676358"/>
              <a:ext cx="8839200" cy="1019342"/>
            </a:xfrm>
            <a:prstGeom prst="rect">
              <a:avLst/>
            </a:prstGeom>
            <a:ln>
              <a:solidFill>
                <a:schemeClr val="lt1"/>
              </a:solidFill>
            </a:ln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8064"/>
                </a:lnSpc>
                <a:defRPr/>
              </a:pPr>
              <a:r>
                <a:rPr lang="ko-KR" altLang="en-US" sz="7200" b="1" spc="-359">
                  <a:solidFill>
                    <a:srgbClr val="000000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  게임프로그래밍 발표 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590800" y="2400300"/>
              <a:ext cx="7183195" cy="304800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352"/>
                </a:lnSpc>
                <a:defRPr/>
              </a:pPr>
              <a:r>
                <a:rPr lang="ko-KR" altLang="en-US" sz="2100" b="1">
                  <a:solidFill>
                    <a:srgbClr val="737373"/>
                  </a:solidFill>
                  <a:latin typeface="Heebo Bold"/>
                  <a:ea typeface="Heebo Bold"/>
                  <a:cs typeface="Heebo Bold"/>
                  <a:sym typeface="Heebo Bold"/>
                </a:rPr>
                <a:t>     </a:t>
              </a:r>
              <a:r>
                <a:rPr lang="en-US" altLang="ko-KR" sz="2100" b="1">
                  <a:solidFill>
                    <a:srgbClr val="737373"/>
                  </a:solidFill>
                  <a:latin typeface="Heebo Bold"/>
                  <a:ea typeface="Heebo Bold"/>
                  <a:cs typeface="Heebo Bold"/>
                  <a:sym typeface="Heebo Bold"/>
                </a:rPr>
                <a:t>Game Programming Presentation</a:t>
              </a:r>
            </a:p>
          </p:txBody>
        </p:sp>
      </p:grpSp>
      <p:sp>
        <p:nvSpPr>
          <p:cNvPr id="9" name="타원 8"/>
          <p:cNvSpPr/>
          <p:nvPr/>
        </p:nvSpPr>
        <p:spPr>
          <a:xfrm>
            <a:off x="2362200" y="3771900"/>
            <a:ext cx="152400" cy="152400"/>
          </a:xfrm>
          <a:prstGeom prst="ellipse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cxnSp>
        <p:nvCxnSpPr>
          <p:cNvPr id="11" name="직선 연결선 10"/>
          <p:cNvCxnSpPr>
            <a:stCxn id="9" idx="6"/>
          </p:cNvCxnSpPr>
          <p:nvPr/>
        </p:nvCxnSpPr>
        <p:spPr>
          <a:xfrm>
            <a:off x="2514601" y="3848100"/>
            <a:ext cx="8596946" cy="0"/>
          </a:xfrm>
          <a:prstGeom prst="line">
            <a:avLst/>
          </a:prstGeom>
          <a:ln>
            <a:solidFill>
              <a:schemeClr val="dk1"/>
            </a:solidFill>
          </a:ln>
          <a:effectLst>
            <a:outerShdw blurRad="76200" dist="76200" dir="5400000" algn="ctr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타원 11"/>
          <p:cNvSpPr/>
          <p:nvPr/>
        </p:nvSpPr>
        <p:spPr>
          <a:xfrm>
            <a:off x="11049000" y="3771900"/>
            <a:ext cx="152400" cy="152400"/>
          </a:xfrm>
          <a:prstGeom prst="ellipse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13" name="TextBox 10"/>
          <p:cNvSpPr txBox="1"/>
          <p:nvPr/>
        </p:nvSpPr>
        <p:spPr>
          <a:xfrm>
            <a:off x="13411200" y="9105900"/>
            <a:ext cx="4387324" cy="3048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352"/>
              </a:lnSpc>
              <a:defRPr/>
            </a:pPr>
            <a:endParaRPr lang="en-US" altLang="ko-KR" sz="2100" b="1">
              <a:solidFill>
                <a:srgbClr val="737373"/>
              </a:solidFill>
              <a:latin typeface="Heebo Bold"/>
              <a:ea typeface="Heebo Bold"/>
              <a:cs typeface="Heebo Bold"/>
              <a:sym typeface="Heebo 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35693" y="632336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635693" y="9654664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grpSp>
        <p:nvGrpSpPr>
          <p:cNvPr id="15" name="그룹 14"/>
          <p:cNvGrpSpPr/>
          <p:nvPr/>
        </p:nvGrpSpPr>
        <p:grpSpPr>
          <a:xfrm>
            <a:off x="2514600" y="1562100"/>
            <a:ext cx="8014955" cy="1066800"/>
            <a:chOff x="2514600" y="2476500"/>
            <a:chExt cx="8014955" cy="1066800"/>
          </a:xfrm>
        </p:grpSpPr>
        <p:sp>
          <p:nvSpPr>
            <p:cNvPr id="5" name="TextBox 5"/>
            <p:cNvSpPr txBox="1"/>
            <p:nvPr/>
          </p:nvSpPr>
          <p:spPr>
            <a:xfrm>
              <a:off x="2514600" y="2476500"/>
              <a:ext cx="8014955" cy="1019342"/>
            </a:xfrm>
            <a:prstGeom prst="rect">
              <a:avLst/>
            </a:prstGeom>
            <a:ln>
              <a:solidFill>
                <a:schemeClr val="lt1"/>
              </a:solidFill>
            </a:ln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8064"/>
                </a:lnSpc>
                <a:defRPr/>
              </a:pPr>
              <a:r>
                <a:rPr lang="ko-KR" altLang="en-US" sz="7200" b="1" spc="-359">
                  <a:solidFill>
                    <a:srgbClr val="000000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목차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19600" y="3238500"/>
              <a:ext cx="4211394" cy="304800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352"/>
                </a:lnSpc>
                <a:defRPr/>
              </a:pPr>
              <a:r>
                <a:rPr lang="en-US" altLang="ko-KR" sz="2800" b="1">
                  <a:solidFill>
                    <a:srgbClr val="737373"/>
                  </a:solidFill>
                  <a:latin typeface="Heebo Bold"/>
                  <a:ea typeface="Heebo Bold"/>
                  <a:cs typeface="Heebo Bold"/>
                  <a:sym typeface="Heebo Bold"/>
                </a:rPr>
                <a:t>List</a:t>
              </a:r>
            </a:p>
          </p:txBody>
        </p:sp>
      </p:grpSp>
      <p:cxnSp>
        <p:nvCxnSpPr>
          <p:cNvPr id="11" name="직선 연결선 10"/>
          <p:cNvCxnSpPr/>
          <p:nvPr/>
        </p:nvCxnSpPr>
        <p:spPr>
          <a:xfrm>
            <a:off x="2438400" y="2933699"/>
            <a:ext cx="13402620" cy="1"/>
          </a:xfrm>
          <a:prstGeom prst="line">
            <a:avLst/>
          </a:prstGeom>
          <a:ln>
            <a:solidFill>
              <a:schemeClr val="dk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/>
          <p:cNvSpPr/>
          <p:nvPr/>
        </p:nvSpPr>
        <p:spPr>
          <a:xfrm>
            <a:off x="2556510" y="3467100"/>
            <a:ext cx="7349490" cy="475869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3400" b="0" i="0" strike="noStrike">
                <a:solidFill>
                  <a:srgbClr val="7F90D4">
                    <a:alpha val="100000"/>
                  </a:srgbClr>
                </a:solidFill>
                <a:latin typeface="Arial"/>
                <a:ea typeface="굴림"/>
              </a:rPr>
              <a:t>01</a:t>
            </a:r>
            <a:r>
              <a:rPr lang="ko-KR" altLang="en-US" sz="3400" b="0" i="0" strike="noStrike">
                <a:solidFill>
                  <a:srgbClr val="7F90D4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lang="ko-KR" altLang="en-US" sz="34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팀원 소개</a:t>
            </a:r>
          </a:p>
          <a:p>
            <a:pPr algn="l">
              <a:defRPr/>
            </a:pPr>
            <a:endParaRPr lang="ko-KR" altLang="en-US" sz="3400" b="0" i="0" strike="noStrike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algn="l">
              <a:defRPr/>
            </a:pPr>
            <a:r>
              <a:rPr sz="3400" b="0" i="0" strike="noStrike">
                <a:solidFill>
                  <a:srgbClr val="7F90D4">
                    <a:alpha val="100000"/>
                  </a:srgbClr>
                </a:solidFill>
                <a:latin typeface="Arial"/>
                <a:ea typeface="굴림"/>
              </a:rPr>
              <a:t>02</a:t>
            </a:r>
            <a:r>
              <a:rPr lang="ko-KR" altLang="en-US" sz="3400" b="0" i="0" strike="noStrike">
                <a:solidFill>
                  <a:srgbClr val="7F90D4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sz="34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개발 계획</a:t>
            </a:r>
          </a:p>
          <a:p>
            <a:pPr algn="l">
              <a:defRPr/>
            </a:pPr>
            <a:endParaRPr sz="3400" b="0" i="0" strike="noStrike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algn="l">
              <a:defRPr/>
            </a:pPr>
            <a:r>
              <a:rPr sz="3400" b="0" i="0" strike="noStrike">
                <a:solidFill>
                  <a:srgbClr val="7F90D4">
                    <a:alpha val="100000"/>
                  </a:srgbClr>
                </a:solidFill>
                <a:latin typeface="Arial"/>
                <a:ea typeface="굴림"/>
              </a:rPr>
              <a:t>03</a:t>
            </a:r>
            <a:r>
              <a:rPr lang="ko-KR" altLang="en-US" sz="3400" b="0" i="0" strike="noStrike">
                <a:solidFill>
                  <a:srgbClr val="7F90D4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lang="ko-KR" altLang="en-US" sz="3400" b="0" i="0" strike="noStrike">
                <a:solidFill>
                  <a:schemeClr val="dk1"/>
                </a:solidFill>
                <a:latin typeface="Arial"/>
                <a:ea typeface="굴림"/>
              </a:rPr>
              <a:t>기초 코드</a:t>
            </a:r>
          </a:p>
          <a:p>
            <a:pPr algn="l">
              <a:defRPr/>
            </a:pPr>
            <a:endParaRPr lang="ko-KR" altLang="en-US" sz="3400" b="0" i="0" strike="noStrike">
              <a:solidFill>
                <a:schemeClr val="dk1"/>
              </a:solidFill>
              <a:latin typeface="Arial"/>
              <a:ea typeface="굴림"/>
            </a:endParaRPr>
          </a:p>
          <a:p>
            <a:pPr algn="l">
              <a:defRPr/>
            </a:pPr>
            <a:r>
              <a:rPr sz="3400" b="0" i="0" strike="noStrike">
                <a:solidFill>
                  <a:srgbClr val="7F90D4">
                    <a:alpha val="100000"/>
                  </a:srgbClr>
                </a:solidFill>
                <a:latin typeface="Arial"/>
                <a:ea typeface="굴림"/>
              </a:rPr>
              <a:t>04</a:t>
            </a:r>
            <a:r>
              <a:rPr lang="ko-KR" altLang="en-US" sz="3400" b="0" i="0" strike="noStrike">
                <a:solidFill>
                  <a:srgbClr val="7F90D4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lang="ko-KR" altLang="en-US" sz="3400" b="0" i="0" strike="noStrike">
                <a:solidFill>
                  <a:schemeClr val="dk1"/>
                </a:solidFill>
                <a:latin typeface="Arial"/>
                <a:ea typeface="굴림"/>
              </a:rPr>
              <a:t>코드 업그레이드</a:t>
            </a:r>
          </a:p>
          <a:p>
            <a:pPr algn="l">
              <a:defRPr/>
            </a:pPr>
            <a:endParaRPr lang="ko-KR" altLang="en-US" sz="3400" b="0" i="0" strike="noStrike">
              <a:solidFill>
                <a:schemeClr val="dk1"/>
              </a:solidFill>
              <a:latin typeface="Arial"/>
              <a:ea typeface="굴림"/>
            </a:endParaRPr>
          </a:p>
          <a:p>
            <a:pPr algn="l">
              <a:defRPr/>
            </a:pPr>
            <a:r>
              <a:rPr sz="3400" b="0" i="0" strike="noStrike">
                <a:solidFill>
                  <a:srgbClr val="7F90D4">
                    <a:alpha val="100000"/>
                  </a:srgbClr>
                </a:solidFill>
                <a:latin typeface="Arial"/>
                <a:ea typeface="굴림"/>
              </a:rPr>
              <a:t>05</a:t>
            </a:r>
            <a:r>
              <a:rPr lang="ko-KR" altLang="en-US" sz="3400" b="0" i="0" strike="noStrike">
                <a:solidFill>
                  <a:srgbClr val="7F90D4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lang="ko-KR" altLang="en-US" sz="3400" b="0" i="0" strike="noStrike">
                <a:solidFill>
                  <a:schemeClr val="dk1"/>
                </a:solidFill>
                <a:latin typeface="Arial"/>
                <a:ea typeface="굴림"/>
              </a:rPr>
              <a:t>게임 시연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35693" y="632336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635693" y="9654664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AutoShape 4"/>
          <p:cNvSpPr/>
          <p:nvPr/>
        </p:nvSpPr>
        <p:spPr>
          <a:xfrm flipV="1">
            <a:off x="9144000" y="4616905"/>
            <a:ext cx="0" cy="3732686"/>
          </a:xfrm>
          <a:prstGeom prst="line">
            <a:avLst/>
          </a:prstGeom>
          <a:ln w="19050" cap="flat">
            <a:solidFill>
              <a:srgbClr val="000000"/>
            </a:solidFill>
            <a:prstDash val="lgDash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Box 7"/>
          <p:cNvSpPr txBox="1"/>
          <p:nvPr/>
        </p:nvSpPr>
        <p:spPr>
          <a:xfrm>
            <a:off x="10515600" y="4533900"/>
            <a:ext cx="4774256" cy="49529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3872"/>
              </a:lnSpc>
              <a:defRPr/>
            </a:pPr>
            <a:r>
              <a:rPr lang="ko-KR" altLang="en-US" sz="32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팀원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839200" y="6134100"/>
            <a:ext cx="8153400" cy="4667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712"/>
              </a:lnSpc>
              <a:defRPr/>
            </a:pPr>
            <a:r>
              <a:rPr lang="ko-KR" altLang="en-US" sz="3600" spc="-160">
                <a:solidFill>
                  <a:srgbClr val="737373"/>
                </a:solidFill>
                <a:latin typeface="배달의민족 한나체 Pro"/>
                <a:ea typeface="배달의민족 한나체 Pro"/>
                <a:cs typeface="Nanum Square"/>
                <a:sym typeface="Nanum Square"/>
              </a:rPr>
              <a:t>최원욱	</a:t>
            </a:r>
            <a:r>
              <a:rPr lang="ko-KR" altLang="en-US" sz="3600" spc="-160">
                <a:solidFill>
                  <a:srgbClr val="737373"/>
                </a:solidFill>
                <a:effectLst/>
                <a:latin typeface="배달의민족 한나체 Pro"/>
                <a:ea typeface="배달의민족 한나체 Pro"/>
                <a:cs typeface="Nanum Square"/>
                <a:sym typeface="Nanum Square"/>
              </a:rPr>
              <a:t>박상민</a:t>
            </a:r>
            <a:r>
              <a:rPr lang="ko-KR" altLang="en-US" sz="3200" spc="-160">
                <a:solidFill>
                  <a:srgbClr val="737373"/>
                </a:solidFill>
                <a:effectLst/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ko-KR" altLang="en-US" sz="3200" b="1" spc="-160">
                <a:solidFill>
                  <a:srgbClr val="737373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ko-KR" altLang="en-US" sz="3200" spc="-160">
                <a:solidFill>
                  <a:srgbClr val="737373"/>
                </a:solidFill>
                <a:latin typeface="Nanum Square"/>
                <a:ea typeface="Nanum Square"/>
                <a:cs typeface="Nanum Square"/>
                <a:sym typeface="Nanum Square"/>
              </a:rPr>
              <a:t>      </a:t>
            </a:r>
            <a:r>
              <a:rPr lang="ko-KR" altLang="en-US" sz="3600" spc="-160">
                <a:solidFill>
                  <a:srgbClr val="737373"/>
                </a:solidFill>
                <a:latin typeface="배달의민족 한나체 Pro"/>
                <a:ea typeface="배달의민족 한나체 Pro"/>
                <a:cs typeface="Nanum Square"/>
                <a:sym typeface="Nanum Square"/>
              </a:rPr>
              <a:t>한세윤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078981" y="1757250"/>
            <a:ext cx="10130038" cy="10240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8064"/>
              </a:lnSpc>
              <a:defRPr/>
            </a:pPr>
            <a:r>
              <a:rPr lang="ko-KR" altLang="en-US" sz="7200" b="1" spc="-359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팀원 소개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950337" y="1450150"/>
            <a:ext cx="4387325" cy="3024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2352"/>
              </a:lnSpc>
              <a:defRPr/>
            </a:pPr>
            <a:endParaRPr lang="en-US" altLang="ko-KR" sz="2100" b="1">
              <a:solidFill>
                <a:srgbClr val="737373"/>
              </a:solidFill>
              <a:latin typeface="Heebo Bold"/>
              <a:ea typeface="Heebo Bold"/>
              <a:cs typeface="Heebo Bold"/>
              <a:sym typeface="Heebo Bold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971800" y="3695700"/>
            <a:ext cx="4876800" cy="5044965"/>
          </a:xfrm>
          <a:prstGeom prst="rect">
            <a:avLst/>
          </a:prstGeom>
          <a:effectLst>
            <a:outerShdw blurRad="76200" dist="76200" dir="2700000" algn="ct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35693" y="632336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635693" y="9654664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Box 9"/>
          <p:cNvSpPr txBox="1"/>
          <p:nvPr/>
        </p:nvSpPr>
        <p:spPr>
          <a:xfrm>
            <a:off x="4078981" y="1757250"/>
            <a:ext cx="10130038" cy="10240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8064"/>
              </a:lnSpc>
              <a:defRPr/>
            </a:pPr>
            <a:r>
              <a:rPr lang="ko-KR" altLang="en-US" sz="7200" b="1" spc="-359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개발 계획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950337" y="1450150"/>
            <a:ext cx="4387325" cy="3024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2352"/>
              </a:lnSpc>
              <a:defRPr/>
            </a:pPr>
            <a:r>
              <a:rPr lang="en-US" altLang="ko-KR" sz="2100" b="1">
                <a:solidFill>
                  <a:srgbClr val="737373"/>
                </a:solidFill>
                <a:latin typeface="Heebo Bold"/>
                <a:ea typeface="Heebo Bold"/>
                <a:cs typeface="Heebo Bold"/>
                <a:sym typeface="Heebo Bold"/>
              </a:rPr>
              <a:t>Development Plan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133600" y="3238500"/>
            <a:ext cx="3276600" cy="1080580"/>
          </a:xfrm>
          <a:prstGeom prst="rect">
            <a:avLst/>
          </a:prstGeom>
          <a:effectLst>
            <a:outerShdw blurRad="76200" dist="76200" dir="2700000" algn="ctr" rotWithShape="0">
              <a:srgbClr val="000000">
                <a:alpha val="50000"/>
              </a:srgbClr>
            </a:outerShdw>
          </a:effectLst>
        </p:spPr>
      </p:pic>
      <p:sp>
        <p:nvSpPr>
          <p:cNvPr id="12" name="TextBox 6"/>
          <p:cNvSpPr txBox="1"/>
          <p:nvPr/>
        </p:nvSpPr>
        <p:spPr>
          <a:xfrm>
            <a:off x="2133600" y="4547489"/>
            <a:ext cx="10030815" cy="98653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872"/>
              </a:lnSpc>
              <a:defRPr/>
            </a:pPr>
            <a:r>
              <a:rPr lang="en-US" sz="32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플래시365</a:t>
            </a:r>
            <a:r>
              <a:rPr lang="ko-KR" altLang="en-US" sz="32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</a:t>
            </a:r>
            <a:r>
              <a:rPr lang="en-US" sz="32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처럼 여러 미니 게임을 한 곳에 모아 </a:t>
            </a:r>
          </a:p>
          <a:p>
            <a:pPr algn="l">
              <a:lnSpc>
                <a:spcPts val="3872"/>
              </a:lnSpc>
              <a:defRPr/>
            </a:pPr>
            <a:r>
              <a:rPr lang="en-US" sz="32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제공하는 웹 플랫폼을 </a:t>
            </a:r>
            <a:r>
              <a:rPr lang="ko-KR" altLang="en-US" sz="32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모티브 </a:t>
            </a:r>
          </a:p>
        </p:txBody>
      </p:sp>
      <p:sp>
        <p:nvSpPr>
          <p:cNvPr id="15" name="TextBox 6"/>
          <p:cNvSpPr txBox="1"/>
          <p:nvPr/>
        </p:nvSpPr>
        <p:spPr>
          <a:xfrm>
            <a:off x="2133600" y="5715000"/>
            <a:ext cx="10030815" cy="34671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872"/>
              </a:lnSpc>
              <a:defRPr/>
            </a:pPr>
            <a:r>
              <a:rPr lang="ko-KR" altLang="en-US" sz="32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기초 소스 탐색 및 개발 진행</a:t>
            </a:r>
          </a:p>
          <a:p>
            <a:pPr algn="l">
              <a:lnSpc>
                <a:spcPts val="3872"/>
              </a:lnSpc>
              <a:defRPr/>
            </a:pPr>
            <a:endParaRPr lang="ko-KR" altLang="en-US" sz="3200" b="1" spc="-160">
              <a:solidFill>
                <a:srgbClr val="000000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  <a:p>
            <a:pPr algn="l">
              <a:lnSpc>
                <a:spcPts val="3872"/>
              </a:lnSpc>
              <a:defRPr/>
            </a:pPr>
            <a:r>
              <a:rPr lang="en-US" altLang="ko-KR" sz="32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-</a:t>
            </a:r>
            <a:r>
              <a:rPr lang="ko-KR" altLang="en-US" sz="32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</a:t>
            </a:r>
            <a:r>
              <a:rPr lang="en-US" altLang="ko-KR" sz="32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Clicker </a:t>
            </a:r>
            <a:r>
              <a:rPr lang="ko-KR" altLang="en-US" sz="32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게임</a:t>
            </a:r>
          </a:p>
          <a:p>
            <a:pPr algn="l">
              <a:lnSpc>
                <a:spcPts val="3872"/>
              </a:lnSpc>
              <a:defRPr/>
            </a:pPr>
            <a:endParaRPr lang="ko-KR" altLang="en-US" sz="3200" b="1" spc="-160">
              <a:solidFill>
                <a:srgbClr val="000000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  <a:p>
            <a:pPr algn="l">
              <a:lnSpc>
                <a:spcPts val="3872"/>
              </a:lnSpc>
              <a:defRPr/>
            </a:pPr>
            <a:r>
              <a:rPr lang="en-US" altLang="ko-KR" sz="32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-</a:t>
            </a:r>
            <a:r>
              <a:rPr lang="ko-KR" altLang="en-US" sz="32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</a:t>
            </a:r>
            <a:r>
              <a:rPr lang="en-US" altLang="ko-KR" sz="32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Fishing</a:t>
            </a:r>
            <a:r>
              <a:rPr lang="ko-KR" altLang="en-US" sz="32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게임</a:t>
            </a:r>
          </a:p>
          <a:p>
            <a:pPr algn="l">
              <a:lnSpc>
                <a:spcPts val="3872"/>
              </a:lnSpc>
              <a:defRPr/>
            </a:pPr>
            <a:endParaRPr lang="ko-KR" altLang="en-US" sz="3200" b="1" spc="-160">
              <a:solidFill>
                <a:srgbClr val="000000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  <a:p>
            <a:pPr algn="l">
              <a:lnSpc>
                <a:spcPts val="3872"/>
              </a:lnSpc>
              <a:defRPr/>
            </a:pPr>
            <a:r>
              <a:rPr lang="en-US" altLang="ko-KR" sz="32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-</a:t>
            </a:r>
            <a:r>
              <a:rPr lang="ko-KR" altLang="en-US" sz="32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</a:t>
            </a:r>
            <a:r>
              <a:rPr lang="en-US" altLang="ko-KR" sz="32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Runner</a:t>
            </a:r>
            <a:r>
              <a:rPr lang="ko-KR" altLang="en-US" sz="32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게임</a:t>
            </a:r>
          </a:p>
        </p:txBody>
      </p:sp>
      <p:pic>
        <p:nvPicPr>
          <p:cNvPr id="1026" name="Picture 2" descr="GitHub - about, prices, reviews 2025 - Netolink">
            <a:extLst>
              <a:ext uri="{FF2B5EF4-FFF2-40B4-BE49-F238E27FC236}">
                <a16:creationId xmlns:a16="http://schemas.microsoft.com/office/drawing/2014/main" id="{725A79E1-198D-6F26-6D7A-B5193535F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7662" y="2659507"/>
            <a:ext cx="47625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AC91082-1199-2A1A-BE7E-6D512923FA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6398462"/>
            <a:ext cx="9263105" cy="27364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35693" y="632336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635693" y="9654664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Box 9"/>
          <p:cNvSpPr txBox="1"/>
          <p:nvPr/>
        </p:nvSpPr>
        <p:spPr>
          <a:xfrm>
            <a:off x="4078981" y="2366850"/>
            <a:ext cx="10130038" cy="10240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8064"/>
              </a:lnSpc>
              <a:defRPr/>
            </a:pPr>
            <a:r>
              <a:rPr lang="en-US" altLang="ko-KR" sz="7200" b="1" spc="-359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Clicker Game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35693" y="632336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635693" y="9654664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Box 5"/>
          <p:cNvSpPr txBox="1"/>
          <p:nvPr/>
        </p:nvSpPr>
        <p:spPr>
          <a:xfrm>
            <a:off x="1635693" y="1428583"/>
            <a:ext cx="8014955" cy="101934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8064"/>
              </a:lnSpc>
              <a:defRPr/>
            </a:pPr>
            <a:r>
              <a:rPr lang="ko-KR" altLang="en-US" sz="7200" b="1" spc="-359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기초 코드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14824" y="1121483"/>
            <a:ext cx="4211394" cy="29774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2352"/>
              </a:lnSpc>
              <a:defRPr/>
            </a:pPr>
            <a:r>
              <a:rPr lang="en-US" altLang="ko-KR" sz="2100" b="1">
                <a:solidFill>
                  <a:srgbClr val="737373"/>
                </a:solidFill>
                <a:latin typeface="Heebo Bold"/>
                <a:ea typeface="Heebo Bold"/>
                <a:cs typeface="Heebo Bold"/>
                <a:sym typeface="Heebo Bold"/>
              </a:rPr>
              <a:t>Clicker Game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626843" y="2628900"/>
            <a:ext cx="13841757" cy="3705742"/>
          </a:xfrm>
          <a:prstGeom prst="rect">
            <a:avLst/>
          </a:prstGeom>
        </p:spPr>
      </p:pic>
      <p:sp>
        <p:nvSpPr>
          <p:cNvPr id="9" name="TextBox 6"/>
          <p:cNvSpPr txBox="1"/>
          <p:nvPr/>
        </p:nvSpPr>
        <p:spPr>
          <a:xfrm>
            <a:off x="1752600" y="6362700"/>
            <a:ext cx="9296400" cy="29718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872"/>
              </a:lnSpc>
              <a:defRPr/>
            </a:pPr>
            <a:r>
              <a:rPr lang="en-US" altLang="ko-KR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-</a:t>
            </a:r>
            <a:r>
              <a:rPr lang="ko-KR" altLang="en-US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</a:t>
            </a:r>
            <a:r>
              <a:rPr lang="en-US" altLang="ko-KR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생성자 기반 상태 관리</a:t>
            </a:r>
          </a:p>
          <a:p>
            <a:pPr algn="l">
              <a:lnSpc>
                <a:spcPts val="3872"/>
              </a:lnSpc>
              <a:defRPr/>
            </a:pPr>
            <a:r>
              <a:rPr lang="en-US" altLang="ko-KR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time, score, target 등 저장</a:t>
            </a:r>
          </a:p>
          <a:p>
            <a:pPr algn="l">
              <a:lnSpc>
                <a:spcPts val="3872"/>
              </a:lnSpc>
              <a:defRPr/>
            </a:pPr>
            <a:endParaRPr lang="en-US" altLang="ko-KR" sz="2100" b="1" spc="-160">
              <a:solidFill>
                <a:srgbClr val="000000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  <a:p>
            <a:pPr algn="l">
              <a:lnSpc>
                <a:spcPts val="3872"/>
              </a:lnSpc>
              <a:defRPr/>
            </a:pPr>
            <a:r>
              <a:rPr lang="en-US" altLang="ko-KR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-</a:t>
            </a:r>
            <a:r>
              <a:rPr lang="ko-KR" altLang="en-US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update() 함수 </a:t>
            </a:r>
          </a:p>
          <a:p>
            <a:pPr algn="l">
              <a:lnSpc>
                <a:spcPts val="3872"/>
              </a:lnSpc>
              <a:defRPr/>
            </a:pPr>
            <a:r>
              <a:rPr lang="ko-KR" altLang="en-US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객체 생성/삭제</a:t>
            </a:r>
          </a:p>
          <a:p>
            <a:pPr algn="l">
              <a:lnSpc>
                <a:spcPts val="3872"/>
              </a:lnSpc>
              <a:defRPr/>
            </a:pPr>
            <a:r>
              <a:rPr lang="ko-KR" altLang="en-US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충돌(클릭 판정)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1811000" y="5981700"/>
            <a:ext cx="3717590" cy="3220069"/>
          </a:xfrm>
          <a:prstGeom prst="rect">
            <a:avLst/>
          </a:prstGeom>
          <a:effectLst>
            <a:outerShdw blurRad="76200" dist="76200" dir="2700000" algn="ct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35693" y="632336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635693" y="9654664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Box 5"/>
          <p:cNvSpPr txBox="1"/>
          <p:nvPr/>
        </p:nvSpPr>
        <p:spPr>
          <a:xfrm>
            <a:off x="1635693" y="1428583"/>
            <a:ext cx="8014955" cy="101934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8064"/>
              </a:lnSpc>
              <a:defRPr/>
            </a:pPr>
            <a:r>
              <a:rPr lang="ko-KR" altLang="en-US" sz="7200" b="1" spc="-359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코드 업그레이드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14824" y="1121483"/>
            <a:ext cx="4211394" cy="29774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2352"/>
              </a:lnSpc>
              <a:defRPr/>
            </a:pPr>
            <a:r>
              <a:rPr lang="en-US" altLang="ko-KR" sz="2100" b="1">
                <a:solidFill>
                  <a:srgbClr val="737373"/>
                </a:solidFill>
                <a:latin typeface="Heebo Bold"/>
                <a:ea typeface="Heebo Bold"/>
                <a:cs typeface="Heebo Bold"/>
                <a:sym typeface="Heebo Bold"/>
              </a:rPr>
              <a:t>Code Upgrade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637358" y="2628900"/>
            <a:ext cx="6744641" cy="2191055"/>
          </a:xfrm>
          <a:prstGeom prst="rect">
            <a:avLst/>
          </a:prstGeom>
          <a:effectLst>
            <a:outerShdw blurRad="76200" dist="76200" dir="2700000" algn="ctr" rotWithShape="0">
              <a:srgbClr val="000000">
                <a:alpha val="50000"/>
              </a:srgbClr>
            </a:outerShdw>
          </a:effectLst>
        </p:spPr>
      </p:pic>
      <p:sp>
        <p:nvSpPr>
          <p:cNvPr id="12" name="TextBox 6"/>
          <p:cNvSpPr txBox="1"/>
          <p:nvPr/>
        </p:nvSpPr>
        <p:spPr>
          <a:xfrm>
            <a:off x="1676400" y="5448300"/>
            <a:ext cx="9296400" cy="39624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872"/>
              </a:lnSpc>
              <a:defRPr/>
            </a:pPr>
            <a:r>
              <a:rPr lang="en-US" altLang="ko-KR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-</a:t>
            </a:r>
            <a:r>
              <a:rPr lang="ko-KR" altLang="en-US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클릭 기반 게임  </a:t>
            </a:r>
            <a:r>
              <a:rPr lang="en-US" altLang="ko-KR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&gt;</a:t>
            </a:r>
            <a:r>
              <a:rPr lang="ko-KR" altLang="en-US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 웹에서의 </a:t>
            </a:r>
            <a:r>
              <a:rPr lang="en-US" altLang="ko-KR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Aim traing </a:t>
            </a:r>
            <a:r>
              <a:rPr lang="ko-KR" altLang="en-US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게임 개발</a:t>
            </a:r>
          </a:p>
          <a:p>
            <a:pPr algn="l">
              <a:lnSpc>
                <a:spcPts val="3872"/>
              </a:lnSpc>
              <a:defRPr/>
            </a:pPr>
            <a:endParaRPr lang="ko-KR" altLang="en-US" sz="2100" b="1" spc="-160">
              <a:solidFill>
                <a:srgbClr val="000000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  <a:p>
            <a:pPr algn="l">
              <a:lnSpc>
                <a:spcPts val="3872"/>
              </a:lnSpc>
              <a:defRPr/>
            </a:pPr>
            <a:r>
              <a:rPr lang="en-US" altLang="ko-KR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-</a:t>
            </a:r>
            <a:r>
              <a:rPr lang="ko-KR" altLang="en-US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웹 에서의 </a:t>
            </a:r>
            <a:r>
              <a:rPr lang="en-US" altLang="ko-KR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3D</a:t>
            </a:r>
            <a:r>
              <a:rPr lang="ko-KR" altLang="en-US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구현</a:t>
            </a:r>
          </a:p>
          <a:p>
            <a:pPr algn="l">
              <a:lnSpc>
                <a:spcPts val="3872"/>
              </a:lnSpc>
              <a:defRPr/>
            </a:pPr>
            <a:endParaRPr lang="ko-KR" altLang="en-US" sz="2100" b="1" spc="-160">
              <a:solidFill>
                <a:srgbClr val="000000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  <a:p>
            <a:pPr algn="l">
              <a:lnSpc>
                <a:spcPts val="3872"/>
              </a:lnSpc>
              <a:defRPr/>
            </a:pPr>
            <a:r>
              <a:rPr lang="en-US" altLang="ko-KR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-</a:t>
            </a:r>
            <a:r>
              <a:rPr lang="ko-KR" altLang="en-US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시각 효과 업그레이드</a:t>
            </a:r>
          </a:p>
          <a:p>
            <a:pPr algn="l">
              <a:lnSpc>
                <a:spcPts val="3872"/>
              </a:lnSpc>
              <a:defRPr/>
            </a:pPr>
            <a:endParaRPr lang="en-US" altLang="ko-KR" sz="2100" b="1" spc="-160">
              <a:solidFill>
                <a:srgbClr val="000000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  <a:p>
            <a:pPr algn="l">
              <a:lnSpc>
                <a:spcPts val="3872"/>
              </a:lnSpc>
              <a:defRPr/>
            </a:pPr>
            <a:r>
              <a:rPr lang="en-US" altLang="ko-KR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-</a:t>
            </a:r>
            <a:r>
              <a:rPr lang="ko-KR" altLang="en-US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게임성 확장</a:t>
            </a:r>
          </a:p>
          <a:p>
            <a:pPr algn="l">
              <a:lnSpc>
                <a:spcPts val="3872"/>
              </a:lnSpc>
              <a:defRPr/>
            </a:pPr>
            <a:endParaRPr lang="ko-KR" altLang="en-US" sz="2100" b="1" spc="-160">
              <a:solidFill>
                <a:srgbClr val="000000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</p:txBody>
      </p:sp>
      <p:sp>
        <p:nvSpPr>
          <p:cNvPr id="13" name="TextBox 6"/>
          <p:cNvSpPr txBox="1"/>
          <p:nvPr/>
        </p:nvSpPr>
        <p:spPr>
          <a:xfrm>
            <a:off x="5791200" y="4686300"/>
            <a:ext cx="9296400" cy="9906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872"/>
              </a:lnSpc>
              <a:defRPr/>
            </a:pPr>
            <a:r>
              <a:rPr lang="en-US" altLang="ko-KR" sz="16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(Unity</a:t>
            </a:r>
            <a:r>
              <a:rPr lang="ko-KR" altLang="en-US" sz="16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기반의 대표적인 클릭 게임</a:t>
            </a:r>
            <a:r>
              <a:rPr lang="en-US" altLang="ko-KR" sz="16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)</a:t>
            </a:r>
          </a:p>
          <a:p>
            <a:pPr algn="l">
              <a:lnSpc>
                <a:spcPts val="3872"/>
              </a:lnSpc>
              <a:defRPr/>
            </a:pPr>
            <a:endParaRPr lang="ko-KR" altLang="en-US" sz="2100" b="1" spc="-160">
              <a:solidFill>
                <a:srgbClr val="000000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35693" y="632336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635693" y="9654664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Box 5"/>
          <p:cNvSpPr txBox="1"/>
          <p:nvPr/>
        </p:nvSpPr>
        <p:spPr>
          <a:xfrm>
            <a:off x="1635693" y="1428583"/>
            <a:ext cx="8014955" cy="101934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8064"/>
              </a:lnSpc>
              <a:defRPr/>
            </a:pPr>
            <a:r>
              <a:rPr lang="ko-KR" altLang="en-US" sz="7200" b="1" spc="-359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코드 업그레이드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14824" y="1121483"/>
            <a:ext cx="4211394" cy="29774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2352"/>
              </a:lnSpc>
              <a:defRPr/>
            </a:pPr>
            <a:r>
              <a:rPr lang="en-US" altLang="ko-KR" sz="2100" b="1">
                <a:solidFill>
                  <a:srgbClr val="737373"/>
                </a:solidFill>
                <a:latin typeface="Heebo Bold"/>
                <a:ea typeface="Heebo Bold"/>
                <a:cs typeface="Heebo Bold"/>
                <a:sym typeface="Heebo Bold"/>
              </a:rPr>
              <a:t>Code Upgrade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676400" y="2809730"/>
            <a:ext cx="3057951" cy="1038369"/>
          </a:xfrm>
          <a:prstGeom prst="rect">
            <a:avLst/>
          </a:prstGeom>
          <a:effectLst>
            <a:outerShdw blurRad="76200" dist="76200" dir="2700000" algn="ctr" rotWithShape="0">
              <a:srgbClr val="000000">
                <a:alpha val="50000"/>
              </a:srgbClr>
            </a:outerShdw>
          </a:effectLst>
        </p:spPr>
      </p:pic>
      <p:sp>
        <p:nvSpPr>
          <p:cNvPr id="12" name="TextBox 6"/>
          <p:cNvSpPr txBox="1"/>
          <p:nvPr/>
        </p:nvSpPr>
        <p:spPr>
          <a:xfrm>
            <a:off x="1676400" y="4000500"/>
            <a:ext cx="9296400" cy="39624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872"/>
              </a:lnSpc>
              <a:defRPr/>
            </a:pPr>
            <a:r>
              <a:rPr lang="en-US" altLang="ko-KR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-</a:t>
            </a:r>
            <a:r>
              <a:rPr lang="ko-KR" altLang="en-US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바빌론 엔진 사용</a:t>
            </a:r>
          </a:p>
          <a:p>
            <a:pPr algn="l">
              <a:lnSpc>
                <a:spcPts val="3872"/>
              </a:lnSpc>
              <a:defRPr/>
            </a:pPr>
            <a:endParaRPr lang="ko-KR" altLang="en-US" sz="2100" b="1" spc="-160">
              <a:solidFill>
                <a:srgbClr val="000000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  <a:p>
            <a:pPr algn="l">
              <a:lnSpc>
                <a:spcPts val="3872"/>
              </a:lnSpc>
              <a:defRPr/>
            </a:pPr>
            <a:r>
              <a:rPr lang="en-US" altLang="ko-KR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-</a:t>
            </a:r>
            <a:r>
              <a:rPr lang="ko-KR" altLang="en-US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카메라 설정</a:t>
            </a:r>
          </a:p>
          <a:p>
            <a:pPr algn="l">
              <a:lnSpc>
                <a:spcPts val="3872"/>
              </a:lnSpc>
              <a:defRPr/>
            </a:pPr>
            <a:endParaRPr lang="ko-KR" altLang="en-US" sz="2100" b="1" spc="-160">
              <a:solidFill>
                <a:srgbClr val="000000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  <a:p>
            <a:pPr algn="l">
              <a:lnSpc>
                <a:spcPts val="3872"/>
              </a:lnSpc>
              <a:defRPr/>
            </a:pPr>
            <a:r>
              <a:rPr lang="en-US" altLang="ko-KR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-3D </a:t>
            </a:r>
            <a:r>
              <a:rPr lang="ko-KR" altLang="en-US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맵 모델링</a:t>
            </a:r>
          </a:p>
          <a:p>
            <a:pPr algn="l">
              <a:lnSpc>
                <a:spcPts val="3872"/>
              </a:lnSpc>
              <a:defRPr/>
            </a:pPr>
            <a:endParaRPr lang="ko-KR" altLang="en-US" sz="2100" b="1" spc="-160">
              <a:solidFill>
                <a:srgbClr val="000000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  <a:p>
            <a:pPr algn="l">
              <a:lnSpc>
                <a:spcPts val="3872"/>
              </a:lnSpc>
              <a:defRPr/>
            </a:pPr>
            <a:r>
              <a:rPr lang="en-US" altLang="ko-KR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-</a:t>
            </a:r>
            <a:r>
              <a:rPr lang="ko-KR" altLang="en-US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사운드</a:t>
            </a:r>
          </a:p>
          <a:p>
            <a:pPr algn="l">
              <a:lnSpc>
                <a:spcPts val="3872"/>
              </a:lnSpc>
              <a:defRPr/>
            </a:pPr>
            <a:endParaRPr lang="ko-KR" altLang="en-US" sz="2100" b="1" spc="-160">
              <a:solidFill>
                <a:srgbClr val="000000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834417" y="2661626"/>
            <a:ext cx="10853383" cy="6672874"/>
          </a:xfrm>
          <a:prstGeom prst="rect">
            <a:avLst/>
          </a:prstGeom>
          <a:effectLst>
            <a:outerShdw blurRad="76200" dist="76200" dir="2700000" algn="ctr" rotWithShape="0">
              <a:srgbClr val="000000">
                <a:alpha val="50000"/>
              </a:srgbClr>
            </a:outerShdw>
          </a:effectLst>
        </p:spPr>
      </p:pic>
      <p:grpSp>
        <p:nvGrpSpPr>
          <p:cNvPr id="18" name="그룹 17"/>
          <p:cNvGrpSpPr/>
          <p:nvPr/>
        </p:nvGrpSpPr>
        <p:grpSpPr>
          <a:xfrm>
            <a:off x="1676400" y="7962900"/>
            <a:ext cx="1703294" cy="609600"/>
            <a:chOff x="1676400" y="4705289"/>
            <a:chExt cx="1703294" cy="609600"/>
          </a:xfrm>
        </p:grpSpPr>
        <p:pic>
          <p:nvPicPr>
            <p:cNvPr id="16" name="그림 15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1676400" y="4705289"/>
              <a:ext cx="1257475" cy="438211"/>
            </a:xfrm>
            <a:prstGeom prst="rect">
              <a:avLst/>
            </a:prstGeom>
          </p:spPr>
        </p:pic>
        <p:pic>
          <p:nvPicPr>
            <p:cNvPr id="17" name="그림 16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1752600" y="5086289"/>
              <a:ext cx="1627094" cy="228600"/>
            </a:xfrm>
            <a:prstGeom prst="rect">
              <a:avLst/>
            </a:prstGeom>
          </p:spPr>
        </p:pic>
      </p:grpSp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676400" y="7496110"/>
            <a:ext cx="1495633" cy="4667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35693" y="632336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635693" y="9654664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Box 5"/>
          <p:cNvSpPr txBox="1"/>
          <p:nvPr/>
        </p:nvSpPr>
        <p:spPr>
          <a:xfrm>
            <a:off x="1635693" y="1428583"/>
            <a:ext cx="8014955" cy="101934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8064"/>
              </a:lnSpc>
              <a:defRPr/>
            </a:pPr>
            <a:r>
              <a:rPr lang="ko-KR" altLang="en-US" sz="7200" b="1" spc="-359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코드 업그레이드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14824" y="1121483"/>
            <a:ext cx="4211394" cy="29774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2352"/>
              </a:lnSpc>
              <a:defRPr/>
            </a:pPr>
            <a:r>
              <a:rPr lang="en-US" altLang="ko-KR" sz="2100" b="1">
                <a:solidFill>
                  <a:srgbClr val="737373"/>
                </a:solidFill>
                <a:latin typeface="Heebo Bold"/>
                <a:ea typeface="Heebo Bold"/>
                <a:cs typeface="Heebo Bold"/>
                <a:sym typeface="Heebo Bold"/>
              </a:rPr>
              <a:t>Code Upgrade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676399" y="2628900"/>
            <a:ext cx="14754085" cy="6781800"/>
          </a:xfrm>
          <a:prstGeom prst="rect">
            <a:avLst/>
          </a:prstGeom>
          <a:effectLst>
            <a:outerShdw blurRad="76200" dist="76200" dir="2700000" algn="ct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35693" y="632336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635693" y="9654664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Box 5"/>
          <p:cNvSpPr txBox="1"/>
          <p:nvPr/>
        </p:nvSpPr>
        <p:spPr>
          <a:xfrm>
            <a:off x="1635693" y="1428583"/>
            <a:ext cx="8014955" cy="101934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8064"/>
              </a:lnSpc>
              <a:defRPr/>
            </a:pPr>
            <a:r>
              <a:rPr lang="ko-KR" altLang="en-US" sz="7200" b="1" spc="-359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코드 업그레이드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14824" y="1121483"/>
            <a:ext cx="4211394" cy="29774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2352"/>
              </a:lnSpc>
              <a:defRPr/>
            </a:pPr>
            <a:r>
              <a:rPr lang="en-US" altLang="ko-KR" sz="2100" b="1">
                <a:solidFill>
                  <a:srgbClr val="737373"/>
                </a:solidFill>
                <a:latin typeface="Heebo Bold"/>
                <a:ea typeface="Heebo Bold"/>
                <a:cs typeface="Heebo Bold"/>
                <a:sym typeface="Heebo Bold"/>
              </a:rPr>
              <a:t>Code Upgrade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676400" y="2705100"/>
            <a:ext cx="3343741" cy="1933844"/>
          </a:xfrm>
          <a:prstGeom prst="rect">
            <a:avLst/>
          </a:prstGeom>
          <a:effectLst>
            <a:outerShdw blurRad="76200" dist="76200" dir="2700000" algn="ctr" rotWithShape="0">
              <a:srgbClr val="000000">
                <a:alpha val="50000"/>
              </a:srgb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5105400" y="2705100"/>
            <a:ext cx="9144000" cy="582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ts val="3872"/>
              </a:lnSpc>
              <a:defRPr/>
            </a:pPr>
            <a:r>
              <a:rPr lang="en-US" altLang="ko-KR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-</a:t>
            </a:r>
            <a:r>
              <a:rPr lang="ko-KR" altLang="en-US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총구 화염 </a:t>
            </a:r>
            <a:r>
              <a:rPr lang="en-US" altLang="ko-KR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,</a:t>
            </a:r>
            <a:r>
              <a:rPr lang="ko-KR" altLang="en-US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탄피 배출</a:t>
            </a:r>
            <a:endParaRPr lang="ko-KR" altLang="en-US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676400" y="4762500"/>
            <a:ext cx="1219370" cy="933580"/>
          </a:xfrm>
          <a:prstGeom prst="rect">
            <a:avLst/>
          </a:prstGeom>
          <a:effectLst>
            <a:outerShdw blurRad="76200" dist="76200" dir="2700000" algn="ctr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/>
          <p:cNvSpPr txBox="1"/>
          <p:nvPr/>
        </p:nvSpPr>
        <p:spPr>
          <a:xfrm>
            <a:off x="2895600" y="4852035"/>
            <a:ext cx="9144000" cy="582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ts val="3872"/>
              </a:lnSpc>
              <a:defRPr/>
            </a:pPr>
            <a:r>
              <a:rPr lang="en-US" altLang="ko-KR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-</a:t>
            </a:r>
            <a:r>
              <a:rPr lang="ko-KR" altLang="en-US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조준선 </a:t>
            </a:r>
            <a:endParaRPr lang="ko-KR" altLang="en-US"/>
          </a:p>
        </p:txBody>
      </p:sp>
      <p:sp>
        <p:nvSpPr>
          <p:cNvPr id="15" name="TextBox 6"/>
          <p:cNvSpPr txBox="1"/>
          <p:nvPr/>
        </p:nvSpPr>
        <p:spPr>
          <a:xfrm>
            <a:off x="1676400" y="5829300"/>
            <a:ext cx="9296400" cy="14859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872"/>
              </a:lnSpc>
              <a:defRPr/>
            </a:pPr>
            <a:r>
              <a:rPr lang="en-US" altLang="ko-KR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-</a:t>
            </a:r>
            <a:r>
              <a:rPr lang="ko-KR" altLang="en-US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격발 시  총구 </a:t>
            </a:r>
            <a:r>
              <a:rPr lang="en-US" altLang="ko-KR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pitch </a:t>
            </a:r>
            <a:r>
              <a:rPr lang="ko-KR" altLang="en-US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회전 을 통해 반동 표현 </a:t>
            </a:r>
          </a:p>
          <a:p>
            <a:pPr algn="l">
              <a:lnSpc>
                <a:spcPts val="3872"/>
              </a:lnSpc>
              <a:defRPr/>
            </a:pPr>
            <a:endParaRPr lang="ko-KR" altLang="en-US" sz="2100" b="1" spc="-160">
              <a:solidFill>
                <a:srgbClr val="000000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  <a:p>
            <a:pPr algn="l">
              <a:lnSpc>
                <a:spcPts val="3872"/>
              </a:lnSpc>
              <a:defRPr/>
            </a:pPr>
            <a:endParaRPr lang="ko-KR" altLang="en-US" sz="2100" b="1" spc="-160">
              <a:solidFill>
                <a:srgbClr val="000000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676400" y="6362700"/>
            <a:ext cx="4797380" cy="2286000"/>
          </a:xfrm>
          <a:prstGeom prst="rect">
            <a:avLst/>
          </a:prstGeom>
          <a:effectLst>
            <a:outerShdw blurRad="76200" dist="76200" dir="2700000" algn="ctr" rotWithShape="0">
              <a:srgbClr val="000000">
                <a:alpha val="50000"/>
              </a:srgbClr>
            </a:outerShdw>
          </a:effectLst>
        </p:spPr>
      </p:pic>
      <p:sp>
        <p:nvSpPr>
          <p:cNvPr id="17" name="TextBox 6"/>
          <p:cNvSpPr txBox="1"/>
          <p:nvPr/>
        </p:nvSpPr>
        <p:spPr>
          <a:xfrm>
            <a:off x="1676400" y="8801100"/>
            <a:ext cx="9296400" cy="14859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872"/>
              </a:lnSpc>
              <a:defRPr/>
            </a:pPr>
            <a:r>
              <a:rPr lang="en-US" altLang="ko-KR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-</a:t>
            </a:r>
            <a:r>
              <a:rPr lang="ko-KR" altLang="en-US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적중 시 사운드 </a:t>
            </a:r>
            <a:r>
              <a:rPr lang="en-US" altLang="ko-KR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&amp;</a:t>
            </a:r>
            <a:r>
              <a:rPr lang="ko-KR" altLang="en-US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피격 효과 생성으로 타격감 </a:t>
            </a:r>
          </a:p>
          <a:p>
            <a:pPr algn="l">
              <a:lnSpc>
                <a:spcPts val="3872"/>
              </a:lnSpc>
              <a:defRPr/>
            </a:pPr>
            <a:endParaRPr lang="ko-KR" altLang="en-US" sz="2100" b="1" spc="-160">
              <a:solidFill>
                <a:srgbClr val="000000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  <a:p>
            <a:pPr algn="l">
              <a:lnSpc>
                <a:spcPts val="3872"/>
              </a:lnSpc>
              <a:defRPr/>
            </a:pPr>
            <a:endParaRPr lang="ko-KR" altLang="en-US" sz="2100" b="1" spc="-160">
              <a:solidFill>
                <a:srgbClr val="000000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8229600" y="3695700"/>
            <a:ext cx="3810000" cy="4179059"/>
          </a:xfrm>
          <a:prstGeom prst="rect">
            <a:avLst/>
          </a:prstGeom>
          <a:effectLst>
            <a:outerShdw blurRad="76200" dist="76200" dir="2700000" algn="ct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35693" y="632336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635693" y="9654664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Box 9"/>
          <p:cNvSpPr txBox="1"/>
          <p:nvPr/>
        </p:nvSpPr>
        <p:spPr>
          <a:xfrm>
            <a:off x="4078981" y="2366850"/>
            <a:ext cx="10130038" cy="10240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8064"/>
              </a:lnSpc>
              <a:defRPr/>
            </a:pPr>
            <a:r>
              <a:rPr lang="en-US" altLang="ko-KR" sz="7200" b="1" spc="-359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Fishing Game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35693" y="632336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635693" y="9654664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Box 7"/>
          <p:cNvSpPr txBox="1"/>
          <p:nvPr/>
        </p:nvSpPr>
        <p:spPr>
          <a:xfrm>
            <a:off x="1714824" y="1121483"/>
            <a:ext cx="4211394" cy="31162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2352"/>
              </a:lnSpc>
              <a:defRPr/>
            </a:pPr>
            <a:r>
              <a:rPr lang="ko-KR" altLang="en-US" sz="2100" b="1">
                <a:solidFill>
                  <a:srgbClr val="737373"/>
                </a:solidFill>
                <a:latin typeface="Heebo Bold"/>
                <a:ea typeface="Heebo Bold"/>
                <a:cs typeface="Heebo Bold"/>
                <a:sym typeface="Heebo Bold"/>
              </a:rPr>
              <a:t>소스코드의 변화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219200" y="1556401"/>
            <a:ext cx="6679746" cy="640080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597975" y="1556401"/>
            <a:ext cx="7461947" cy="6400800"/>
          </a:xfrm>
          <a:prstGeom prst="rect">
            <a:avLst/>
          </a:prstGeom>
        </p:spPr>
      </p:pic>
      <p:sp>
        <p:nvSpPr>
          <p:cNvPr id="10" name="화살표: 오른쪽 9"/>
          <p:cNvSpPr/>
          <p:nvPr/>
        </p:nvSpPr>
        <p:spPr>
          <a:xfrm>
            <a:off x="8282639" y="4528202"/>
            <a:ext cx="990600" cy="45719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35693" y="632336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635693" y="9654664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Box 7"/>
          <p:cNvSpPr txBox="1"/>
          <p:nvPr/>
        </p:nvSpPr>
        <p:spPr>
          <a:xfrm>
            <a:off x="838200" y="959136"/>
            <a:ext cx="4211394" cy="31162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2352"/>
              </a:lnSpc>
              <a:defRPr/>
            </a:pPr>
            <a:r>
              <a:rPr lang="ko-KR" altLang="en-US" sz="2100" b="1">
                <a:latin typeface="Heebo Bold"/>
                <a:ea typeface="Heebo Bold"/>
                <a:cs typeface="Heebo Bold"/>
                <a:sym typeface="Heebo Bold"/>
              </a:rPr>
              <a:t>기존 코드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1375186" y="925475"/>
            <a:ext cx="5277121" cy="817922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793728" y="925475"/>
            <a:ext cx="5283472" cy="8179220"/>
          </a:xfrm>
          <a:prstGeom prst="rect">
            <a:avLst/>
          </a:prstGeom>
        </p:spPr>
      </p:pic>
      <p:sp>
        <p:nvSpPr>
          <p:cNvPr id="10" name="화살표: 왼쪽 9"/>
          <p:cNvSpPr/>
          <p:nvPr/>
        </p:nvSpPr>
        <p:spPr>
          <a:xfrm>
            <a:off x="8267700" y="3619500"/>
            <a:ext cx="914400" cy="533399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화살표: 왼쪽 10"/>
          <p:cNvSpPr/>
          <p:nvPr/>
        </p:nvSpPr>
        <p:spPr>
          <a:xfrm flipH="1">
            <a:off x="10210800" y="5219700"/>
            <a:ext cx="889161" cy="533396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9372600" y="3707368"/>
            <a:ext cx="167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/>
              <a:t>기본화면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5301732"/>
            <a:ext cx="167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/>
              <a:t>클릭 후 화면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35693" y="632336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635693" y="9654664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Box 7"/>
          <p:cNvSpPr txBox="1"/>
          <p:nvPr/>
        </p:nvSpPr>
        <p:spPr>
          <a:xfrm>
            <a:off x="1714824" y="1121483"/>
            <a:ext cx="4211394" cy="31162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2352"/>
              </a:lnSpc>
              <a:defRPr/>
            </a:pPr>
            <a:r>
              <a:rPr lang="ko-KR" altLang="en-US" sz="2100" b="1">
                <a:solidFill>
                  <a:srgbClr val="737373"/>
                </a:solidFill>
                <a:latin typeface="Heebo Bold"/>
                <a:ea typeface="Heebo Bold"/>
                <a:cs typeface="Heebo Bold"/>
                <a:sym typeface="Heebo Bold"/>
              </a:rPr>
              <a:t>중요 코드 바뀐점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1200" y="1714500"/>
            <a:ext cx="71628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  <a:defRPr/>
            </a:pPr>
            <a:r>
              <a:rPr lang="ko-KR" altLang="en-US"/>
              <a:t>코드에 미니게임을 </a:t>
            </a:r>
            <a:r>
              <a:rPr lang="en-US" altLang="ko-KR"/>
              <a:t>2</a:t>
            </a:r>
            <a:r>
              <a:rPr lang="ko-KR" altLang="en-US"/>
              <a:t>개추가</a:t>
            </a: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ko-KR" altLang="en-US"/>
              <a:t>찌를 던질때 미니게임 추가</a:t>
            </a:r>
            <a:r>
              <a:rPr lang="en-US" altLang="ko-KR"/>
              <a:t>(</a:t>
            </a:r>
            <a:r>
              <a:rPr lang="ko-KR" altLang="en-US"/>
              <a:t>언더테일 참고</a:t>
            </a:r>
            <a:r>
              <a:rPr lang="en-US" altLang="ko-KR"/>
              <a:t>)</a:t>
            </a:r>
          </a:p>
          <a:p>
            <a:pPr marL="1257300" lvl="2" indent="-342900">
              <a:buFont typeface="Arial"/>
              <a:buChar char="•"/>
              <a:defRPr/>
            </a:pPr>
            <a:r>
              <a:rPr lang="ko-KR" altLang="en-US"/>
              <a:t>바 사이에 목표물이 왔다갔다거리고 스페이스바를 이용해 중앙을 마추는 게임</a:t>
            </a: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ko-KR" altLang="en-US"/>
              <a:t>물고기를 낚을때 미니게임 추가</a:t>
            </a:r>
            <a:r>
              <a:rPr lang="en-US" altLang="ko-KR"/>
              <a:t>(</a:t>
            </a:r>
            <a:r>
              <a:rPr lang="ko-KR" altLang="en-US"/>
              <a:t>스타듀밸리 참고</a:t>
            </a:r>
            <a:r>
              <a:rPr lang="en-US" altLang="ko-KR"/>
              <a:t>)</a:t>
            </a:r>
          </a:p>
          <a:p>
            <a:pPr marL="1257300" lvl="2" indent="-342900">
              <a:buFont typeface="Arial"/>
              <a:buChar char="•"/>
              <a:defRPr/>
            </a:pPr>
            <a:r>
              <a:rPr lang="ko-KR" altLang="en-US"/>
              <a:t>움직이는 물고기를 마우스 휠을 통해 계속 마추어 게이지를 누적시켜 물고기를 낚음</a:t>
            </a:r>
          </a:p>
          <a:p>
            <a:pPr marL="1200150" lvl="2" indent="-285750">
              <a:buFont typeface="Arial"/>
              <a:buChar char="•"/>
              <a:defRPr/>
            </a:pPr>
            <a:endParaRPr lang="en-US" altLang="ko-KR"/>
          </a:p>
          <a:p>
            <a:pPr marL="1200150" lvl="2" indent="-285750">
              <a:buFont typeface="Arial"/>
              <a:buChar char="•"/>
              <a:defRPr/>
            </a:pPr>
            <a:endParaRPr lang="en-US" altLang="ko-KR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665978" y="1714500"/>
            <a:ext cx="1886047" cy="6096313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2192000" y="1333500"/>
            <a:ext cx="5039616" cy="70710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96309" y="7042810"/>
            <a:ext cx="71628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  <a:defRPr/>
            </a:pPr>
            <a:r>
              <a:rPr lang="ko-KR" altLang="en-US"/>
              <a:t>물고기의 상하 증폭 증가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ko-KR" altLang="en-US"/>
              <a:t>물고기의 크기별 </a:t>
            </a:r>
            <a:r>
              <a:rPr lang="en-US" altLang="ko-KR"/>
              <a:t>‘</a:t>
            </a:r>
            <a:r>
              <a:rPr lang="ko-KR" altLang="en-US"/>
              <a:t>몸부림</a:t>
            </a:r>
            <a:r>
              <a:rPr lang="en-US" altLang="ko-KR"/>
              <a:t>’</a:t>
            </a:r>
            <a:r>
              <a:rPr lang="ko-KR" altLang="en-US"/>
              <a:t>의 강도가 심해짐</a:t>
            </a:r>
            <a:r>
              <a:rPr lang="en-US" altLang="ko-KR"/>
              <a:t>(</a:t>
            </a:r>
            <a:r>
              <a:rPr lang="ko-KR" altLang="en-US"/>
              <a:t>진폭</a:t>
            </a:r>
            <a:r>
              <a:rPr lang="en-US" altLang="ko-KR"/>
              <a:t>, </a:t>
            </a:r>
            <a:r>
              <a:rPr lang="ko-KR" altLang="en-US"/>
              <a:t>주파수</a:t>
            </a:r>
            <a:r>
              <a:rPr lang="en-US" altLang="ko-KR"/>
              <a:t>, </a:t>
            </a:r>
            <a:r>
              <a:rPr lang="ko-KR" altLang="en-US"/>
              <a:t>버스트 확률</a:t>
            </a:r>
            <a:r>
              <a:rPr lang="en-US" altLang="ko-KR"/>
              <a:t>)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ko-KR" altLang="en-US"/>
              <a:t>물고기의 단계와 나오는 물고기의 위치 확률 변경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ko-KR" altLang="en-US"/>
              <a:t>수면</a:t>
            </a:r>
            <a:r>
              <a:rPr lang="en-US" altLang="ko-KR"/>
              <a:t>/</a:t>
            </a:r>
            <a:r>
              <a:rPr lang="ko-KR" altLang="en-US"/>
              <a:t>중앙</a:t>
            </a:r>
            <a:r>
              <a:rPr lang="en-US" altLang="ko-KR"/>
              <a:t>/</a:t>
            </a:r>
            <a:r>
              <a:rPr lang="ko-KR" altLang="en-US"/>
              <a:t>심해 구역</a:t>
            </a:r>
            <a:r>
              <a:rPr lang="en-US" altLang="ko-KR"/>
              <a:t>, </a:t>
            </a:r>
            <a:r>
              <a:rPr lang="ko-KR" altLang="en-US"/>
              <a:t>캐스팅 정확도에 따라 구역 결정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ko-KR" altLang="en-US"/>
              <a:t>적절한 물고기 사진 적용</a:t>
            </a:r>
            <a:r>
              <a:rPr lang="en-US" altLang="ko-KR"/>
              <a:t>	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ko-KR" altLang="en-US"/>
              <a:t>게임 색상 적용 및 </a:t>
            </a:r>
            <a:r>
              <a:rPr lang="en-US" altLang="ko-KR"/>
              <a:t>bgm, </a:t>
            </a:r>
            <a:r>
              <a:rPr lang="ko-KR" altLang="en-US"/>
              <a:t>소리 적용</a:t>
            </a:r>
            <a:endParaRPr lang="en-US" altLang="ko-KR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845560" y="4103632"/>
            <a:ext cx="3577415" cy="1542760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926218" y="3654349"/>
            <a:ext cx="2311519" cy="297830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344640" y="5687218"/>
            <a:ext cx="24467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(</a:t>
            </a:r>
            <a:r>
              <a:rPr lang="ko-KR" altLang="en-US"/>
              <a:t>언더테일의 미니게임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8229203" y="3933146"/>
            <a:ext cx="461665" cy="2819400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 lvl="0">
              <a:defRPr/>
            </a:pPr>
            <a:r>
              <a:rPr lang="en-US" altLang="ko-KR"/>
              <a:t>(</a:t>
            </a:r>
            <a:r>
              <a:rPr lang="ko-KR" altLang="en-US"/>
              <a:t>스타듀밸리의 미니게임</a:t>
            </a:r>
            <a:r>
              <a:rPr lang="en-US" altLang="ko-KR"/>
              <a:t>)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35693" y="632336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635693" y="9654664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Box 7"/>
          <p:cNvSpPr txBox="1"/>
          <p:nvPr/>
        </p:nvSpPr>
        <p:spPr>
          <a:xfrm>
            <a:off x="1714824" y="1121483"/>
            <a:ext cx="4211394" cy="31162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2352"/>
              </a:lnSpc>
              <a:defRPr/>
            </a:pPr>
            <a:r>
              <a:rPr lang="ko-KR" altLang="en-US" sz="2100" b="1">
                <a:solidFill>
                  <a:srgbClr val="737373"/>
                </a:solidFill>
                <a:latin typeface="Heebo Bold"/>
                <a:ea typeface="Heebo Bold"/>
                <a:cs typeface="Heebo Bold"/>
                <a:sym typeface="Heebo Bold"/>
              </a:rPr>
              <a:t>캐스팅 </a:t>
            </a:r>
            <a:r>
              <a:rPr lang="en-US" altLang="ko-KR" sz="2100" b="1">
                <a:solidFill>
                  <a:srgbClr val="737373"/>
                </a:solidFill>
                <a:latin typeface="Heebo Bold"/>
                <a:ea typeface="Heebo Bold"/>
                <a:cs typeface="Heebo Bold"/>
                <a:sym typeface="Heebo Bold"/>
              </a:rPr>
              <a:t>‘</a:t>
            </a:r>
            <a:r>
              <a:rPr lang="ko-KR" altLang="en-US" sz="2100" b="1">
                <a:solidFill>
                  <a:srgbClr val="737373"/>
                </a:solidFill>
                <a:latin typeface="Heebo Bold"/>
                <a:ea typeface="Heebo Bold"/>
                <a:cs typeface="Heebo Bold"/>
                <a:sym typeface="Heebo Bold"/>
              </a:rPr>
              <a:t>타이밍바</a:t>
            </a:r>
            <a:r>
              <a:rPr lang="en-US" altLang="ko-KR" sz="2100" b="1">
                <a:solidFill>
                  <a:srgbClr val="737373"/>
                </a:solidFill>
                <a:latin typeface="Heebo Bold"/>
                <a:ea typeface="Heebo Bold"/>
                <a:cs typeface="Heebo Bold"/>
                <a:sym typeface="Heebo Bold"/>
              </a:rPr>
              <a:t>’</a:t>
            </a:r>
            <a:r>
              <a:rPr lang="ko-KR" altLang="en-US" sz="2100" b="1">
                <a:solidFill>
                  <a:srgbClr val="737373"/>
                </a:solidFill>
                <a:latin typeface="Heebo Bold"/>
                <a:ea typeface="Heebo Bold"/>
                <a:cs typeface="Heebo Bold"/>
                <a:sym typeface="Heebo Bold"/>
              </a:rPr>
              <a:t> 미니게임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915482" y="1123333"/>
            <a:ext cx="7436232" cy="3219615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229600" y="5448300"/>
            <a:ext cx="9036514" cy="330217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47800" y="2171700"/>
            <a:ext cx="64008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  <a:defRPr/>
            </a:pPr>
            <a:r>
              <a:rPr lang="ko-KR" altLang="en-US"/>
              <a:t>시작 </a:t>
            </a:r>
            <a:r>
              <a:rPr lang="en-US" altLang="ko-KR"/>
              <a:t>: _startCastTiming()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ko-KR" altLang="en-US"/>
              <a:t>수면 기준으로 타이밍 바의 위치</a:t>
            </a:r>
            <a:r>
              <a:rPr lang="en-US" altLang="ko-KR"/>
              <a:t>(y)</a:t>
            </a:r>
            <a:r>
              <a:rPr lang="ko-KR" altLang="en-US"/>
              <a:t>와 높이</a:t>
            </a:r>
            <a:r>
              <a:rPr lang="en-US" altLang="ko-KR"/>
              <a:t>(h)</a:t>
            </a:r>
            <a:r>
              <a:rPr lang="ko-KR" altLang="en-US"/>
              <a:t>를 계산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ko-KR" altLang="en-US"/>
              <a:t>바의 중앙선</a:t>
            </a:r>
            <a:r>
              <a:rPr lang="en-US" altLang="ko-KR"/>
              <a:t>(centerY), </a:t>
            </a:r>
            <a:r>
              <a:rPr lang="ko-KR" altLang="en-US"/>
              <a:t>마커 초기 위치</a:t>
            </a:r>
            <a:r>
              <a:rPr lang="en-US" altLang="ko-KR"/>
              <a:t>(markerY), </a:t>
            </a:r>
            <a:r>
              <a:rPr lang="ko-KR" altLang="en-US"/>
              <a:t>이동 방향</a:t>
            </a:r>
            <a:r>
              <a:rPr lang="en-US" altLang="ko-KR"/>
              <a:t>(dir)</a:t>
            </a:r>
            <a:r>
              <a:rPr lang="ko-KR" altLang="en-US"/>
              <a:t>을 세팅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ko-KR" altLang="en-US"/>
              <a:t>게임 상태를 </a:t>
            </a:r>
            <a:r>
              <a:rPr lang="en-US" altLang="ko-KR"/>
              <a:t>cast_timing</a:t>
            </a:r>
            <a:r>
              <a:rPr lang="ko-KR" altLang="en-US"/>
              <a:t>으로 바꿔 미니게임 진입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ko-KR" altLang="en-US"/>
              <a:t>루프 </a:t>
            </a:r>
            <a:r>
              <a:rPr lang="en-US" altLang="ko-KR"/>
              <a:t>: state === 'cast_timing’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ko-KR" altLang="en-US"/>
              <a:t>매 프레임 </a:t>
            </a:r>
            <a:r>
              <a:rPr lang="en-US" altLang="ko-KR"/>
              <a:t>markerY += dir * speed * dt</a:t>
            </a:r>
            <a:r>
              <a:rPr lang="ko-KR" altLang="en-US"/>
              <a:t>로 마커를 위</a:t>
            </a:r>
            <a:r>
              <a:rPr lang="en-US" altLang="ko-KR"/>
              <a:t>/</a:t>
            </a:r>
            <a:r>
              <a:rPr lang="ko-KR" altLang="en-US"/>
              <a:t>아래로 이동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ko-KR" altLang="en-US"/>
              <a:t>위아래 경계</a:t>
            </a:r>
            <a:r>
              <a:rPr lang="en-US" altLang="ko-KR"/>
              <a:t>(yMin, yMax)</a:t>
            </a:r>
            <a:r>
              <a:rPr lang="ko-KR" altLang="en-US"/>
              <a:t>에 닿으면 방향 반전해서 왕복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ko-KR" altLang="en-US"/>
              <a:t>입력</a:t>
            </a:r>
            <a:r>
              <a:rPr lang="en-US" altLang="ko-KR"/>
              <a:t>(</a:t>
            </a:r>
            <a:r>
              <a:rPr lang="ko-KR" altLang="en-US"/>
              <a:t>스페이스</a:t>
            </a:r>
            <a:r>
              <a:rPr lang="en-US" altLang="ko-KR"/>
              <a:t>/</a:t>
            </a:r>
            <a:r>
              <a:rPr lang="ko-KR" altLang="en-US"/>
              <a:t>엔터</a:t>
            </a:r>
            <a:r>
              <a:rPr lang="en-US" altLang="ko-KR"/>
              <a:t>/</a:t>
            </a:r>
            <a:r>
              <a:rPr lang="ko-KR" altLang="en-US"/>
              <a:t>클릭</a:t>
            </a:r>
            <a:r>
              <a:rPr lang="en-US" altLang="ko-KR"/>
              <a:t>) </a:t>
            </a:r>
            <a:r>
              <a:rPr lang="ko-KR" altLang="en-US"/>
              <a:t>발생 시 확정 함수 호출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ko-KR" altLang="en-US"/>
              <a:t>확정 </a:t>
            </a:r>
            <a:r>
              <a:rPr lang="en-US" altLang="ko-KR"/>
              <a:t>: _confirmCastFromTiming()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ko-KR" altLang="en-US"/>
              <a:t>정확도 계산</a:t>
            </a:r>
            <a:r>
              <a:rPr lang="en-US" altLang="ko-KR"/>
              <a:t>: dist = |markerY - centerY|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ko-KR" altLang="en-US"/>
              <a:t>깊이</a:t>
            </a:r>
            <a:r>
              <a:rPr lang="en-US" altLang="ko-KR"/>
              <a:t>·</a:t>
            </a:r>
            <a:r>
              <a:rPr lang="ko-KR" altLang="en-US"/>
              <a:t>구역 결정</a:t>
            </a:r>
          </a:p>
          <a:p>
            <a:pPr marL="1257300" lvl="2" indent="-342900">
              <a:buFont typeface="Arial"/>
              <a:buChar char="•"/>
              <a:defRPr/>
            </a:pPr>
            <a:r>
              <a:rPr lang="en-US" altLang="ko-KR"/>
              <a:t>depth = 1 - clamp(dist/0.5)</a:t>
            </a:r>
            <a:r>
              <a:rPr lang="ko-KR" altLang="en-US"/>
              <a:t> 같은 방식으로 </a:t>
            </a:r>
            <a:r>
              <a:rPr lang="en-US" altLang="ko-KR"/>
              <a:t>0~1 </a:t>
            </a:r>
            <a:r>
              <a:rPr lang="ko-KR" altLang="en-US"/>
              <a:t>스케일을 만들고</a:t>
            </a:r>
          </a:p>
          <a:p>
            <a:pPr marL="1257300" lvl="2" indent="-342900">
              <a:buFont typeface="Arial"/>
              <a:buChar char="•"/>
              <a:defRPr/>
            </a:pPr>
            <a:r>
              <a:rPr lang="en-US" altLang="ko-KR"/>
              <a:t>zone = surface / mid / deep</a:t>
            </a:r>
            <a:r>
              <a:rPr lang="ko-KR" altLang="en-US"/>
              <a:t>로 매핑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ko-KR" altLang="en-US"/>
              <a:t>물고기 크기</a:t>
            </a:r>
            <a:r>
              <a:rPr lang="en-US" altLang="ko-KR"/>
              <a:t>/</a:t>
            </a:r>
            <a:r>
              <a:rPr lang="ko-KR" altLang="en-US"/>
              <a:t>확률 설정</a:t>
            </a:r>
            <a:r>
              <a:rPr lang="en-US" altLang="ko-KR"/>
              <a:t>: </a:t>
            </a:r>
            <a:r>
              <a:rPr lang="ko-KR" altLang="en-US"/>
              <a:t>정확도가 좋을수록 큰 물고기 비중이 높아짐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35693" y="632336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635693" y="9654664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Box 7"/>
          <p:cNvSpPr txBox="1"/>
          <p:nvPr/>
        </p:nvSpPr>
        <p:spPr>
          <a:xfrm>
            <a:off x="1714824" y="1121483"/>
            <a:ext cx="4211394" cy="31162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2352"/>
              </a:lnSpc>
              <a:defRPr/>
            </a:pPr>
            <a:r>
              <a:rPr lang="ko-KR" altLang="en-US" sz="2100" b="1">
                <a:solidFill>
                  <a:srgbClr val="737373"/>
                </a:solidFill>
                <a:latin typeface="Heebo Bold"/>
                <a:ea typeface="Heebo Bold"/>
                <a:cs typeface="Heebo Bold"/>
                <a:sym typeface="Heebo Bold"/>
              </a:rPr>
              <a:t>낚시 미니게임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551784" y="810212"/>
            <a:ext cx="7620000" cy="4035111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534768" y="5143500"/>
            <a:ext cx="7801214" cy="403511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1638300"/>
            <a:ext cx="6096000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  <a:defRPr/>
            </a:pPr>
            <a:r>
              <a:rPr lang="ko-KR" altLang="en-US"/>
              <a:t>진입</a:t>
            </a:r>
            <a:r>
              <a:rPr lang="en-US" altLang="ko-KR"/>
              <a:t>(</a:t>
            </a:r>
            <a:r>
              <a:rPr lang="ko-KR" altLang="en-US"/>
              <a:t>상태전환</a:t>
            </a:r>
            <a:r>
              <a:rPr lang="en-US" altLang="ko-KR"/>
              <a:t>)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en-US" altLang="ko-KR"/>
              <a:t>cast_timing</a:t>
            </a:r>
            <a:r>
              <a:rPr lang="ko-KR" altLang="en-US"/>
              <a:t>에서 </a:t>
            </a:r>
            <a:r>
              <a:rPr lang="en-US" altLang="ko-KR"/>
              <a:t>_confirmCastFromTiming()</a:t>
            </a:r>
            <a:r>
              <a:rPr lang="ko-KR" altLang="en-US"/>
              <a:t>으로 </a:t>
            </a:r>
            <a:r>
              <a:rPr lang="en-US" altLang="ko-KR"/>
              <a:t>zone/depth/size</a:t>
            </a:r>
            <a:r>
              <a:rPr lang="ko-KR" altLang="en-US"/>
              <a:t>와 난이도 </a:t>
            </a:r>
            <a:r>
              <a:rPr lang="en-US" altLang="ko-KR"/>
              <a:t>cfg</a:t>
            </a:r>
            <a:r>
              <a:rPr lang="ko-KR" altLang="en-US"/>
              <a:t>를 생성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ko-KR" altLang="en-US"/>
              <a:t>짧은 </a:t>
            </a:r>
            <a:r>
              <a:rPr lang="en-US" altLang="ko-KR"/>
              <a:t>wait </a:t>
            </a:r>
            <a:r>
              <a:rPr lang="ko-KR" altLang="en-US"/>
              <a:t>후 </a:t>
            </a:r>
            <a:r>
              <a:rPr lang="en-US" altLang="ko-KR"/>
              <a:t>this.state = 'minigame’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ko-KR" altLang="en-US"/>
              <a:t>초기화</a:t>
            </a:r>
            <a:r>
              <a:rPr lang="en-US" altLang="ko-KR"/>
              <a:t>: this.fill=0~1, this.bar={y,v,h}, this.fish={y,t,profile}, this.timeSinceStart=0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ko-KR" altLang="en-US"/>
              <a:t>입력 </a:t>
            </a:r>
            <a:r>
              <a:rPr lang="en-US" altLang="ko-KR"/>
              <a:t>&amp; </a:t>
            </a:r>
            <a:r>
              <a:rPr lang="ko-KR" altLang="en-US"/>
              <a:t>바 물리</a:t>
            </a:r>
            <a:r>
              <a:rPr lang="en-US" altLang="ko-KR"/>
              <a:t>(</a:t>
            </a:r>
            <a:r>
              <a:rPr lang="ko-KR" altLang="en-US"/>
              <a:t>휠 조작</a:t>
            </a:r>
            <a:r>
              <a:rPr lang="en-US" altLang="ko-KR"/>
              <a:t>)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ko-KR" altLang="en-US"/>
              <a:t>휠 아래</a:t>
            </a:r>
            <a:r>
              <a:rPr lang="en-US" altLang="ko-KR"/>
              <a:t>=</a:t>
            </a:r>
            <a:r>
              <a:rPr lang="ko-KR" altLang="en-US"/>
              <a:t>위로 </a:t>
            </a:r>
            <a:r>
              <a:rPr lang="en-US" altLang="ko-KR"/>
              <a:t>/ </a:t>
            </a:r>
            <a:r>
              <a:rPr lang="ko-KR" altLang="en-US"/>
              <a:t>휠 위</a:t>
            </a:r>
            <a:r>
              <a:rPr lang="en-US" altLang="ko-KR"/>
              <a:t>=</a:t>
            </a:r>
            <a:r>
              <a:rPr lang="ko-KR" altLang="en-US"/>
              <a:t>아래로</a:t>
            </a:r>
            <a:r>
              <a:rPr lang="en-US" altLang="ko-KR"/>
              <a:t>(</a:t>
            </a:r>
            <a:r>
              <a:rPr lang="ko-KR" altLang="en-US"/>
              <a:t>반전</a:t>
            </a:r>
            <a:r>
              <a:rPr lang="en-US" altLang="ko-KR"/>
              <a:t>) </a:t>
            </a:r>
            <a:r>
              <a:rPr lang="ko-KR" altLang="en-US"/>
              <a:t>가속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ko-KR" altLang="en-US"/>
              <a:t>가속</a:t>
            </a:r>
            <a:r>
              <a:rPr lang="en-US" altLang="ko-KR"/>
              <a:t>·</a:t>
            </a:r>
            <a:r>
              <a:rPr lang="ko-KR" altLang="en-US"/>
              <a:t>속도제한</a:t>
            </a:r>
            <a:r>
              <a:rPr lang="en-US" altLang="ko-KR"/>
              <a:t>·</a:t>
            </a:r>
            <a:r>
              <a:rPr lang="ko-KR" altLang="en-US"/>
              <a:t>감속</a:t>
            </a:r>
            <a:r>
              <a:rPr lang="en-US" altLang="ko-KR"/>
              <a:t>·</a:t>
            </a:r>
            <a:r>
              <a:rPr lang="ko-KR" altLang="en-US"/>
              <a:t>경계처리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ko-KR" altLang="en-US"/>
              <a:t>바의 높이</a:t>
            </a:r>
            <a:r>
              <a:rPr lang="en-US" altLang="ko-KR"/>
              <a:t>(</a:t>
            </a:r>
            <a:r>
              <a:rPr lang="ko-KR" altLang="en-US"/>
              <a:t>판정폭</a:t>
            </a:r>
            <a:r>
              <a:rPr lang="en-US" altLang="ko-KR"/>
              <a:t>) = this.bar.h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ko-KR" altLang="en-US"/>
              <a:t>물고기 </a:t>
            </a:r>
            <a:r>
              <a:rPr lang="en-US" altLang="ko-KR"/>
              <a:t>AI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en-US" altLang="ko-KR"/>
              <a:t>const F = this.fish.profile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ko-KR" altLang="en-US"/>
              <a:t>목표 궤적</a:t>
            </a:r>
            <a:r>
              <a:rPr lang="en-US" altLang="ko-KR"/>
              <a:t>: </a:t>
            </a:r>
            <a:r>
              <a:rPr lang="ko-KR" altLang="en-US"/>
              <a:t>사인파 </a:t>
            </a:r>
            <a:r>
              <a:rPr lang="en-US" altLang="ko-KR"/>
              <a:t>+ </a:t>
            </a:r>
            <a:r>
              <a:rPr lang="ko-KR" altLang="en-US"/>
              <a:t>지터 </a:t>
            </a:r>
            <a:r>
              <a:rPr lang="en-US" altLang="ko-KR"/>
              <a:t>+ </a:t>
            </a:r>
            <a:r>
              <a:rPr lang="ko-KR" altLang="en-US"/>
              <a:t>버스트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ko-KR" altLang="en-US"/>
              <a:t>추종</a:t>
            </a:r>
            <a:r>
              <a:rPr lang="en-US" altLang="ko-KR"/>
              <a:t>(</a:t>
            </a:r>
            <a:r>
              <a:rPr lang="ko-KR" altLang="en-US"/>
              <a:t>부드럽게 따라감</a:t>
            </a:r>
            <a:r>
              <a:rPr lang="en-US" altLang="ko-KR"/>
              <a:t>): this.fish.y += (target - this.fish.y) * (F.follow * dt)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ko-KR" altLang="en-US"/>
              <a:t>범위 고정</a:t>
            </a:r>
            <a:r>
              <a:rPr lang="en-US" altLang="ko-KR"/>
              <a:t>: ln.top..ln.bottom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ko-KR" altLang="en-US"/>
              <a:t>겹침 판정 </a:t>
            </a:r>
            <a:r>
              <a:rPr lang="en-US" altLang="ko-KR"/>
              <a:t>&gt; </a:t>
            </a:r>
            <a:r>
              <a:rPr lang="ko-KR" altLang="en-US"/>
              <a:t>캐치 게이지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ko-KR" altLang="en-US"/>
              <a:t>바 중앙</a:t>
            </a:r>
            <a:r>
              <a:rPr lang="en-US" altLang="ko-KR"/>
              <a:t>: barC = this.bar.y + this.bar.h/2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ko-KR" altLang="en-US"/>
              <a:t>겹침 여부</a:t>
            </a:r>
            <a:r>
              <a:rPr lang="en-US" altLang="ko-KR"/>
              <a:t>: inside = |this.fish.y - barC| ≤ this.bar.h/2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ko-KR" altLang="en-US"/>
              <a:t>누적</a:t>
            </a:r>
            <a:r>
              <a:rPr lang="en-US" altLang="ko-KR"/>
              <a:t>: this.fill = clamp(this.fill + delta*dt, 0, 1)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ko-KR" altLang="en-US"/>
              <a:t>성공</a:t>
            </a:r>
            <a:r>
              <a:rPr lang="en-US" altLang="ko-KR"/>
              <a:t>/</a:t>
            </a:r>
            <a:r>
              <a:rPr lang="ko-KR" altLang="en-US"/>
              <a:t>실패 판정</a:t>
            </a:r>
            <a:r>
              <a:rPr lang="en-US" altLang="ko-KR"/>
              <a:t>&amp;</a:t>
            </a:r>
            <a:r>
              <a:rPr lang="ko-KR" altLang="en-US"/>
              <a:t>점수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en-US" altLang="ko-KR"/>
              <a:t>this.fill ≥ 1 → this.state='caught’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en-US" altLang="ko-KR"/>
              <a:t>this.fill ≤ 0 → this.state='miss’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ko-KR" altLang="en-US"/>
              <a:t>점수 가중</a:t>
            </a:r>
            <a:r>
              <a:rPr lang="en-US" altLang="ko-KR"/>
              <a:t>: </a:t>
            </a:r>
            <a:r>
              <a:rPr lang="ko-KR" altLang="en-US"/>
              <a:t>물고기 크기별 </a:t>
            </a:r>
            <a:r>
              <a:rPr lang="en-US" altLang="ko-KR"/>
              <a:t>small=1, mid=3, big=5</a:t>
            </a:r>
            <a:r>
              <a:rPr lang="ko-KR" altLang="en-US"/>
              <a:t> 추가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ko-KR" altLang="en-US"/>
              <a:t>단축키</a:t>
            </a:r>
            <a:r>
              <a:rPr lang="en-US" altLang="ko-KR"/>
              <a:t>: R</a:t>
            </a:r>
            <a:r>
              <a:rPr lang="ko-KR" altLang="en-US"/>
              <a:t>로 즉시 리셋</a:t>
            </a:r>
            <a:r>
              <a:rPr lang="en-US" altLang="ko-KR"/>
              <a:t>(</a:t>
            </a:r>
            <a:r>
              <a:rPr lang="ko-KR" altLang="en-US"/>
              <a:t>테스트용</a:t>
            </a:r>
            <a:r>
              <a:rPr lang="en-US" altLang="ko-KR"/>
              <a:t>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35693" y="632336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635693" y="9654664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Box 9"/>
          <p:cNvSpPr txBox="1"/>
          <p:nvPr/>
        </p:nvSpPr>
        <p:spPr>
          <a:xfrm>
            <a:off x="4078981" y="2366850"/>
            <a:ext cx="10130038" cy="10240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8064"/>
              </a:lnSpc>
              <a:defRPr/>
            </a:pPr>
            <a:r>
              <a:rPr lang="en-US" altLang="ko-KR" sz="7200" b="1" spc="-359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Runner Game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35693" y="632336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635693" y="9654664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Box 5"/>
          <p:cNvSpPr txBox="1"/>
          <p:nvPr/>
        </p:nvSpPr>
        <p:spPr>
          <a:xfrm>
            <a:off x="1635693" y="1428583"/>
            <a:ext cx="8014955" cy="101934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8064"/>
              </a:lnSpc>
              <a:defRPr/>
            </a:pPr>
            <a:r>
              <a:rPr lang="ko-KR" altLang="en-US" sz="7200" b="1" spc="-359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러너</a:t>
            </a:r>
            <a:r>
              <a:rPr lang="en-US" altLang="ko-KR" sz="7200" b="1" spc="-359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-</a:t>
            </a:r>
            <a:r>
              <a:rPr lang="ko-KR" altLang="en-US" sz="7200" b="1" spc="-359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소스코드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14824" y="1121483"/>
            <a:ext cx="4211394" cy="29774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2352"/>
              </a:lnSpc>
              <a:defRPr/>
            </a:pPr>
            <a:r>
              <a:rPr lang="en-US" altLang="ko-KR" sz="2100" b="1">
                <a:solidFill>
                  <a:srgbClr val="737373"/>
                </a:solidFill>
                <a:latin typeface="Heebo Bold"/>
                <a:ea typeface="Heebo Bold"/>
                <a:cs typeface="Heebo Bold"/>
                <a:sym typeface="Heebo Bold"/>
              </a:rPr>
              <a:t>Runner</a:t>
            </a:r>
            <a:endParaRPr lang="ko-KR" altLang="en-US" sz="2100" b="1">
              <a:solidFill>
                <a:srgbClr val="737373"/>
              </a:solidFill>
              <a:latin typeface="Heebo Bold"/>
              <a:ea typeface="Heebo Bold"/>
              <a:cs typeface="Heebo Bold"/>
              <a:sym typeface="Heebo Bold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781678" y="777287"/>
            <a:ext cx="5829922" cy="8732425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  <a:effectLst>
            <a:outerShdw blurRad="76200" dist="76200" dir="2700000" algn="ctr" rotWithShape="0">
              <a:srgbClr val="000000">
                <a:alpha val="50000"/>
              </a:srgb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1676400" y="6743700"/>
            <a:ext cx="8915400" cy="1360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2100">
                <a:latin typeface="나눔스퀘어 Bold"/>
                <a:ea typeface="나눔스퀘어 Bold"/>
              </a:rPr>
              <a:t>1.</a:t>
            </a:r>
            <a:r>
              <a:rPr lang="ko-KR" altLang="en-US" sz="2100">
                <a:latin typeface="나눔스퀘어 Bold"/>
                <a:ea typeface="나눔스퀘어 Bold"/>
              </a:rPr>
              <a:t> 플레이어 기본 설정</a:t>
            </a:r>
          </a:p>
          <a:p>
            <a:pPr algn="ctr">
              <a:defRPr/>
            </a:pPr>
            <a:r>
              <a:rPr lang="en-US" altLang="ko-KR" sz="2100">
                <a:latin typeface="나눔스퀘어 Bold"/>
                <a:ea typeface="나눔스퀘어 Bold"/>
              </a:rPr>
              <a:t>2.</a:t>
            </a:r>
            <a:r>
              <a:rPr lang="ko-KR" altLang="en-US" sz="2100">
                <a:latin typeface="나눔스퀘어 Bold"/>
                <a:ea typeface="나눔스퀘어 Bold"/>
              </a:rPr>
              <a:t> 물리 엔진 요소</a:t>
            </a:r>
          </a:p>
          <a:p>
            <a:pPr algn="ctr">
              <a:defRPr/>
            </a:pPr>
            <a:r>
              <a:rPr lang="en-US" altLang="ko-KR" sz="2100">
                <a:latin typeface="나눔스퀘어 Bold"/>
                <a:ea typeface="나눔스퀘어 Bold"/>
              </a:rPr>
              <a:t>3.</a:t>
            </a:r>
            <a:r>
              <a:rPr lang="ko-KR" altLang="en-US" sz="2100">
                <a:latin typeface="나눔스퀘어 Bold"/>
                <a:ea typeface="나눔스퀘어 Bold"/>
              </a:rPr>
              <a:t> </a:t>
            </a:r>
            <a:r>
              <a:rPr lang="en-US" altLang="ko-KR" sz="2100">
                <a:latin typeface="나눔스퀘어 Bold"/>
                <a:ea typeface="나눔스퀘어 Bold"/>
              </a:rPr>
              <a:t>게임 상태 변수</a:t>
            </a:r>
          </a:p>
          <a:p>
            <a:pPr algn="ctr">
              <a:defRPr/>
            </a:pPr>
            <a:r>
              <a:rPr lang="en-US" altLang="ko-KR" sz="2100">
                <a:latin typeface="나눔스퀘어 Bold"/>
                <a:ea typeface="나눔스퀘어 Bold"/>
              </a:rPr>
              <a:t>4.</a:t>
            </a:r>
            <a:r>
              <a:rPr lang="ko-KR" altLang="en-US" sz="2100">
                <a:latin typeface="나눔스퀘어 Bold"/>
                <a:ea typeface="나눔스퀘어 Bold"/>
              </a:rPr>
              <a:t> 입력처리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52600" y="2868929"/>
            <a:ext cx="8915400" cy="720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2100" b="0" i="0" u="none" strike="noStrike" kern="1200" cap="none" spc="0" normalizeH="0" baseline="0">
                <a:solidFill>
                  <a:srgbClr val="000000"/>
                </a:solidFill>
                <a:latin typeface="나눔스퀘어 Bold"/>
                <a:ea typeface="나눔스퀘어 Bold"/>
              </a:rPr>
              <a:t>미니게임에 들어갈 쿠키런 스타일의 러너 게임을 만들고 싶은데, </a:t>
            </a:r>
          </a:p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2100" b="0" i="0" u="none" strike="noStrike" kern="1200" cap="none" spc="0" normalizeH="0" baseline="0">
                <a:solidFill>
                  <a:srgbClr val="000000"/>
                </a:solidFill>
                <a:latin typeface="나눔스퀘어 Bold"/>
                <a:ea typeface="나눔스퀘어 Bold"/>
              </a:rPr>
              <a:t>그 기반이 될 기초 소스코드를 작성해 주세요.</a:t>
            </a:r>
          </a:p>
        </p:txBody>
      </p:sp>
      <p:sp>
        <p:nvSpPr>
          <p:cNvPr id="13" name="화살표: 아래쪽 12"/>
          <p:cNvSpPr/>
          <p:nvPr/>
        </p:nvSpPr>
        <p:spPr>
          <a:xfrm>
            <a:off x="5257800" y="3810000"/>
            <a:ext cx="1828800" cy="26670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35693" y="632336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635693" y="9654664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5"/>
          <p:cNvSpPr txBox="1"/>
          <p:nvPr/>
        </p:nvSpPr>
        <p:spPr>
          <a:xfrm>
            <a:off x="1635693" y="1428583"/>
            <a:ext cx="8014955" cy="101934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indent="0" algn="l" defTabSz="914400" rtl="0" eaLnBrk="1" latinLnBrk="0" hangingPunct="1">
              <a:lnSpc>
                <a:spcPts val="8064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7200" b="1" i="0" u="none" strike="noStrike" kern="1200" cap="none" spc="-359" normalizeH="0" baseline="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러너</a:t>
            </a:r>
            <a:r>
              <a:rPr kumimoji="0" lang="en-US" altLang="ko-KR" sz="7200" b="1" i="0" u="none" strike="noStrike" kern="1200" cap="none" spc="-359" normalizeH="0" baseline="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-</a:t>
            </a:r>
            <a:r>
              <a:rPr kumimoji="0" lang="ko-KR" altLang="en-US" sz="7200" b="1" i="0" u="none" strike="noStrike" kern="1200" cap="none" spc="-359" normalizeH="0" baseline="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기획 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1714824" y="1121483"/>
            <a:ext cx="4211394" cy="29774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indent="0" algn="l" defTabSz="914400" rtl="0" eaLnBrk="1" latinLnBrk="0" hangingPunct="1">
              <a:lnSpc>
                <a:spcPts val="2352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2100" b="1" i="0" u="none" strike="noStrike" kern="1200" cap="none" spc="0" normalizeH="0" baseline="0">
                <a:solidFill>
                  <a:srgbClr val="737373"/>
                </a:solidFill>
                <a:latin typeface="Heebo Bold"/>
                <a:ea typeface="Heebo Bold"/>
                <a:cs typeface="Heebo Bold"/>
                <a:sym typeface="Heebo Bold"/>
              </a:rPr>
              <a:t>Runner</a:t>
            </a:r>
            <a:endParaRPr kumimoji="0" lang="ko-KR" altLang="en-US" sz="2100" b="1" i="0" u="none" strike="noStrike" kern="1200" cap="none" spc="0" normalizeH="0" baseline="0">
              <a:solidFill>
                <a:srgbClr val="737373"/>
              </a:solidFill>
              <a:latin typeface="Heebo Bold"/>
              <a:ea typeface="Heebo Bold"/>
              <a:cs typeface="Heebo Bold"/>
              <a:sym typeface="Heebo Bold"/>
            </a:endParaRP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248400" y="6438900"/>
            <a:ext cx="990600" cy="990600"/>
          </a:xfrm>
          <a:prstGeom prst="rect">
            <a:avLst/>
          </a:prstGeom>
        </p:spPr>
      </p:pic>
      <p:grpSp>
        <p:nvGrpSpPr>
          <p:cNvPr id="23" name="그룹 22"/>
          <p:cNvGrpSpPr/>
          <p:nvPr/>
        </p:nvGrpSpPr>
        <p:grpSpPr>
          <a:xfrm>
            <a:off x="1905000" y="2705100"/>
            <a:ext cx="8077200" cy="1350645"/>
            <a:chOff x="1905000" y="2705100"/>
            <a:chExt cx="8077200" cy="1350645"/>
          </a:xfrm>
        </p:grpSpPr>
        <p:sp>
          <p:nvSpPr>
            <p:cNvPr id="15" name="TextBox 14"/>
            <p:cNvSpPr txBox="1"/>
            <p:nvPr/>
          </p:nvSpPr>
          <p:spPr>
            <a:xfrm>
              <a:off x="1905000" y="3009900"/>
              <a:ext cx="8077200" cy="104584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99880" indent="-299880">
                <a:buClr>
                  <a:schemeClr val="tx1"/>
                </a:buClr>
                <a:buFont typeface="Wingdings"/>
                <a:buChar char="ü"/>
                <a:defRPr/>
              </a:pPr>
              <a:r>
                <a:rPr lang="ko-KR" altLang="en-US" sz="2100">
                  <a:latin typeface="나눔스퀘어 Bold"/>
                  <a:ea typeface="나눔스퀘어 Bold"/>
                </a:rPr>
                <a:t>진행 중에 부딛힐 장애물 필요</a:t>
              </a:r>
            </a:p>
            <a:p>
              <a:pPr marL="299880" indent="-299880">
                <a:buClr>
                  <a:schemeClr val="tx1"/>
                </a:buClr>
                <a:buFont typeface="Wingdings"/>
                <a:buChar char="ü"/>
                <a:defRPr/>
              </a:pPr>
              <a:r>
                <a:rPr lang="ko-KR" altLang="en-US" sz="2100">
                  <a:latin typeface="나눔스퀘어 Bold"/>
                  <a:ea typeface="나눔스퀘어 Bold"/>
                </a:rPr>
                <a:t>점프 뿐만 아니라 슬라이딩</a:t>
              </a:r>
              <a:r>
                <a:rPr lang="en-US" altLang="ko-KR" sz="2100">
                  <a:latin typeface="나눔스퀘어 Bold"/>
                  <a:ea typeface="나눔스퀘어 Bold"/>
                </a:rPr>
                <a:t>,</a:t>
              </a:r>
              <a:r>
                <a:rPr lang="ko-KR" altLang="en-US" sz="2100">
                  <a:latin typeface="나눔스퀘어 Bold"/>
                  <a:ea typeface="나눔스퀘어 Bold"/>
                </a:rPr>
                <a:t> 급강하 구현</a:t>
              </a:r>
            </a:p>
            <a:p>
              <a:pPr marL="299880" indent="-299880">
                <a:buClr>
                  <a:schemeClr val="tx1"/>
                </a:buClr>
                <a:buFont typeface="Wingdings"/>
                <a:buChar char="ü"/>
                <a:defRPr/>
              </a:pPr>
              <a:r>
                <a:rPr lang="ko-KR" altLang="en-US" sz="2100">
                  <a:latin typeface="나눔스퀘어 Bold"/>
                  <a:ea typeface="나눔스퀘어 Bold"/>
                </a:rPr>
                <a:t>주인공</a:t>
              </a:r>
              <a:r>
                <a:rPr lang="en-US" altLang="ko-KR" sz="2100">
                  <a:latin typeface="나눔스퀘어 Bold"/>
                  <a:ea typeface="나눔스퀘어 Bold"/>
                </a:rPr>
                <a:t>/</a:t>
              </a:r>
              <a:r>
                <a:rPr lang="ko-KR" altLang="en-US" sz="2100">
                  <a:latin typeface="나눔스퀘어 Bold"/>
                  <a:ea typeface="나눔스퀘어 Bold"/>
                </a:rPr>
                <a:t>장애물</a:t>
              </a:r>
              <a:r>
                <a:rPr lang="en-US" altLang="ko-KR" sz="2100">
                  <a:latin typeface="나눔스퀘어 Bold"/>
                  <a:ea typeface="나눔스퀘어 Bold"/>
                </a:rPr>
                <a:t>/</a:t>
              </a:r>
              <a:r>
                <a:rPr lang="ko-KR" altLang="en-US" sz="2100">
                  <a:latin typeface="나눔스퀘어 Bold"/>
                  <a:ea typeface="나눔스퀘어 Bold"/>
                </a:rPr>
                <a:t>배경 이미지</a:t>
              </a:r>
              <a:r>
                <a:rPr lang="en-US" altLang="ko-KR" sz="2100">
                  <a:latin typeface="나눔스퀘어 Bold"/>
                  <a:ea typeface="나눔스퀘어 Bold"/>
                </a:rPr>
                <a:t>,</a:t>
              </a:r>
              <a:r>
                <a:rPr lang="ko-KR" altLang="en-US" sz="2100">
                  <a:latin typeface="나눔스퀘어 Bold"/>
                  <a:ea typeface="나눔스퀘어 Bold"/>
                </a:rPr>
                <a:t> 배경음악</a:t>
              </a:r>
              <a:r>
                <a:rPr lang="en-US" altLang="ko-KR" sz="2100">
                  <a:latin typeface="나눔스퀘어 Bold"/>
                  <a:ea typeface="나눔스퀘어 Bold"/>
                </a:rPr>
                <a:t>,</a:t>
              </a:r>
              <a:r>
                <a:rPr lang="ko-KR" altLang="en-US" sz="2100">
                  <a:latin typeface="나눔스퀘어 Bold"/>
                  <a:ea typeface="나눔스퀘어 Bold"/>
                </a:rPr>
                <a:t> 효과음 필요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905000" y="2705100"/>
              <a:ext cx="1143000" cy="367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>
                  <a:latin typeface="하늘보리체"/>
                  <a:ea typeface="하늘보리체"/>
                </a:rPr>
                <a:t>초반</a:t>
              </a:r>
            </a:p>
          </p:txBody>
        </p:sp>
        <p:cxnSp>
          <p:nvCxnSpPr>
            <p:cNvPr id="22" name="직선 연결선 21"/>
            <p:cNvCxnSpPr/>
            <p:nvPr/>
          </p:nvCxnSpPr>
          <p:spPr>
            <a:xfrm>
              <a:off x="2438400" y="2857500"/>
              <a:ext cx="5203325" cy="0"/>
            </a:xfrm>
            <a:prstGeom prst="line">
              <a:avLst/>
            </a:prstGeom>
            <a:ln>
              <a:solidFill>
                <a:schemeClr val="dk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그룹 23"/>
          <p:cNvGrpSpPr/>
          <p:nvPr/>
        </p:nvGrpSpPr>
        <p:grpSpPr>
          <a:xfrm>
            <a:off x="1905000" y="4152900"/>
            <a:ext cx="8077200" cy="1664970"/>
            <a:chOff x="1905000" y="2705100"/>
            <a:chExt cx="8077200" cy="1664970"/>
          </a:xfrm>
        </p:grpSpPr>
        <p:sp>
          <p:nvSpPr>
            <p:cNvPr id="25" name="TextBox 24"/>
            <p:cNvSpPr txBox="1"/>
            <p:nvPr/>
          </p:nvSpPr>
          <p:spPr>
            <a:xfrm>
              <a:off x="1905000" y="3009900"/>
              <a:ext cx="8077200" cy="13601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99880" indent="-299880" algn="l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>
                  <a:schemeClr val="tx1"/>
                </a:buClr>
                <a:buFont typeface="Wingdings"/>
                <a:buChar char="ü"/>
                <a:defRPr/>
              </a:pPr>
              <a:r>
                <a:rPr kumimoji="0" lang="ko-KR" altLang="en-US" sz="2100" b="0" i="0" u="none" strike="noStrike" kern="1200" cap="none" spc="0" normalizeH="0" baseline="0">
                  <a:solidFill>
                    <a:srgbClr val="000000"/>
                  </a:solidFill>
                  <a:latin typeface="나눔스퀘어 Bold"/>
                  <a:ea typeface="나눔스퀘어 Bold"/>
                </a:rPr>
                <a:t>점수 대신 레벨업 시스템 구현</a:t>
              </a:r>
            </a:p>
            <a:p>
              <a:pPr marL="299880" indent="-299880" algn="l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>
                  <a:schemeClr val="tx1"/>
                </a:buClr>
                <a:buFont typeface="Wingdings"/>
                <a:buChar char="ü"/>
                <a:defRPr/>
              </a:pPr>
              <a:r>
                <a:rPr kumimoji="0" lang="ko-KR" altLang="en-US" sz="2100" b="0" i="0" u="none" strike="noStrike" kern="1200" cap="none" spc="0" normalizeH="0" baseline="0">
                  <a:solidFill>
                    <a:srgbClr val="000000"/>
                  </a:solidFill>
                  <a:latin typeface="나눔스퀘어 Bold"/>
                  <a:ea typeface="나눔스퀘어 Bold"/>
                </a:rPr>
                <a:t>추가 장애물 미사일과 러너 속도 점진적 증가 </a:t>
              </a:r>
            </a:p>
            <a:p>
              <a:pPr marL="299880" indent="-299880" algn="l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>
                  <a:schemeClr val="tx1"/>
                </a:buClr>
                <a:buFont typeface="Wingdings"/>
                <a:buChar char="ü"/>
                <a:defRPr/>
              </a:pPr>
              <a:r>
                <a:rPr kumimoji="0" lang="ko-KR" altLang="en-US" sz="2100" b="0" i="0" u="none" strike="noStrike" kern="1200" cap="none" spc="0" normalizeH="0" baseline="0">
                  <a:solidFill>
                    <a:srgbClr val="000000"/>
                  </a:solidFill>
                  <a:latin typeface="나눔스퀘어 Bold"/>
                  <a:ea typeface="나눔스퀘어 Bold"/>
                </a:rPr>
                <a:t>배경 이미지가 움직이지 않는걸 방지하기 위해 반복되는 이미지로 교체</a:t>
              </a:r>
            </a:p>
            <a:p>
              <a:pPr marL="299880" indent="-299880" algn="l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>
                  <a:schemeClr val="tx1"/>
                </a:buClr>
                <a:buFont typeface="Wingdings"/>
                <a:buChar char="ü"/>
                <a:defRPr/>
              </a:pPr>
              <a:r>
                <a:rPr kumimoji="0" lang="ko-KR" altLang="en-US" sz="2100" b="0" i="0" u="none" strike="noStrike" kern="1200" cap="none" spc="0" normalizeH="0" baseline="0">
                  <a:solidFill>
                    <a:srgbClr val="000000"/>
                  </a:solidFill>
                  <a:latin typeface="나눔스퀘어 Bold"/>
                  <a:ea typeface="나눔스퀘어 Bold"/>
                </a:rPr>
                <a:t>목숨 </a:t>
              </a:r>
              <a:r>
                <a:rPr kumimoji="0" lang="en-US" altLang="ko-KR" sz="2100" b="0" i="0" u="none" strike="noStrike" kern="1200" cap="none" spc="0" normalizeH="0" baseline="0">
                  <a:solidFill>
                    <a:srgbClr val="000000"/>
                  </a:solidFill>
                  <a:latin typeface="나눔스퀘어 Bold"/>
                  <a:ea typeface="나눔스퀘어 Bold"/>
                </a:rPr>
                <a:t>3</a:t>
              </a:r>
              <a:r>
                <a:rPr kumimoji="0" lang="ko-KR" altLang="en-US" sz="2100" b="0" i="0" u="none" strike="noStrike" kern="1200" cap="none" spc="0" normalizeH="0" baseline="0">
                  <a:solidFill>
                    <a:srgbClr val="000000"/>
                  </a:solidFill>
                  <a:latin typeface="나눔스퀘어 Bold"/>
                  <a:ea typeface="나눔스퀘어 Bold"/>
                </a:rPr>
                <a:t>개 구현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905000" y="2705100"/>
              <a:ext cx="1143000" cy="367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indent="0" algn="l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r>
                <a:rPr kumimoji="0" lang="ko-KR" altLang="en-US" sz="1800" b="0" i="0" u="none" strike="noStrike" kern="1200" cap="none" spc="0" normalizeH="0" baseline="0">
                  <a:solidFill>
                    <a:srgbClr val="000000"/>
                  </a:solidFill>
                  <a:latin typeface="하늘보리체"/>
                  <a:ea typeface="하늘보리체"/>
                </a:rPr>
                <a:t>중반</a:t>
              </a:r>
            </a:p>
          </p:txBody>
        </p:sp>
        <p:cxnSp>
          <p:nvCxnSpPr>
            <p:cNvPr id="27" name="직선 연결선 26"/>
            <p:cNvCxnSpPr/>
            <p:nvPr/>
          </p:nvCxnSpPr>
          <p:spPr>
            <a:xfrm>
              <a:off x="2438400" y="2857500"/>
              <a:ext cx="5203325" cy="0"/>
            </a:xfrm>
            <a:prstGeom prst="line">
              <a:avLst/>
            </a:prstGeom>
            <a:noFill/>
            <a:ln w="9525" cap="flat" cmpd="sng" algn="ctr">
              <a:solidFill>
                <a:srgbClr val="000000">
                  <a:alpha val="100000"/>
                </a:srgbClr>
              </a:solidFill>
              <a:prstDash val="solid"/>
            </a:ln>
          </p:spPr>
        </p:cxnSp>
      </p:grpSp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778790" y="1943100"/>
            <a:ext cx="1651210" cy="2895600"/>
          </a:xfrm>
          <a:prstGeom prst="rect">
            <a:avLst/>
          </a:prstGeom>
          <a:effectLst>
            <a:outerShdw blurRad="76200" dist="76200" dir="2700000" algn="ctr" rotWithShape="0">
              <a:srgbClr val="000000">
                <a:alpha val="50000"/>
              </a:srgbClr>
            </a:outerShdw>
          </a:effectLst>
        </p:spPr>
      </p:pic>
      <p:pic>
        <p:nvPicPr>
          <p:cNvPr id="33" name="그림 32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658600" y="1595526"/>
            <a:ext cx="4572000" cy="7095949"/>
          </a:xfrm>
          <a:prstGeom prst="rect">
            <a:avLst/>
          </a:prstGeom>
          <a:effectLst>
            <a:outerShdw blurRad="76200" dist="76200" dir="2700000" algn="ctr" rotWithShape="0">
              <a:srgbClr val="000000">
                <a:alpha val="50000"/>
              </a:srgbClr>
            </a:outerShdw>
          </a:effectLst>
        </p:spPr>
      </p:pic>
      <p:grpSp>
        <p:nvGrpSpPr>
          <p:cNvPr id="34" name="그룹 33"/>
          <p:cNvGrpSpPr/>
          <p:nvPr/>
        </p:nvGrpSpPr>
        <p:grpSpPr>
          <a:xfrm>
            <a:off x="1904999" y="6099810"/>
            <a:ext cx="8077200" cy="1024890"/>
            <a:chOff x="1905000" y="2705100"/>
            <a:chExt cx="8077200" cy="1024890"/>
          </a:xfrm>
        </p:grpSpPr>
        <p:sp>
          <p:nvSpPr>
            <p:cNvPr id="35" name="TextBox 34"/>
            <p:cNvSpPr txBox="1"/>
            <p:nvPr/>
          </p:nvSpPr>
          <p:spPr>
            <a:xfrm>
              <a:off x="1905000" y="3009900"/>
              <a:ext cx="8077200" cy="72009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99880" indent="-299880" algn="l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>
                  <a:schemeClr val="tx1"/>
                </a:buClr>
                <a:buFont typeface="Wingdings"/>
                <a:buChar char="ü"/>
                <a:defRPr/>
              </a:pPr>
              <a:r>
                <a:rPr kumimoji="0" lang="ko-KR" altLang="en-US" sz="2100" b="0" i="0" u="none" strike="noStrike" kern="1200" cap="none" spc="0" normalizeH="0" baseline="0">
                  <a:solidFill>
                    <a:srgbClr val="000000"/>
                  </a:solidFill>
                  <a:latin typeface="나눔스퀘어 Bold"/>
                  <a:ea typeface="나눔스퀘어 Bold"/>
                </a:rPr>
                <a:t>카드를 고른 후 카운트 다운 적용</a:t>
              </a:r>
            </a:p>
            <a:p>
              <a:pPr marL="299880" indent="-299880" algn="l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>
                  <a:schemeClr val="tx1"/>
                </a:buClr>
                <a:buFont typeface="Wingdings"/>
                <a:buChar char="ü"/>
                <a:defRPr/>
              </a:pPr>
              <a:r>
                <a:rPr kumimoji="0" lang="ko-KR" altLang="en-US" sz="2100" b="0" i="0" u="none" strike="noStrike" kern="1200" cap="none" spc="0" normalizeH="0" baseline="0">
                  <a:solidFill>
                    <a:srgbClr val="000000"/>
                  </a:solidFill>
                  <a:latin typeface="나눔스퀘어 Bold"/>
                  <a:ea typeface="나눔스퀘어 Bold"/>
                </a:rPr>
                <a:t>버그픽스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905000" y="2705100"/>
              <a:ext cx="1143000" cy="3581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indent="0" algn="l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r>
                <a:rPr kumimoji="0" lang="ko-KR" altLang="en-US" sz="1800" b="0" i="0" u="none" strike="noStrike" kern="1200" cap="none" spc="0" normalizeH="0" baseline="0">
                  <a:solidFill>
                    <a:srgbClr val="000000"/>
                  </a:solidFill>
                  <a:latin typeface="하늘보리체"/>
                  <a:ea typeface="하늘보리체"/>
                </a:rPr>
                <a:t>후반</a:t>
              </a:r>
            </a:p>
          </p:txBody>
        </p:sp>
        <p:cxnSp>
          <p:nvCxnSpPr>
            <p:cNvPr id="37" name="직선 연결선 36"/>
            <p:cNvCxnSpPr/>
            <p:nvPr/>
          </p:nvCxnSpPr>
          <p:spPr>
            <a:xfrm>
              <a:off x="2438400" y="2857500"/>
              <a:ext cx="5203325" cy="0"/>
            </a:xfrm>
            <a:prstGeom prst="line">
              <a:avLst/>
            </a:prstGeom>
            <a:noFill/>
            <a:ln w="9525" cap="flat" cmpd="sng" algn="ctr">
              <a:solidFill>
                <a:srgbClr val="000000">
                  <a:alpha val="100000"/>
                </a:srgbClr>
              </a:solidFill>
              <a:prstDash val="solid"/>
            </a:ln>
          </p:spPr>
        </p:cxnSp>
      </p:grpSp>
      <p:cxnSp>
        <p:nvCxnSpPr>
          <p:cNvPr id="41" name="연결선: 구부러짐 40"/>
          <p:cNvCxnSpPr>
            <a:endCxn id="28" idx="2"/>
          </p:cNvCxnSpPr>
          <p:nvPr/>
        </p:nvCxnSpPr>
        <p:spPr>
          <a:xfrm flipV="1">
            <a:off x="9982200" y="4838700"/>
            <a:ext cx="622195" cy="609600"/>
          </a:xfrm>
          <a:prstGeom prst="curvedConnector2">
            <a:avLst/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/>
          <p:cNvSpPr/>
          <p:nvPr/>
        </p:nvSpPr>
        <p:spPr>
          <a:xfrm>
            <a:off x="9532620" y="1322070"/>
            <a:ext cx="2049780" cy="6210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하늘보리체"/>
                <a:ea typeface="하늘보리체"/>
              </a:rPr>
              <a:t> </a:t>
            </a:r>
            <a:r>
              <a:rPr lang="en-US" altLang="ko-KR" sz="1700" b="0" i="0" strike="noStrike">
                <a:solidFill>
                  <a:srgbClr val="000000">
                    <a:alpha val="100000"/>
                  </a:srgbClr>
                </a:solidFill>
                <a:latin typeface="하늘보리체"/>
                <a:ea typeface="하늘보리체"/>
              </a:rPr>
              <a:t>FlappyBird</a:t>
            </a:r>
            <a:r>
              <a:rPr lang="ko-KR" altLang="en-US" sz="1700" b="0" i="0" strike="noStrike">
                <a:solidFill>
                  <a:srgbClr val="000000">
                    <a:alpha val="100000"/>
                  </a:srgbClr>
                </a:solidFill>
                <a:latin typeface="하늘보리체"/>
                <a:ea typeface="하늘보리체"/>
              </a:rPr>
              <a:t>에서 영감을 받음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35693" y="632336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635693" y="9654664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Box 5"/>
          <p:cNvSpPr txBox="1"/>
          <p:nvPr/>
        </p:nvSpPr>
        <p:spPr>
          <a:xfrm>
            <a:off x="1635693" y="1428583"/>
            <a:ext cx="8014955" cy="101934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8064"/>
              </a:lnSpc>
              <a:defRPr/>
            </a:pPr>
            <a:r>
              <a:rPr lang="ko-KR" altLang="en-US" sz="7200" b="1" spc="-359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챌린지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14824" y="1121483"/>
            <a:ext cx="4211394" cy="29774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2352"/>
              </a:lnSpc>
              <a:defRPr/>
            </a:pPr>
            <a:r>
              <a:rPr lang="en-US" altLang="ko-KR" sz="2100" b="1">
                <a:solidFill>
                  <a:srgbClr val="737373"/>
                </a:solidFill>
                <a:latin typeface="Heebo Bold"/>
                <a:ea typeface="Heebo Bold"/>
                <a:cs typeface="Heebo Bold"/>
                <a:sym typeface="Heebo Bold"/>
              </a:rPr>
              <a:t>C</a:t>
            </a:r>
            <a:r>
              <a:rPr lang="ko-KR" altLang="en-US" sz="2100" b="1">
                <a:solidFill>
                  <a:srgbClr val="737373"/>
                </a:solidFill>
                <a:latin typeface="Heebo Bold"/>
                <a:ea typeface="Heebo Bold"/>
                <a:cs typeface="Heebo Bold"/>
                <a:sym typeface="Heebo Bold"/>
              </a:rPr>
              <a:t>hallenge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608699" y="1219200"/>
            <a:ext cx="6926701" cy="784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52600" y="2868929"/>
            <a:ext cx="7620000" cy="720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2100" b="0" i="0" u="none" strike="noStrike" kern="1200" cap="none" spc="0" normalizeH="0" baseline="0">
                <a:solidFill>
                  <a:srgbClr val="000000"/>
                </a:solidFill>
                <a:latin typeface="나눔스퀘어 Bold"/>
                <a:ea typeface="나눔스퀘어 Bold"/>
              </a:rPr>
              <a:t>3</a:t>
            </a:r>
            <a:r>
              <a:rPr kumimoji="0" lang="ko-KR" altLang="en-US" sz="2100" b="0" i="0" u="none" strike="noStrike" kern="1200" cap="none" spc="0" normalizeH="0" baseline="0">
                <a:solidFill>
                  <a:srgbClr val="000000"/>
                </a:solidFill>
                <a:latin typeface="나눔스퀘어 Bold"/>
                <a:ea typeface="나눔스퀘어 Bold"/>
              </a:rPr>
              <a:t>개의 게임을 병합한 메인 게임</a:t>
            </a:r>
          </a:p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2100" b="0" i="0" u="none" strike="noStrike" kern="1200" cap="none" spc="0" normalizeH="0" baseline="0">
              <a:solidFill>
                <a:srgbClr val="000000"/>
              </a:solidFill>
              <a:latin typeface="나눔스퀘어 Bold"/>
              <a:ea typeface="나눔스퀘어 Bold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144000" y="5143500"/>
            <a:ext cx="0" cy="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296400" y="5295900"/>
            <a:ext cx="0" cy="0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448800" y="5448300"/>
            <a:ext cx="0" cy="0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3124200" y="3619500"/>
            <a:ext cx="6220275" cy="3048000"/>
          </a:xfrm>
          <a:prstGeom prst="rect">
            <a:avLst/>
          </a:prstGeom>
          <a:solidFill>
            <a:schemeClr val="dk1"/>
          </a:solidFill>
          <a:ln>
            <a:solidFill>
              <a:schemeClr val="dk1"/>
            </a:solidFill>
          </a:ln>
          <a:effectLst>
            <a:outerShdw blurRad="76200" dist="76200" dir="2700000" algn="ctr" rotWithShape="0">
              <a:srgbClr val="000000">
                <a:alpha val="50000"/>
              </a:srgbClr>
            </a:outerShdw>
          </a:effectLst>
        </p:spPr>
      </p:pic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066800" y="3861847"/>
            <a:ext cx="2954957" cy="4482052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  <a:effectLst>
            <a:outerShdw blurRad="76200" dist="76200" dir="2700000" algn="ctr" rotWithShape="0">
              <a:srgbClr val="000000">
                <a:alpha val="50000"/>
              </a:srgbClr>
            </a:outerShdw>
          </a:effectLst>
        </p:spPr>
      </p:pic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3581400" y="5829300"/>
            <a:ext cx="2209800" cy="3429708"/>
          </a:xfrm>
          <a:prstGeom prst="rect">
            <a:avLst/>
          </a:prstGeom>
          <a:ln>
            <a:solidFill>
              <a:schemeClr val="dk1"/>
            </a:solidFill>
          </a:ln>
          <a:effectLst>
            <a:outerShdw blurRad="76200" dist="76200" dir="2700000" algn="ct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5F77B-4894-FE2F-8D1D-3021070F5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50A9F34-41A9-2A15-D6EB-C8DC2DCF4E15}"/>
              </a:ext>
            </a:extLst>
          </p:cNvPr>
          <p:cNvSpPr/>
          <p:nvPr/>
        </p:nvSpPr>
        <p:spPr>
          <a:xfrm>
            <a:off x="1635693" y="632336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7399F8B-8205-1B22-DB4F-10154E358719}"/>
              </a:ext>
            </a:extLst>
          </p:cNvPr>
          <p:cNvSpPr/>
          <p:nvPr/>
        </p:nvSpPr>
        <p:spPr>
          <a:xfrm>
            <a:off x="1635693" y="9654664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67108A8-9066-36F6-06E5-D090E2A8D6F5}"/>
              </a:ext>
            </a:extLst>
          </p:cNvPr>
          <p:cNvSpPr txBox="1"/>
          <p:nvPr/>
        </p:nvSpPr>
        <p:spPr>
          <a:xfrm>
            <a:off x="1635693" y="1428583"/>
            <a:ext cx="8014955" cy="101934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8064"/>
              </a:lnSpc>
              <a:defRPr/>
            </a:pPr>
            <a:r>
              <a:rPr lang="ko-KR" altLang="en-US" sz="7200" b="1" spc="-359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게임 시연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972E1E7-5053-0583-2F06-21CD84690137}"/>
              </a:ext>
            </a:extLst>
          </p:cNvPr>
          <p:cNvSpPr txBox="1"/>
          <p:nvPr/>
        </p:nvSpPr>
        <p:spPr>
          <a:xfrm>
            <a:off x="1714824" y="1121483"/>
            <a:ext cx="4211394" cy="29774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2352"/>
              </a:lnSpc>
              <a:defRPr/>
            </a:pPr>
            <a:endParaRPr lang="ko-KR" altLang="en-US" sz="2100" b="1">
              <a:solidFill>
                <a:srgbClr val="737373"/>
              </a:solidFill>
              <a:latin typeface="Heebo Bold"/>
              <a:ea typeface="Heebo Bold"/>
              <a:cs typeface="Heebo Bold"/>
              <a:sym typeface="Heebo Bold"/>
            </a:endParaRPr>
          </a:p>
        </p:txBody>
      </p:sp>
    </p:spTree>
    <p:extLst>
      <p:ext uri="{BB962C8B-B14F-4D97-AF65-F5344CB8AC3E}">
        <p14:creationId xmlns:p14="http://schemas.microsoft.com/office/powerpoint/2010/main" val="1047830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57FD2-1893-AF1B-72D7-C6F4CC312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ABF0078-4864-4ABE-3160-5B1E4A973D15}"/>
              </a:ext>
            </a:extLst>
          </p:cNvPr>
          <p:cNvSpPr/>
          <p:nvPr/>
        </p:nvSpPr>
        <p:spPr>
          <a:xfrm>
            <a:off x="1635693" y="632336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74300F1E-19C3-1E4E-F439-160477D8416F}"/>
              </a:ext>
            </a:extLst>
          </p:cNvPr>
          <p:cNvSpPr/>
          <p:nvPr/>
        </p:nvSpPr>
        <p:spPr>
          <a:xfrm>
            <a:off x="1635693" y="9654664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8A9FF1B-6B29-5BE4-B7D2-D1DEA81C8A8C}"/>
              </a:ext>
            </a:extLst>
          </p:cNvPr>
          <p:cNvSpPr txBox="1"/>
          <p:nvPr/>
        </p:nvSpPr>
        <p:spPr>
          <a:xfrm>
            <a:off x="1635693" y="1428583"/>
            <a:ext cx="8014955" cy="103874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8064"/>
              </a:lnSpc>
              <a:defRPr/>
            </a:pPr>
            <a:r>
              <a:rPr lang="ko-KR" altLang="en-US" sz="7200" b="1" spc="-359" dirty="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점수 </a:t>
            </a:r>
            <a:r>
              <a:rPr lang="en-US" altLang="ko-KR" sz="7200" b="1" spc="-359" dirty="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: 7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35DD4BE-99A5-4259-07E2-0C468474E200}"/>
              </a:ext>
            </a:extLst>
          </p:cNvPr>
          <p:cNvSpPr txBox="1"/>
          <p:nvPr/>
        </p:nvSpPr>
        <p:spPr>
          <a:xfrm>
            <a:off x="1714824" y="1121483"/>
            <a:ext cx="4211394" cy="29774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2352"/>
              </a:lnSpc>
              <a:defRPr/>
            </a:pPr>
            <a:endParaRPr lang="ko-KR" altLang="en-US" sz="2100" b="1">
              <a:solidFill>
                <a:srgbClr val="737373"/>
              </a:solidFill>
              <a:latin typeface="Heebo Bold"/>
              <a:ea typeface="Heebo Bold"/>
              <a:cs typeface="Heebo Bold"/>
              <a:sym typeface="Heebo 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3B4641-BA7E-21DF-CF9C-987C8B1E0D1F}"/>
              </a:ext>
            </a:extLst>
          </p:cNvPr>
          <p:cNvSpPr txBox="1"/>
          <p:nvPr/>
        </p:nvSpPr>
        <p:spPr>
          <a:xfrm>
            <a:off x="1828800" y="3238500"/>
            <a:ext cx="14325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/>
              <a:t>사유 </a:t>
            </a:r>
            <a:r>
              <a:rPr lang="en-US" altLang="ko-KR" sz="3600" dirty="0"/>
              <a:t>: </a:t>
            </a:r>
            <a:r>
              <a:rPr lang="ko-KR" altLang="en-US" sz="3600" dirty="0"/>
              <a:t>업그레이드가 중점인 과제인 만큼</a:t>
            </a:r>
            <a:r>
              <a:rPr lang="en-US" altLang="ko-KR" sz="3600" dirty="0"/>
              <a:t> </a:t>
            </a:r>
            <a:r>
              <a:rPr lang="ko-KR" altLang="en-US" sz="3600" dirty="0"/>
              <a:t>기초 소스에서 </a:t>
            </a:r>
            <a:r>
              <a:rPr lang="en-US" altLang="ko-KR" sz="3600" dirty="0"/>
              <a:t>	 	</a:t>
            </a:r>
            <a:r>
              <a:rPr lang="ko-KR" altLang="en-US" sz="3600" dirty="0"/>
              <a:t>업그레이드를 충실히 이행했고</a:t>
            </a:r>
            <a:r>
              <a:rPr lang="en-US" altLang="ko-KR" sz="3600" dirty="0"/>
              <a:t> </a:t>
            </a:r>
            <a:r>
              <a:rPr lang="ko-KR" altLang="en-US" sz="3600" dirty="0"/>
              <a:t>처음에 만들고자 한 의도에서 </a:t>
            </a:r>
            <a:r>
              <a:rPr lang="en-US" altLang="ko-KR" sz="3600" dirty="0"/>
              <a:t>	</a:t>
            </a:r>
            <a:r>
              <a:rPr lang="ko-KR" altLang="en-US" sz="3600" dirty="0"/>
              <a:t>벗어나지 않고</a:t>
            </a:r>
            <a:r>
              <a:rPr lang="en-US" altLang="ko-KR" sz="3600" dirty="0"/>
              <a:t> </a:t>
            </a:r>
            <a:r>
              <a:rPr lang="ko-KR" altLang="en-US" sz="3600" dirty="0"/>
              <a:t>제대로 만들었기 때문에 </a:t>
            </a:r>
            <a:r>
              <a:rPr lang="en-US" altLang="ko-KR" sz="3600" dirty="0"/>
              <a:t>7</a:t>
            </a:r>
            <a:r>
              <a:rPr lang="ko-KR" altLang="en-US" sz="3600" dirty="0"/>
              <a:t>점을 생각합니다</a:t>
            </a:r>
            <a:r>
              <a:rPr lang="en-US" altLang="ko-KR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03734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881</Words>
  <Application>Microsoft Office PowerPoint</Application>
  <PresentationFormat>사용자 지정</PresentationFormat>
  <Paragraphs>152</Paragraphs>
  <Slides>22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2" baseType="lpstr">
      <vt:lpstr>Nanum Square</vt:lpstr>
      <vt:lpstr>Nanum Square Bold</vt:lpstr>
      <vt:lpstr>나눔스퀘어 Bold</vt:lpstr>
      <vt:lpstr>배달의민족 한나체 Pro</vt:lpstr>
      <vt:lpstr>하늘보리체</vt:lpstr>
      <vt:lpstr>Arial</vt:lpstr>
      <vt:lpstr>Calibri</vt:lpstr>
      <vt:lpstr>Heebo Bold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검정색 단순 심플한 그룹 과제 프레젠테이션</dc:title>
  <dc:creator>박상희</dc:creator>
  <cp:lastModifiedBy>SangHee Park</cp:lastModifiedBy>
  <cp:revision>274</cp:revision>
  <dcterms:created xsi:type="dcterms:W3CDTF">2006-08-16T00:00:00Z</dcterms:created>
  <dcterms:modified xsi:type="dcterms:W3CDTF">2025-11-07T00:38:15Z</dcterms:modified>
  <cp:version/>
</cp:coreProperties>
</file>