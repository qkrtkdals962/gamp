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7" r:id="rId1"/>
  </p:sldMasterIdLst>
  <p:sldIdLst>
    <p:sldId id="261" r:id="rId2"/>
    <p:sldId id="263" r:id="rId3"/>
    <p:sldId id="270" r:id="rId4"/>
    <p:sldId id="257" r:id="rId5"/>
    <p:sldId id="268" r:id="rId6"/>
    <p:sldId id="271" r:id="rId7"/>
    <p:sldId id="272" r:id="rId8"/>
    <p:sldId id="269" r:id="rId9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39">
          <p15:clr>
            <a:srgbClr val="A4A3A4"/>
          </p15:clr>
        </p15:guide>
        <p15:guide id="2" pos="575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:hp="http://schemas.haansoft.com/office/presentation/8.0" xmlns:dsp="http://schemas.microsoft.com/office/drawing/2008/diagram" xmlns:dgm="http://schemas.openxmlformats.org/drawingml/2006/diagram" xmlns:c="http://schemas.openxmlformats.org/drawingml/2006/chart" xmlns="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22" autoAdjust="0"/>
  </p:normalViewPr>
  <p:slideViewPr>
    <p:cSldViewPr>
      <p:cViewPr varScale="1">
        <p:scale>
          <a:sx n="72" d="100"/>
          <a:sy n="72" d="100"/>
        </p:scale>
        <p:origin x="68" y="52"/>
      </p:cViewPr>
      <p:guideLst>
        <p:guide orient="horz" pos="3239"/>
        <p:guide pos="575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635693" y="632336"/>
            <a:ext cx="1501661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" name="AutoShape 3"/>
          <p:cNvSpPr/>
          <p:nvPr/>
        </p:nvSpPr>
        <p:spPr>
          <a:xfrm>
            <a:off x="1635693" y="9654664"/>
            <a:ext cx="1501661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5" name="TextBox 5"/>
          <p:cNvSpPr txBox="1"/>
          <p:nvPr/>
        </p:nvSpPr>
        <p:spPr>
          <a:xfrm>
            <a:off x="2514600" y="2676358"/>
            <a:ext cx="8839200" cy="1019342"/>
          </a:xfrm>
          <a:prstGeom prst="rect">
            <a:avLst/>
          </a:prstGeom>
          <a:ln>
            <a:solidFill>
              <a:schemeClr val="lt1"/>
            </a:solidFill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8064"/>
              </a:lnSpc>
              <a:defRPr/>
            </a:pPr>
            <a:r>
              <a:rPr lang="ko-KR" altLang="en-US" sz="7200" b="1" spc="-359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  게임프로그래밍 발표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590800" y="2400300"/>
            <a:ext cx="7183195" cy="30480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52"/>
              </a:lnSpc>
              <a:defRPr/>
            </a:pPr>
            <a:r>
              <a:rPr lang="ko-KR" altLang="en-US" sz="2100" b="1">
                <a:solidFill>
                  <a:srgbClr val="737373"/>
                </a:solidFill>
                <a:latin typeface="Heebo Bold"/>
                <a:ea typeface="Heebo Bold"/>
                <a:cs typeface="Heebo Bold"/>
                <a:sym typeface="Heebo Bold"/>
              </a:rPr>
              <a:t>     </a:t>
            </a:r>
            <a:r>
              <a:rPr lang="en-US" altLang="ko-KR" sz="2100" b="1">
                <a:solidFill>
                  <a:srgbClr val="737373"/>
                </a:solidFill>
                <a:latin typeface="Heebo Bold"/>
                <a:ea typeface="Heebo Bold"/>
                <a:cs typeface="Heebo Bold"/>
                <a:sym typeface="Heebo Bold"/>
              </a:rPr>
              <a:t>Game Programming Presentation</a:t>
            </a:r>
          </a:p>
        </p:txBody>
      </p:sp>
      <p:sp>
        <p:nvSpPr>
          <p:cNvPr id="9" name="타원 8"/>
          <p:cNvSpPr/>
          <p:nvPr/>
        </p:nvSpPr>
        <p:spPr>
          <a:xfrm>
            <a:off x="2362200" y="3771900"/>
            <a:ext cx="152400" cy="152400"/>
          </a:xfrm>
          <a:prstGeom prst="ellipse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altLang="ko-KR"/>
          </a:p>
        </p:txBody>
      </p:sp>
      <p:cxnSp>
        <p:nvCxnSpPr>
          <p:cNvPr id="11" name="직선 연결선 10"/>
          <p:cNvCxnSpPr>
            <a:stCxn id="9" idx="6"/>
          </p:cNvCxnSpPr>
          <p:nvPr/>
        </p:nvCxnSpPr>
        <p:spPr>
          <a:xfrm>
            <a:off x="2514601" y="3848100"/>
            <a:ext cx="8596946" cy="0"/>
          </a:xfrm>
          <a:prstGeom prst="line">
            <a:avLst/>
          </a:prstGeom>
          <a:ln>
            <a:solidFill>
              <a:schemeClr val="dk1"/>
            </a:solidFill>
          </a:ln>
          <a:effectLst>
            <a:outerShdw blurRad="76200" dist="76200" dir="5400000" algn="ctr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타원 11"/>
          <p:cNvSpPr/>
          <p:nvPr/>
        </p:nvSpPr>
        <p:spPr>
          <a:xfrm>
            <a:off x="11049000" y="3771900"/>
            <a:ext cx="152400" cy="152400"/>
          </a:xfrm>
          <a:prstGeom prst="ellipse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altLang="ko-KR"/>
          </a:p>
        </p:txBody>
      </p:sp>
      <p:sp>
        <p:nvSpPr>
          <p:cNvPr id="13" name="TextBox 10"/>
          <p:cNvSpPr txBox="1"/>
          <p:nvPr/>
        </p:nvSpPr>
        <p:spPr>
          <a:xfrm>
            <a:off x="13411200" y="9105900"/>
            <a:ext cx="4387324" cy="30480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352"/>
              </a:lnSpc>
              <a:defRPr/>
            </a:pPr>
            <a:endParaRPr lang="en-US" altLang="ko-KR" sz="2100" b="1">
              <a:solidFill>
                <a:srgbClr val="737373"/>
              </a:solidFill>
              <a:latin typeface="Heebo Bold"/>
              <a:ea typeface="Heebo Bold"/>
              <a:cs typeface="Heebo Bold"/>
              <a:sym typeface="Heebo Bold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635693" y="632336"/>
            <a:ext cx="1501661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" name="AutoShape 3"/>
          <p:cNvSpPr/>
          <p:nvPr/>
        </p:nvSpPr>
        <p:spPr>
          <a:xfrm>
            <a:off x="1635693" y="9654664"/>
            <a:ext cx="1501661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9" name="TextBox 9"/>
          <p:cNvSpPr txBox="1"/>
          <p:nvPr/>
        </p:nvSpPr>
        <p:spPr>
          <a:xfrm>
            <a:off x="4078981" y="1757250"/>
            <a:ext cx="10130038" cy="102405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ctr">
              <a:lnSpc>
                <a:spcPts val="8064"/>
              </a:lnSpc>
              <a:defRPr/>
            </a:pPr>
            <a:r>
              <a:rPr lang="en-US" sz="7200" b="1" spc="-359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진행 현황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950338" y="1450150"/>
            <a:ext cx="4387325" cy="297561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ctr">
              <a:lnSpc>
                <a:spcPts val="2352"/>
              </a:lnSpc>
              <a:defRPr/>
            </a:pPr>
            <a:r>
              <a:rPr lang="en-US" sz="2100" b="1">
                <a:solidFill>
                  <a:srgbClr val="737373"/>
                </a:solidFill>
                <a:latin typeface="Heebo Bold"/>
                <a:ea typeface="Heebo Bold"/>
                <a:cs typeface="Heebo Bold"/>
                <a:sym typeface="Heebo Bold"/>
              </a:rPr>
              <a:t>PROGRESS STATUS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635693" y="632336"/>
            <a:ext cx="1501661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" name="AutoShape 3"/>
          <p:cNvSpPr/>
          <p:nvPr/>
        </p:nvSpPr>
        <p:spPr>
          <a:xfrm>
            <a:off x="1635693" y="9654664"/>
            <a:ext cx="1501661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7" name="TextBox 7"/>
          <p:cNvSpPr txBox="1"/>
          <p:nvPr/>
        </p:nvSpPr>
        <p:spPr>
          <a:xfrm>
            <a:off x="1714824" y="1121483"/>
            <a:ext cx="4211394" cy="311624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2352"/>
              </a:lnSpc>
              <a:defRPr/>
            </a:pPr>
            <a:r>
              <a:rPr lang="ko-KR" altLang="en-US" sz="2100" b="1" dirty="0">
                <a:solidFill>
                  <a:srgbClr val="737373"/>
                </a:solidFill>
                <a:latin typeface="Heebo Bold"/>
                <a:ea typeface="Heebo Bold"/>
                <a:cs typeface="Heebo Bold"/>
                <a:sym typeface="Heebo Bold"/>
              </a:rPr>
              <a:t>소스코드의 변화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6A29EDA-74F0-7E21-5FB4-BF0F21CD69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1556401"/>
            <a:ext cx="6679746" cy="64008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6E44698F-C80B-87BC-7FDA-02B3B85F09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7975" y="1556401"/>
            <a:ext cx="7461947" cy="6400800"/>
          </a:xfrm>
          <a:prstGeom prst="rect">
            <a:avLst/>
          </a:prstGeom>
        </p:spPr>
      </p:pic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5FA9F28A-C977-E153-D238-71768F059F59}"/>
              </a:ext>
            </a:extLst>
          </p:cNvPr>
          <p:cNvSpPr/>
          <p:nvPr/>
        </p:nvSpPr>
        <p:spPr>
          <a:xfrm>
            <a:off x="8282639" y="4528202"/>
            <a:ext cx="990600" cy="457197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635693" y="632336"/>
            <a:ext cx="1501661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" name="AutoShape 3"/>
          <p:cNvSpPr/>
          <p:nvPr/>
        </p:nvSpPr>
        <p:spPr>
          <a:xfrm>
            <a:off x="1635693" y="9654664"/>
            <a:ext cx="1501661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7" name="TextBox 7"/>
          <p:cNvSpPr txBox="1"/>
          <p:nvPr/>
        </p:nvSpPr>
        <p:spPr>
          <a:xfrm>
            <a:off x="838200" y="959136"/>
            <a:ext cx="4211394" cy="311624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2352"/>
              </a:lnSpc>
              <a:defRPr/>
            </a:pPr>
            <a:r>
              <a:rPr lang="ko-KR" altLang="en-US" sz="2100" b="1" dirty="0">
                <a:latin typeface="Heebo Bold"/>
                <a:ea typeface="Heebo Bold"/>
                <a:cs typeface="Heebo Bold"/>
                <a:sym typeface="Heebo Bold"/>
              </a:rPr>
              <a:t>기존 코드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A0A42FD-773F-5B28-272B-2BE325193A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5186" y="925475"/>
            <a:ext cx="5277121" cy="817922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4B9C82A8-BAEB-C32A-E3B6-E24724AC76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3728" y="925475"/>
            <a:ext cx="5283472" cy="8179220"/>
          </a:xfrm>
          <a:prstGeom prst="rect">
            <a:avLst/>
          </a:prstGeom>
        </p:spPr>
      </p:pic>
      <p:sp>
        <p:nvSpPr>
          <p:cNvPr id="10" name="화살표: 왼쪽 9">
            <a:extLst>
              <a:ext uri="{FF2B5EF4-FFF2-40B4-BE49-F238E27FC236}">
                <a16:creationId xmlns:a16="http://schemas.microsoft.com/office/drawing/2014/main" id="{10FCCADF-18B1-3657-EBC2-708B1AC51317}"/>
              </a:ext>
            </a:extLst>
          </p:cNvPr>
          <p:cNvSpPr/>
          <p:nvPr/>
        </p:nvSpPr>
        <p:spPr>
          <a:xfrm>
            <a:off x="8267700" y="3619500"/>
            <a:ext cx="914400" cy="533399"/>
          </a:xfrm>
          <a:prstGeom prst="lef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화살표: 왼쪽 10">
            <a:extLst>
              <a:ext uri="{FF2B5EF4-FFF2-40B4-BE49-F238E27FC236}">
                <a16:creationId xmlns:a16="http://schemas.microsoft.com/office/drawing/2014/main" id="{2AF8943B-F4C8-1EB4-3101-2E0F53A6D7E4}"/>
              </a:ext>
            </a:extLst>
          </p:cNvPr>
          <p:cNvSpPr/>
          <p:nvPr/>
        </p:nvSpPr>
        <p:spPr>
          <a:xfrm flipH="1">
            <a:off x="10210800" y="5219700"/>
            <a:ext cx="889161" cy="533396"/>
          </a:xfrm>
          <a:prstGeom prst="lef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9C94A44-081D-474E-450E-B4AE5FF06B7A}"/>
              </a:ext>
            </a:extLst>
          </p:cNvPr>
          <p:cNvSpPr txBox="1"/>
          <p:nvPr/>
        </p:nvSpPr>
        <p:spPr>
          <a:xfrm>
            <a:off x="9372600" y="3707368"/>
            <a:ext cx="167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기본화면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5E07AD-927C-AA8D-866F-1FAA6FA7DC1C}"/>
              </a:ext>
            </a:extLst>
          </p:cNvPr>
          <p:cNvSpPr txBox="1"/>
          <p:nvPr/>
        </p:nvSpPr>
        <p:spPr>
          <a:xfrm>
            <a:off x="8686800" y="5301732"/>
            <a:ext cx="167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클릭 후 화면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635693" y="632336"/>
            <a:ext cx="1501661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" name="AutoShape 3"/>
          <p:cNvSpPr/>
          <p:nvPr/>
        </p:nvSpPr>
        <p:spPr>
          <a:xfrm>
            <a:off x="1635693" y="9654664"/>
            <a:ext cx="1501661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7" name="TextBox 7"/>
          <p:cNvSpPr txBox="1"/>
          <p:nvPr/>
        </p:nvSpPr>
        <p:spPr>
          <a:xfrm>
            <a:off x="1714824" y="1121483"/>
            <a:ext cx="4211394" cy="311624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2352"/>
              </a:lnSpc>
              <a:defRPr/>
            </a:pPr>
            <a:r>
              <a:rPr lang="ko-KR" altLang="en-US" sz="2100" b="1" dirty="0">
                <a:solidFill>
                  <a:srgbClr val="737373"/>
                </a:solidFill>
                <a:latin typeface="Heebo Bold"/>
                <a:ea typeface="Heebo Bold"/>
                <a:cs typeface="Heebo Bold"/>
                <a:sym typeface="Heebo Bold"/>
              </a:rPr>
              <a:t>중요 코드 </a:t>
            </a:r>
            <a:r>
              <a:rPr lang="ko-KR" altLang="en-US" sz="2100" b="1" dirty="0" err="1">
                <a:solidFill>
                  <a:srgbClr val="737373"/>
                </a:solidFill>
                <a:latin typeface="Heebo Bold"/>
                <a:ea typeface="Heebo Bold"/>
                <a:cs typeface="Heebo Bold"/>
                <a:sym typeface="Heebo Bold"/>
              </a:rPr>
              <a:t>바뀐점</a:t>
            </a:r>
            <a:endParaRPr lang="ko-KR" altLang="en-US" sz="2100" b="1" dirty="0">
              <a:solidFill>
                <a:srgbClr val="737373"/>
              </a:solidFill>
              <a:latin typeface="Heebo Bold"/>
              <a:ea typeface="Heebo Bold"/>
              <a:cs typeface="Heebo Bold"/>
              <a:sym typeface="Heebo Bold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7F308E-529F-4D42-1C56-DB7486FF3C62}"/>
              </a:ext>
            </a:extLst>
          </p:cNvPr>
          <p:cNvSpPr txBox="1"/>
          <p:nvPr/>
        </p:nvSpPr>
        <p:spPr>
          <a:xfrm>
            <a:off x="1981200" y="1714500"/>
            <a:ext cx="71628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코드에 미니게임을 </a:t>
            </a:r>
            <a:r>
              <a:rPr lang="en-US" altLang="ko-KR" dirty="0"/>
              <a:t>2</a:t>
            </a:r>
            <a:r>
              <a:rPr lang="ko-KR" altLang="en-US" dirty="0" err="1"/>
              <a:t>개추가</a:t>
            </a:r>
            <a:endParaRPr lang="en-US" altLang="ko-KR" dirty="0"/>
          </a:p>
          <a:p>
            <a:pPr marL="800100" lvl="1" indent="-342900">
              <a:buFont typeface="+mj-lt"/>
              <a:buAutoNum type="arabicPeriod"/>
            </a:pPr>
            <a:r>
              <a:rPr lang="ko-KR" altLang="en-US" dirty="0"/>
              <a:t>찌를 </a:t>
            </a:r>
            <a:r>
              <a:rPr lang="ko-KR" altLang="en-US" dirty="0" err="1"/>
              <a:t>던질때</a:t>
            </a:r>
            <a:r>
              <a:rPr lang="ko-KR" altLang="en-US" dirty="0"/>
              <a:t> 미니게임 추가</a:t>
            </a:r>
            <a:r>
              <a:rPr lang="en-US" altLang="ko-KR" dirty="0"/>
              <a:t>(</a:t>
            </a:r>
            <a:r>
              <a:rPr lang="ko-KR" altLang="en-US" dirty="0" err="1"/>
              <a:t>언더테일</a:t>
            </a:r>
            <a:r>
              <a:rPr lang="ko-KR" altLang="en-US" dirty="0"/>
              <a:t> 참고</a:t>
            </a:r>
            <a:r>
              <a:rPr lang="en-US" altLang="ko-KR" dirty="0"/>
              <a:t>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ko-KR" altLang="en-US" dirty="0"/>
              <a:t>바 사이에 목표물이 </a:t>
            </a:r>
            <a:r>
              <a:rPr lang="ko-KR" altLang="en-US" dirty="0" err="1"/>
              <a:t>왔다갔다거리고</a:t>
            </a:r>
            <a:r>
              <a:rPr lang="ko-KR" altLang="en-US" dirty="0"/>
              <a:t> 스페이스바를 이용해 중앙을 </a:t>
            </a:r>
            <a:r>
              <a:rPr lang="ko-KR" altLang="en-US" dirty="0" err="1"/>
              <a:t>마추는</a:t>
            </a:r>
            <a:r>
              <a:rPr lang="ko-KR" altLang="en-US" dirty="0"/>
              <a:t> 게임</a:t>
            </a:r>
            <a:endParaRPr lang="en-US" altLang="ko-KR" dirty="0"/>
          </a:p>
          <a:p>
            <a:pPr marL="800100" lvl="1" indent="-342900">
              <a:buFont typeface="+mj-lt"/>
              <a:buAutoNum type="arabicPeriod"/>
            </a:pPr>
            <a:r>
              <a:rPr lang="ko-KR" altLang="en-US" dirty="0"/>
              <a:t>물고기를 </a:t>
            </a:r>
            <a:r>
              <a:rPr lang="ko-KR" altLang="en-US" dirty="0" err="1"/>
              <a:t>낚을때</a:t>
            </a:r>
            <a:r>
              <a:rPr lang="ko-KR" altLang="en-US" dirty="0"/>
              <a:t> 미니게임 추가</a:t>
            </a:r>
            <a:r>
              <a:rPr lang="en-US" altLang="ko-KR" dirty="0"/>
              <a:t>(</a:t>
            </a:r>
            <a:r>
              <a:rPr lang="ko-KR" altLang="en-US" dirty="0" err="1"/>
              <a:t>스타듀밸리</a:t>
            </a:r>
            <a:r>
              <a:rPr lang="ko-KR" altLang="en-US" dirty="0"/>
              <a:t> 참고</a:t>
            </a:r>
            <a:r>
              <a:rPr lang="en-US" altLang="ko-KR" dirty="0"/>
              <a:t>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ko-KR" altLang="en-US" dirty="0"/>
              <a:t>움직이는 물고기를 마우스 </a:t>
            </a:r>
            <a:r>
              <a:rPr lang="ko-KR" altLang="en-US" dirty="0" err="1"/>
              <a:t>휠을</a:t>
            </a:r>
            <a:r>
              <a:rPr lang="ko-KR" altLang="en-US" dirty="0"/>
              <a:t> 통해 계속 </a:t>
            </a:r>
            <a:r>
              <a:rPr lang="ko-KR" altLang="en-US" dirty="0" err="1"/>
              <a:t>마추어</a:t>
            </a:r>
            <a:r>
              <a:rPr lang="ko-KR" altLang="en-US" dirty="0"/>
              <a:t> 게이지를 </a:t>
            </a:r>
            <a:r>
              <a:rPr lang="ko-KR" altLang="en-US" dirty="0" err="1"/>
              <a:t>누적시켜</a:t>
            </a:r>
            <a:r>
              <a:rPr lang="ko-KR" altLang="en-US" dirty="0"/>
              <a:t> 물고기를 낚음</a:t>
            </a:r>
            <a:endParaRPr lang="en-US" altLang="ko-KR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altLang="ko-KR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42F4F7E2-6794-FBD4-2135-29F62000CC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5978" y="1714500"/>
            <a:ext cx="1886047" cy="6096313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FEDB4515-D427-B7A2-85D9-C122AE43ED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0" y="1333500"/>
            <a:ext cx="5039616" cy="707108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3B985F9-E4C3-1226-B1BA-202F0CCDB7D1}"/>
              </a:ext>
            </a:extLst>
          </p:cNvPr>
          <p:cNvSpPr txBox="1"/>
          <p:nvPr/>
        </p:nvSpPr>
        <p:spPr>
          <a:xfrm>
            <a:off x="1896309" y="7042810"/>
            <a:ext cx="71628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ko-KR" altLang="en-US" dirty="0"/>
              <a:t>물고기의 상하 증폭 증가</a:t>
            </a:r>
            <a:endParaRPr lang="en-US" altLang="ko-KR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dirty="0"/>
              <a:t>물고기의 크기별 </a:t>
            </a:r>
            <a:r>
              <a:rPr lang="en-US" altLang="ko-KR" dirty="0"/>
              <a:t>‘</a:t>
            </a:r>
            <a:r>
              <a:rPr lang="ko-KR" altLang="en-US" dirty="0"/>
              <a:t>몸부림</a:t>
            </a:r>
            <a:r>
              <a:rPr lang="en-US" altLang="ko-KR" dirty="0"/>
              <a:t>’</a:t>
            </a:r>
            <a:r>
              <a:rPr lang="ko-KR" altLang="en-US" dirty="0"/>
              <a:t>의 강도가 </a:t>
            </a:r>
            <a:r>
              <a:rPr lang="ko-KR" altLang="en-US" dirty="0" err="1"/>
              <a:t>심해짐</a:t>
            </a:r>
            <a:r>
              <a:rPr lang="en-US" altLang="ko-KR" dirty="0"/>
              <a:t>(</a:t>
            </a:r>
            <a:r>
              <a:rPr lang="ko-KR" altLang="en-US" dirty="0"/>
              <a:t>진폭</a:t>
            </a:r>
            <a:r>
              <a:rPr lang="en-US" altLang="ko-KR" dirty="0"/>
              <a:t>, </a:t>
            </a:r>
            <a:r>
              <a:rPr lang="ko-KR" altLang="en-US" dirty="0"/>
              <a:t>주파수</a:t>
            </a:r>
            <a:r>
              <a:rPr lang="en-US" altLang="ko-KR" dirty="0"/>
              <a:t>, </a:t>
            </a:r>
            <a:r>
              <a:rPr lang="ko-KR" altLang="en-US" dirty="0" err="1"/>
              <a:t>버스트</a:t>
            </a:r>
            <a:r>
              <a:rPr lang="ko-KR" altLang="en-US" dirty="0"/>
              <a:t> 확률</a:t>
            </a:r>
            <a:r>
              <a:rPr lang="en-US" altLang="ko-KR" dirty="0"/>
              <a:t>)</a:t>
            </a:r>
          </a:p>
          <a:p>
            <a:pPr marL="342900" indent="-342900">
              <a:buFont typeface="+mj-lt"/>
              <a:buAutoNum type="arabicPeriod"/>
            </a:pPr>
            <a:r>
              <a:rPr lang="ko-KR" altLang="en-US" dirty="0"/>
              <a:t>물고기의 단계와 나오는 물고기의 위치 확률 변경</a:t>
            </a:r>
            <a:endParaRPr lang="en-US" altLang="ko-KR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dirty="0"/>
              <a:t>수면</a:t>
            </a:r>
            <a:r>
              <a:rPr lang="en-US" altLang="ko-KR" dirty="0"/>
              <a:t>/</a:t>
            </a:r>
            <a:r>
              <a:rPr lang="ko-KR" altLang="en-US" dirty="0"/>
              <a:t>중앙</a:t>
            </a:r>
            <a:r>
              <a:rPr lang="en-US" altLang="ko-KR" dirty="0"/>
              <a:t>/</a:t>
            </a:r>
            <a:r>
              <a:rPr lang="ko-KR" altLang="en-US" dirty="0"/>
              <a:t>심해 구역</a:t>
            </a:r>
            <a:r>
              <a:rPr lang="en-US" altLang="ko-KR" dirty="0"/>
              <a:t>, </a:t>
            </a:r>
            <a:r>
              <a:rPr lang="ko-KR" altLang="en-US" dirty="0"/>
              <a:t>캐스팅 정확도에 따라 구역 결정</a:t>
            </a:r>
            <a:endParaRPr lang="en-US" altLang="ko-KR" dirty="0"/>
          </a:p>
          <a:p>
            <a:pPr marL="342900" indent="-342900">
              <a:buFont typeface="+mj-lt"/>
              <a:buAutoNum type="arabicPeriod"/>
            </a:pPr>
            <a:r>
              <a:rPr lang="ko-KR" altLang="en-US" dirty="0"/>
              <a:t>적절한 물고기 사진 적용</a:t>
            </a:r>
            <a:r>
              <a:rPr lang="en-US" altLang="ko-KR" dirty="0"/>
              <a:t>	</a:t>
            </a:r>
          </a:p>
          <a:p>
            <a:pPr marL="342900" indent="-342900">
              <a:buFont typeface="+mj-lt"/>
              <a:buAutoNum type="arabicPeriod"/>
            </a:pPr>
            <a:r>
              <a:rPr lang="ko-KR" altLang="en-US" dirty="0"/>
              <a:t>게임 색상 적용 및 </a:t>
            </a:r>
            <a:r>
              <a:rPr lang="en-US" altLang="ko-KR" dirty="0" err="1"/>
              <a:t>bgm</a:t>
            </a:r>
            <a:r>
              <a:rPr lang="en-US" altLang="ko-KR" dirty="0"/>
              <a:t>, </a:t>
            </a:r>
            <a:r>
              <a:rPr lang="ko-KR" altLang="en-US" dirty="0"/>
              <a:t>소리 적용</a:t>
            </a:r>
            <a:endParaRPr lang="en-US" altLang="ko-KR" dirty="0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A6AC767F-72EC-E879-156D-E7D54A92DB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5560" y="4103632"/>
            <a:ext cx="3577415" cy="154276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70A424C6-0669-EE52-3142-22A31B07AC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6218" y="3654349"/>
            <a:ext cx="2311519" cy="297830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83AA2D0-A09C-DE11-4458-01A116B8308D}"/>
              </a:ext>
            </a:extLst>
          </p:cNvPr>
          <p:cNvSpPr txBox="1"/>
          <p:nvPr/>
        </p:nvSpPr>
        <p:spPr>
          <a:xfrm>
            <a:off x="2344640" y="5687218"/>
            <a:ext cx="24467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(</a:t>
            </a:r>
            <a:r>
              <a:rPr lang="ko-KR" altLang="en-US" dirty="0" err="1"/>
              <a:t>언더테일의</a:t>
            </a:r>
            <a:r>
              <a:rPr lang="ko-KR" altLang="en-US" dirty="0"/>
              <a:t> 미니게임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504119C-FE39-3A3F-4224-081479582669}"/>
              </a:ext>
            </a:extLst>
          </p:cNvPr>
          <p:cNvSpPr txBox="1"/>
          <p:nvPr/>
        </p:nvSpPr>
        <p:spPr>
          <a:xfrm>
            <a:off x="8229203" y="3933146"/>
            <a:ext cx="461665" cy="281940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ko-KR" dirty="0"/>
              <a:t>(</a:t>
            </a:r>
            <a:r>
              <a:rPr lang="ko-KR" altLang="en-US" dirty="0" err="1"/>
              <a:t>스타듀밸리의</a:t>
            </a:r>
            <a:r>
              <a:rPr lang="ko-KR" altLang="en-US" dirty="0"/>
              <a:t> 미니게임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635693" y="632336"/>
            <a:ext cx="1501661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" name="AutoShape 3"/>
          <p:cNvSpPr/>
          <p:nvPr/>
        </p:nvSpPr>
        <p:spPr>
          <a:xfrm>
            <a:off x="1635693" y="9654664"/>
            <a:ext cx="1501661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7" name="TextBox 7"/>
          <p:cNvSpPr txBox="1"/>
          <p:nvPr/>
        </p:nvSpPr>
        <p:spPr>
          <a:xfrm>
            <a:off x="1714824" y="1121483"/>
            <a:ext cx="4211394" cy="311624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2352"/>
              </a:lnSpc>
              <a:defRPr/>
            </a:pPr>
            <a:r>
              <a:rPr lang="ko-KR" altLang="en-US" sz="2100" b="1" dirty="0">
                <a:solidFill>
                  <a:srgbClr val="737373"/>
                </a:solidFill>
                <a:latin typeface="Heebo Bold"/>
                <a:ea typeface="Heebo Bold"/>
                <a:cs typeface="Heebo Bold"/>
                <a:sym typeface="Heebo Bold"/>
              </a:rPr>
              <a:t>캐스팅 </a:t>
            </a:r>
            <a:r>
              <a:rPr lang="en-US" altLang="ko-KR" sz="2100" b="1" dirty="0">
                <a:solidFill>
                  <a:srgbClr val="737373"/>
                </a:solidFill>
                <a:latin typeface="Heebo Bold"/>
                <a:ea typeface="Heebo Bold"/>
                <a:cs typeface="Heebo Bold"/>
                <a:sym typeface="Heebo Bold"/>
              </a:rPr>
              <a:t>‘</a:t>
            </a:r>
            <a:r>
              <a:rPr lang="ko-KR" altLang="en-US" sz="2100" b="1" dirty="0">
                <a:solidFill>
                  <a:srgbClr val="737373"/>
                </a:solidFill>
                <a:latin typeface="Heebo Bold"/>
                <a:ea typeface="Heebo Bold"/>
                <a:cs typeface="Heebo Bold"/>
                <a:sym typeface="Heebo Bold"/>
              </a:rPr>
              <a:t>타이밍바</a:t>
            </a:r>
            <a:r>
              <a:rPr lang="en-US" altLang="ko-KR" sz="2100" b="1" dirty="0">
                <a:solidFill>
                  <a:srgbClr val="737373"/>
                </a:solidFill>
                <a:latin typeface="Heebo Bold"/>
                <a:ea typeface="Heebo Bold"/>
                <a:cs typeface="Heebo Bold"/>
                <a:sym typeface="Heebo Bold"/>
              </a:rPr>
              <a:t>’</a:t>
            </a:r>
            <a:r>
              <a:rPr lang="ko-KR" altLang="en-US" sz="2100" b="1" dirty="0">
                <a:solidFill>
                  <a:srgbClr val="737373"/>
                </a:solidFill>
                <a:latin typeface="Heebo Bold"/>
                <a:ea typeface="Heebo Bold"/>
                <a:cs typeface="Heebo Bold"/>
                <a:sym typeface="Heebo Bold"/>
              </a:rPr>
              <a:t> 미니게임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9F00F6E-EEAA-7B2E-2625-83BDBA143A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82" y="1123333"/>
            <a:ext cx="7436232" cy="321961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BC9B4D54-B818-363F-C7AD-66383A1288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5448300"/>
            <a:ext cx="9036514" cy="330217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0B5C55E-2118-C253-374F-596C62AF4183}"/>
              </a:ext>
            </a:extLst>
          </p:cNvPr>
          <p:cNvSpPr txBox="1"/>
          <p:nvPr/>
        </p:nvSpPr>
        <p:spPr>
          <a:xfrm>
            <a:off x="1447800" y="2171700"/>
            <a:ext cx="640080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ko-KR" altLang="en-US" dirty="0"/>
              <a:t>시작 </a:t>
            </a:r>
            <a:r>
              <a:rPr lang="en-US" altLang="ko-KR" dirty="0"/>
              <a:t>: _</a:t>
            </a:r>
            <a:r>
              <a:rPr lang="en-US" altLang="ko-KR" dirty="0" err="1"/>
              <a:t>startCastTiming</a:t>
            </a:r>
            <a:r>
              <a:rPr lang="en-US" altLang="ko-KR" dirty="0"/>
              <a:t>()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dirty="0"/>
              <a:t>수면 기준으로 타이밍 바의 위치</a:t>
            </a:r>
            <a:r>
              <a:rPr lang="en-US" altLang="ko-KR" dirty="0"/>
              <a:t>(y)</a:t>
            </a:r>
            <a:r>
              <a:rPr lang="ko-KR" altLang="en-US" dirty="0"/>
              <a:t>와 높이</a:t>
            </a:r>
            <a:r>
              <a:rPr lang="en-US" altLang="ko-KR" dirty="0"/>
              <a:t>(h)</a:t>
            </a:r>
            <a:r>
              <a:rPr lang="ko-KR" altLang="en-US" dirty="0"/>
              <a:t>를 계산</a:t>
            </a:r>
            <a:endParaRPr lang="en-US" altLang="ko-KR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dirty="0"/>
              <a:t>바의 중앙선</a:t>
            </a:r>
            <a:r>
              <a:rPr lang="en-US" altLang="ko-KR" dirty="0"/>
              <a:t>(</a:t>
            </a:r>
            <a:r>
              <a:rPr lang="en-US" altLang="ko-KR" dirty="0" err="1"/>
              <a:t>centerY</a:t>
            </a:r>
            <a:r>
              <a:rPr lang="en-US" altLang="ko-KR" dirty="0"/>
              <a:t>), </a:t>
            </a:r>
            <a:r>
              <a:rPr lang="ko-KR" altLang="en-US" dirty="0"/>
              <a:t>마커 초기 위치</a:t>
            </a:r>
            <a:r>
              <a:rPr lang="en-US" altLang="ko-KR" dirty="0"/>
              <a:t>(</a:t>
            </a:r>
            <a:r>
              <a:rPr lang="en-US" altLang="ko-KR" dirty="0" err="1"/>
              <a:t>markerY</a:t>
            </a:r>
            <a:r>
              <a:rPr lang="en-US" altLang="ko-KR" dirty="0"/>
              <a:t>), </a:t>
            </a:r>
            <a:r>
              <a:rPr lang="ko-KR" altLang="en-US" dirty="0"/>
              <a:t>이동 방향</a:t>
            </a:r>
            <a:r>
              <a:rPr lang="en-US" altLang="ko-KR" dirty="0"/>
              <a:t>(</a:t>
            </a:r>
            <a:r>
              <a:rPr lang="en-US" altLang="ko-KR" dirty="0" err="1"/>
              <a:t>dir</a:t>
            </a:r>
            <a:r>
              <a:rPr lang="en-US" altLang="ko-KR" dirty="0"/>
              <a:t>)</a:t>
            </a:r>
            <a:r>
              <a:rPr lang="ko-KR" altLang="en-US" dirty="0"/>
              <a:t>을 세팅</a:t>
            </a:r>
            <a:endParaRPr lang="en-US" altLang="ko-KR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dirty="0"/>
              <a:t>게임 상태를 </a:t>
            </a:r>
            <a:r>
              <a:rPr lang="en-US" altLang="ko-KR" dirty="0" err="1"/>
              <a:t>cast_timing</a:t>
            </a:r>
            <a:r>
              <a:rPr lang="ko-KR" altLang="en-US" dirty="0"/>
              <a:t>으로 바꿔 미니게임 진입</a:t>
            </a:r>
            <a:endParaRPr lang="en-US" altLang="ko-KR" dirty="0"/>
          </a:p>
          <a:p>
            <a:pPr marL="342900" indent="-342900">
              <a:buFont typeface="+mj-lt"/>
              <a:buAutoNum type="arabicPeriod"/>
            </a:pPr>
            <a:r>
              <a:rPr lang="ko-KR" altLang="en-US" dirty="0"/>
              <a:t>루프 </a:t>
            </a:r>
            <a:r>
              <a:rPr lang="en-US" altLang="ko-KR" dirty="0"/>
              <a:t>: state === '</a:t>
            </a:r>
            <a:r>
              <a:rPr lang="en-US" altLang="ko-KR" dirty="0" err="1"/>
              <a:t>cast_timing</a:t>
            </a:r>
            <a:r>
              <a:rPr lang="en-US" altLang="ko-KR" dirty="0"/>
              <a:t>’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dirty="0"/>
              <a:t>매 프레임 </a:t>
            </a:r>
            <a:r>
              <a:rPr lang="en-US" altLang="ko-KR" dirty="0" err="1"/>
              <a:t>markerY</a:t>
            </a:r>
            <a:r>
              <a:rPr lang="en-US" altLang="ko-KR" dirty="0"/>
              <a:t> += </a:t>
            </a:r>
            <a:r>
              <a:rPr lang="en-US" altLang="ko-KR" dirty="0" err="1"/>
              <a:t>dir</a:t>
            </a:r>
            <a:r>
              <a:rPr lang="en-US" altLang="ko-KR" dirty="0"/>
              <a:t> * speed * dt</a:t>
            </a:r>
            <a:r>
              <a:rPr lang="ko-KR" altLang="en-US" dirty="0"/>
              <a:t>로 마커를 위</a:t>
            </a:r>
            <a:r>
              <a:rPr lang="en-US" altLang="ko-KR" dirty="0"/>
              <a:t>/</a:t>
            </a:r>
            <a:r>
              <a:rPr lang="ko-KR" altLang="en-US" dirty="0"/>
              <a:t>아래로 이동</a:t>
            </a:r>
            <a:endParaRPr lang="en-US" altLang="ko-KR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dirty="0"/>
              <a:t>위아래 경계</a:t>
            </a:r>
            <a:r>
              <a:rPr lang="en-US" altLang="ko-KR" dirty="0"/>
              <a:t>(</a:t>
            </a:r>
            <a:r>
              <a:rPr lang="en-US" altLang="ko-KR" dirty="0" err="1"/>
              <a:t>yMin</a:t>
            </a:r>
            <a:r>
              <a:rPr lang="en-US" altLang="ko-KR" dirty="0"/>
              <a:t>, </a:t>
            </a:r>
            <a:r>
              <a:rPr lang="en-US" altLang="ko-KR" dirty="0" err="1"/>
              <a:t>yMax</a:t>
            </a:r>
            <a:r>
              <a:rPr lang="en-US" altLang="ko-KR" dirty="0"/>
              <a:t>)</a:t>
            </a:r>
            <a:r>
              <a:rPr lang="ko-KR" altLang="en-US" dirty="0"/>
              <a:t>에 닿으면 방향 반전해서 왕복</a:t>
            </a:r>
            <a:endParaRPr lang="en-US" altLang="ko-KR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dirty="0"/>
              <a:t>입력</a:t>
            </a:r>
            <a:r>
              <a:rPr lang="en-US" altLang="ko-KR" dirty="0"/>
              <a:t>(</a:t>
            </a:r>
            <a:r>
              <a:rPr lang="ko-KR" altLang="en-US" dirty="0"/>
              <a:t>스페이스</a:t>
            </a:r>
            <a:r>
              <a:rPr lang="en-US" altLang="ko-KR" dirty="0"/>
              <a:t>/</a:t>
            </a:r>
            <a:r>
              <a:rPr lang="ko-KR" altLang="en-US" dirty="0" err="1"/>
              <a:t>엔터</a:t>
            </a:r>
            <a:r>
              <a:rPr lang="en-US" altLang="ko-KR" dirty="0"/>
              <a:t>/</a:t>
            </a:r>
            <a:r>
              <a:rPr lang="ko-KR" altLang="en-US" dirty="0"/>
              <a:t>클릭</a:t>
            </a:r>
            <a:r>
              <a:rPr lang="en-US" altLang="ko-KR" dirty="0"/>
              <a:t>) </a:t>
            </a:r>
            <a:r>
              <a:rPr lang="ko-KR" altLang="en-US" dirty="0"/>
              <a:t>발생 시 확정 함수 호출</a:t>
            </a:r>
            <a:endParaRPr lang="en-US" altLang="ko-KR" dirty="0"/>
          </a:p>
          <a:p>
            <a:pPr marL="342900" indent="-342900">
              <a:buFont typeface="+mj-lt"/>
              <a:buAutoNum type="arabicPeriod"/>
            </a:pPr>
            <a:r>
              <a:rPr lang="ko-KR" altLang="en-US" dirty="0"/>
              <a:t>확정 </a:t>
            </a:r>
            <a:r>
              <a:rPr lang="en-US" altLang="ko-KR" dirty="0"/>
              <a:t>: _</a:t>
            </a:r>
            <a:r>
              <a:rPr lang="en-US" altLang="ko-KR" dirty="0" err="1"/>
              <a:t>confirmCastFromTiming</a:t>
            </a:r>
            <a:r>
              <a:rPr lang="en-US" altLang="ko-KR" dirty="0"/>
              <a:t>()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dirty="0"/>
              <a:t>정확도 계산</a:t>
            </a:r>
            <a:r>
              <a:rPr lang="en-US" altLang="ko-KR" dirty="0"/>
              <a:t>: </a:t>
            </a:r>
            <a:r>
              <a:rPr lang="en-US" altLang="ko-KR" dirty="0" err="1"/>
              <a:t>dist</a:t>
            </a:r>
            <a:r>
              <a:rPr lang="en-US" altLang="ko-KR" dirty="0"/>
              <a:t> = |</a:t>
            </a:r>
            <a:r>
              <a:rPr lang="en-US" altLang="ko-KR" dirty="0" err="1"/>
              <a:t>markerY</a:t>
            </a:r>
            <a:r>
              <a:rPr lang="en-US" altLang="ko-KR" dirty="0"/>
              <a:t> - </a:t>
            </a:r>
            <a:r>
              <a:rPr lang="en-US" altLang="ko-KR" dirty="0" err="1"/>
              <a:t>centerY</a:t>
            </a:r>
            <a:r>
              <a:rPr lang="en-US" altLang="ko-KR" dirty="0"/>
              <a:t>|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dirty="0"/>
              <a:t>깊이</a:t>
            </a:r>
            <a:r>
              <a:rPr lang="en-US" altLang="ko-KR" dirty="0"/>
              <a:t>·</a:t>
            </a:r>
            <a:r>
              <a:rPr lang="ko-KR" altLang="en-US" dirty="0"/>
              <a:t>구역 결정</a:t>
            </a:r>
            <a:endParaRPr lang="en-US" altLang="ko-KR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altLang="ko-KR" dirty="0"/>
              <a:t>depth = 1 - clamp(</a:t>
            </a:r>
            <a:r>
              <a:rPr lang="en-US" altLang="ko-KR" dirty="0" err="1"/>
              <a:t>dist</a:t>
            </a:r>
            <a:r>
              <a:rPr lang="en-US" altLang="ko-KR" dirty="0"/>
              <a:t>/0.5)</a:t>
            </a:r>
            <a:r>
              <a:rPr lang="ko-KR" altLang="en-US" dirty="0"/>
              <a:t> 같은 방식으로 </a:t>
            </a:r>
            <a:r>
              <a:rPr lang="en-US" altLang="ko-KR" dirty="0"/>
              <a:t>0~1 </a:t>
            </a:r>
            <a:r>
              <a:rPr lang="ko-KR" altLang="en-US" dirty="0"/>
              <a:t>스케일을 만들고</a:t>
            </a:r>
            <a:endParaRPr lang="en-US" altLang="ko-KR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altLang="ko-KR" dirty="0"/>
              <a:t>zone = surface / mid / deep</a:t>
            </a:r>
            <a:r>
              <a:rPr lang="ko-KR" altLang="en-US" dirty="0"/>
              <a:t>로 매핑</a:t>
            </a:r>
            <a:endParaRPr lang="en-US" altLang="ko-KR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dirty="0"/>
              <a:t>물고기 크기</a:t>
            </a:r>
            <a:r>
              <a:rPr lang="en-US" altLang="ko-KR" dirty="0"/>
              <a:t>/</a:t>
            </a:r>
            <a:r>
              <a:rPr lang="ko-KR" altLang="en-US" dirty="0"/>
              <a:t>확률 설정</a:t>
            </a:r>
            <a:r>
              <a:rPr lang="en-US" altLang="ko-KR" dirty="0"/>
              <a:t>: </a:t>
            </a:r>
            <a:r>
              <a:rPr lang="ko-KR" altLang="en-US" dirty="0"/>
              <a:t>정확도가 좋을수록 큰 물고기 비중이 높아짐</a:t>
            </a:r>
            <a:endParaRPr lang="en-US" altLang="ko-KR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E62E28-EE14-089F-996A-1D12BFC92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7A9F9723-7E1C-AC4A-C0C6-82E863C12266}"/>
              </a:ext>
            </a:extLst>
          </p:cNvPr>
          <p:cNvSpPr/>
          <p:nvPr/>
        </p:nvSpPr>
        <p:spPr>
          <a:xfrm>
            <a:off x="1635693" y="632336"/>
            <a:ext cx="1501661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69E262E6-E4B5-BA12-EF2F-900125CC8815}"/>
              </a:ext>
            </a:extLst>
          </p:cNvPr>
          <p:cNvSpPr/>
          <p:nvPr/>
        </p:nvSpPr>
        <p:spPr>
          <a:xfrm>
            <a:off x="1635693" y="9654664"/>
            <a:ext cx="1501661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F6C6EE1E-F556-60E2-6512-4959E4B4BAC8}"/>
              </a:ext>
            </a:extLst>
          </p:cNvPr>
          <p:cNvSpPr txBox="1"/>
          <p:nvPr/>
        </p:nvSpPr>
        <p:spPr>
          <a:xfrm>
            <a:off x="1714824" y="1121483"/>
            <a:ext cx="4211394" cy="311624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2352"/>
              </a:lnSpc>
              <a:defRPr/>
            </a:pPr>
            <a:r>
              <a:rPr lang="ko-KR" altLang="en-US" sz="2100" b="1" dirty="0">
                <a:solidFill>
                  <a:srgbClr val="737373"/>
                </a:solidFill>
                <a:latin typeface="Heebo Bold"/>
                <a:ea typeface="Heebo Bold"/>
                <a:cs typeface="Heebo Bold"/>
                <a:sym typeface="Heebo Bold"/>
              </a:rPr>
              <a:t>낚시 미니게임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FC9375B-CB23-AE90-63F9-E7215DC7F7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1784" y="810212"/>
            <a:ext cx="7620000" cy="4035111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70094F9-96F0-1D1E-22F0-2F51AD342E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4768" y="5143500"/>
            <a:ext cx="7801214" cy="403511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B005C32-2A7B-7854-A50C-3282C7C6772A}"/>
              </a:ext>
            </a:extLst>
          </p:cNvPr>
          <p:cNvSpPr txBox="1"/>
          <p:nvPr/>
        </p:nvSpPr>
        <p:spPr>
          <a:xfrm>
            <a:off x="1828800" y="1638300"/>
            <a:ext cx="6096000" cy="7294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ko-KR" altLang="en-US" dirty="0"/>
              <a:t>진입</a:t>
            </a:r>
            <a:r>
              <a:rPr lang="en-US" altLang="ko-KR" dirty="0"/>
              <a:t>(</a:t>
            </a:r>
            <a:r>
              <a:rPr lang="ko-KR" altLang="en-US" dirty="0"/>
              <a:t>상태전환</a:t>
            </a:r>
            <a:r>
              <a:rPr lang="en-US" altLang="ko-KR" dirty="0"/>
              <a:t>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dirty="0" err="1"/>
              <a:t>cast_timing</a:t>
            </a:r>
            <a:r>
              <a:rPr lang="ko-KR" altLang="en-US" dirty="0"/>
              <a:t>에서 </a:t>
            </a:r>
            <a:r>
              <a:rPr lang="en-US" altLang="ko-KR" dirty="0"/>
              <a:t>_</a:t>
            </a:r>
            <a:r>
              <a:rPr lang="en-US" altLang="ko-KR" dirty="0" err="1"/>
              <a:t>confirmCastFromTiming</a:t>
            </a:r>
            <a:r>
              <a:rPr lang="en-US" altLang="ko-KR" dirty="0"/>
              <a:t>()</a:t>
            </a:r>
            <a:r>
              <a:rPr lang="ko-KR" altLang="en-US" dirty="0"/>
              <a:t>으로 </a:t>
            </a:r>
            <a:r>
              <a:rPr lang="en-US" altLang="ko-KR" dirty="0"/>
              <a:t>zone/depth/size</a:t>
            </a:r>
            <a:r>
              <a:rPr lang="ko-KR" altLang="en-US" dirty="0"/>
              <a:t>와 난이도 </a:t>
            </a:r>
            <a:r>
              <a:rPr lang="en-US" altLang="ko-KR" dirty="0" err="1"/>
              <a:t>cfg</a:t>
            </a:r>
            <a:r>
              <a:rPr lang="ko-KR" altLang="en-US" dirty="0"/>
              <a:t>를 생성</a:t>
            </a:r>
            <a:endParaRPr lang="en-US" altLang="ko-KR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dirty="0"/>
              <a:t>짧은 </a:t>
            </a:r>
            <a:r>
              <a:rPr lang="en-US" altLang="ko-KR" dirty="0"/>
              <a:t>wait </a:t>
            </a:r>
            <a:r>
              <a:rPr lang="ko-KR" altLang="en-US" dirty="0"/>
              <a:t>후 </a:t>
            </a:r>
            <a:r>
              <a:rPr lang="en-US" altLang="ko-KR" dirty="0" err="1"/>
              <a:t>this.state</a:t>
            </a:r>
            <a:r>
              <a:rPr lang="en-US" altLang="ko-KR" dirty="0"/>
              <a:t> = 'minigame’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dirty="0"/>
              <a:t>초기화</a:t>
            </a:r>
            <a:r>
              <a:rPr lang="en-US" altLang="ko-KR" dirty="0"/>
              <a:t>: </a:t>
            </a:r>
            <a:r>
              <a:rPr lang="en-US" altLang="ko-KR" dirty="0" err="1"/>
              <a:t>this.fill</a:t>
            </a:r>
            <a:r>
              <a:rPr lang="en-US" altLang="ko-KR" dirty="0"/>
              <a:t>=0~1, </a:t>
            </a:r>
            <a:r>
              <a:rPr lang="en-US" altLang="ko-KR" dirty="0" err="1"/>
              <a:t>this.bar</a:t>
            </a:r>
            <a:r>
              <a:rPr lang="en-US" altLang="ko-KR" dirty="0"/>
              <a:t>={</a:t>
            </a:r>
            <a:r>
              <a:rPr lang="en-US" altLang="ko-KR" dirty="0" err="1"/>
              <a:t>y,v,h</a:t>
            </a:r>
            <a:r>
              <a:rPr lang="en-US" altLang="ko-KR" dirty="0"/>
              <a:t>}, </a:t>
            </a:r>
            <a:r>
              <a:rPr lang="en-US" altLang="ko-KR" dirty="0" err="1"/>
              <a:t>this.fish</a:t>
            </a:r>
            <a:r>
              <a:rPr lang="en-US" altLang="ko-KR" dirty="0"/>
              <a:t>={</a:t>
            </a:r>
            <a:r>
              <a:rPr lang="en-US" altLang="ko-KR" dirty="0" err="1"/>
              <a:t>y,t,profile</a:t>
            </a:r>
            <a:r>
              <a:rPr lang="en-US" altLang="ko-KR" dirty="0"/>
              <a:t>}, </a:t>
            </a:r>
            <a:r>
              <a:rPr lang="en-US" altLang="ko-KR" dirty="0" err="1"/>
              <a:t>this.timeSinceStart</a:t>
            </a:r>
            <a:r>
              <a:rPr lang="en-US" altLang="ko-KR" dirty="0"/>
              <a:t>=0</a:t>
            </a:r>
          </a:p>
          <a:p>
            <a:pPr marL="342900" indent="-342900">
              <a:buFont typeface="+mj-lt"/>
              <a:buAutoNum type="arabicPeriod"/>
            </a:pPr>
            <a:r>
              <a:rPr lang="ko-KR" altLang="en-US" dirty="0"/>
              <a:t>입력 </a:t>
            </a:r>
            <a:r>
              <a:rPr lang="en-US" altLang="ko-KR" dirty="0"/>
              <a:t>&amp; </a:t>
            </a:r>
            <a:r>
              <a:rPr lang="ko-KR" altLang="en-US" dirty="0"/>
              <a:t>바 물리</a:t>
            </a:r>
            <a:r>
              <a:rPr lang="en-US" altLang="ko-KR" dirty="0"/>
              <a:t>(</a:t>
            </a:r>
            <a:r>
              <a:rPr lang="ko-KR" altLang="en-US" dirty="0"/>
              <a:t>휠 조작</a:t>
            </a:r>
            <a:r>
              <a:rPr lang="en-US" altLang="ko-KR" dirty="0"/>
              <a:t>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dirty="0"/>
              <a:t>휠 아래</a:t>
            </a:r>
            <a:r>
              <a:rPr lang="en-US" altLang="ko-KR" dirty="0"/>
              <a:t>=</a:t>
            </a:r>
            <a:r>
              <a:rPr lang="ko-KR" altLang="en-US" dirty="0"/>
              <a:t>위로 </a:t>
            </a:r>
            <a:r>
              <a:rPr lang="en-US" altLang="ko-KR" dirty="0"/>
              <a:t>/ </a:t>
            </a:r>
            <a:r>
              <a:rPr lang="ko-KR" altLang="en-US" dirty="0"/>
              <a:t>휠 위</a:t>
            </a:r>
            <a:r>
              <a:rPr lang="en-US" altLang="ko-KR" dirty="0"/>
              <a:t>=</a:t>
            </a:r>
            <a:r>
              <a:rPr lang="ko-KR" altLang="en-US" dirty="0"/>
              <a:t>아래로</a:t>
            </a:r>
            <a:r>
              <a:rPr lang="en-US" altLang="ko-KR" dirty="0"/>
              <a:t>(</a:t>
            </a:r>
            <a:r>
              <a:rPr lang="ko-KR" altLang="en-US" dirty="0"/>
              <a:t>반전</a:t>
            </a:r>
            <a:r>
              <a:rPr lang="en-US" altLang="ko-KR" dirty="0"/>
              <a:t>) </a:t>
            </a:r>
            <a:r>
              <a:rPr lang="ko-KR" altLang="en-US" dirty="0"/>
              <a:t>가속</a:t>
            </a:r>
            <a:endParaRPr lang="en-US" altLang="ko-KR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dirty="0"/>
              <a:t>가속</a:t>
            </a:r>
            <a:r>
              <a:rPr lang="en-US" altLang="ko-KR" dirty="0"/>
              <a:t>·</a:t>
            </a:r>
            <a:r>
              <a:rPr lang="ko-KR" altLang="en-US" dirty="0"/>
              <a:t>속도제한</a:t>
            </a:r>
            <a:r>
              <a:rPr lang="en-US" altLang="ko-KR" dirty="0"/>
              <a:t>·</a:t>
            </a:r>
            <a:r>
              <a:rPr lang="ko-KR" altLang="en-US" dirty="0"/>
              <a:t>감속</a:t>
            </a:r>
            <a:r>
              <a:rPr lang="en-US" altLang="ko-KR" dirty="0"/>
              <a:t>·</a:t>
            </a:r>
            <a:r>
              <a:rPr lang="ko-KR" altLang="en-US" dirty="0"/>
              <a:t>경계처리</a:t>
            </a:r>
            <a:endParaRPr lang="en-US" altLang="ko-KR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dirty="0"/>
              <a:t>바의 높이</a:t>
            </a:r>
            <a:r>
              <a:rPr lang="en-US" altLang="ko-KR" dirty="0"/>
              <a:t>(</a:t>
            </a:r>
            <a:r>
              <a:rPr lang="ko-KR" altLang="en-US" dirty="0" err="1"/>
              <a:t>판정폭</a:t>
            </a:r>
            <a:r>
              <a:rPr lang="en-US" altLang="ko-KR" dirty="0"/>
              <a:t>) = </a:t>
            </a:r>
            <a:r>
              <a:rPr lang="en-US" altLang="ko-KR" dirty="0" err="1"/>
              <a:t>this.bar.h</a:t>
            </a:r>
            <a:endParaRPr lang="en-US" altLang="ko-KR" dirty="0"/>
          </a:p>
          <a:p>
            <a:pPr marL="342900" indent="-342900">
              <a:buFont typeface="+mj-lt"/>
              <a:buAutoNum type="arabicPeriod"/>
            </a:pPr>
            <a:r>
              <a:rPr lang="ko-KR" altLang="en-US" dirty="0"/>
              <a:t>물고기 </a:t>
            </a:r>
            <a:r>
              <a:rPr lang="en-US" altLang="ko-KR" dirty="0"/>
              <a:t>AI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dirty="0"/>
              <a:t>const F = </a:t>
            </a:r>
            <a:r>
              <a:rPr lang="en-US" altLang="ko-KR" dirty="0" err="1"/>
              <a:t>this.fish.profile</a:t>
            </a:r>
            <a:endParaRPr lang="en-US" altLang="ko-KR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dirty="0"/>
              <a:t>목표 궤적</a:t>
            </a:r>
            <a:r>
              <a:rPr lang="en-US" altLang="ko-KR" dirty="0"/>
              <a:t>: </a:t>
            </a:r>
            <a:r>
              <a:rPr lang="ko-KR" altLang="en-US" dirty="0" err="1"/>
              <a:t>사인파</a:t>
            </a:r>
            <a:r>
              <a:rPr lang="ko-KR" altLang="en-US" dirty="0"/>
              <a:t> </a:t>
            </a:r>
            <a:r>
              <a:rPr lang="en-US" altLang="ko-KR" dirty="0"/>
              <a:t>+ </a:t>
            </a:r>
            <a:r>
              <a:rPr lang="ko-KR" altLang="en-US" dirty="0" err="1"/>
              <a:t>지터</a:t>
            </a:r>
            <a:r>
              <a:rPr lang="ko-KR" altLang="en-US" dirty="0"/>
              <a:t> </a:t>
            </a:r>
            <a:r>
              <a:rPr lang="en-US" altLang="ko-KR" dirty="0"/>
              <a:t>+ </a:t>
            </a:r>
            <a:r>
              <a:rPr lang="ko-KR" altLang="en-US" dirty="0" err="1"/>
              <a:t>버스트</a:t>
            </a:r>
            <a:endParaRPr lang="en-US" altLang="ko-KR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dirty="0"/>
              <a:t>추종</a:t>
            </a:r>
            <a:r>
              <a:rPr lang="en-US" altLang="ko-KR" dirty="0"/>
              <a:t>(</a:t>
            </a:r>
            <a:r>
              <a:rPr lang="ko-KR" altLang="en-US" dirty="0"/>
              <a:t>부드럽게 </a:t>
            </a:r>
            <a:r>
              <a:rPr lang="ko-KR" altLang="en-US" dirty="0" err="1"/>
              <a:t>따라감</a:t>
            </a:r>
            <a:r>
              <a:rPr lang="en-US" altLang="ko-KR" dirty="0"/>
              <a:t>): </a:t>
            </a:r>
            <a:r>
              <a:rPr lang="en-US" altLang="ko-KR" dirty="0" err="1"/>
              <a:t>this.fish.y</a:t>
            </a:r>
            <a:r>
              <a:rPr lang="en-US" altLang="ko-KR" dirty="0"/>
              <a:t> += (target - </a:t>
            </a:r>
            <a:r>
              <a:rPr lang="en-US" altLang="ko-KR" dirty="0" err="1"/>
              <a:t>this.fish.y</a:t>
            </a:r>
            <a:r>
              <a:rPr lang="en-US" altLang="ko-KR" dirty="0"/>
              <a:t>) * (</a:t>
            </a:r>
            <a:r>
              <a:rPr lang="en-US" altLang="ko-KR" dirty="0" err="1"/>
              <a:t>F.follow</a:t>
            </a:r>
            <a:r>
              <a:rPr lang="en-US" altLang="ko-KR" dirty="0"/>
              <a:t> * dt)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dirty="0"/>
              <a:t>범위 고정</a:t>
            </a:r>
            <a:r>
              <a:rPr lang="en-US" altLang="ko-KR" dirty="0"/>
              <a:t>: ln.top..</a:t>
            </a:r>
            <a:r>
              <a:rPr lang="en-US" altLang="ko-KR" dirty="0" err="1"/>
              <a:t>ln.bottom</a:t>
            </a:r>
            <a:endParaRPr lang="en-US" altLang="ko-KR" dirty="0"/>
          </a:p>
          <a:p>
            <a:pPr marL="342900" indent="-342900">
              <a:buFont typeface="+mj-lt"/>
              <a:buAutoNum type="arabicPeriod"/>
            </a:pPr>
            <a:r>
              <a:rPr lang="ko-KR" altLang="en-US" dirty="0"/>
              <a:t>겹침 판정 </a:t>
            </a:r>
            <a:r>
              <a:rPr lang="en-US" altLang="ko-KR" dirty="0"/>
              <a:t>&gt; </a:t>
            </a:r>
            <a:r>
              <a:rPr lang="ko-KR" altLang="en-US" dirty="0"/>
              <a:t>캐치 게이지</a:t>
            </a:r>
            <a:endParaRPr lang="en-US" altLang="ko-KR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dirty="0"/>
              <a:t>바 중앙</a:t>
            </a:r>
            <a:r>
              <a:rPr lang="en-US" altLang="ko-KR" dirty="0"/>
              <a:t>: </a:t>
            </a:r>
            <a:r>
              <a:rPr lang="en-US" altLang="ko-KR" dirty="0" err="1"/>
              <a:t>barC</a:t>
            </a:r>
            <a:r>
              <a:rPr lang="en-US" altLang="ko-KR" dirty="0"/>
              <a:t> = </a:t>
            </a:r>
            <a:r>
              <a:rPr lang="en-US" altLang="ko-KR" dirty="0" err="1"/>
              <a:t>this.bar.y</a:t>
            </a:r>
            <a:r>
              <a:rPr lang="en-US" altLang="ko-KR" dirty="0"/>
              <a:t> + </a:t>
            </a:r>
            <a:r>
              <a:rPr lang="en-US" altLang="ko-KR" dirty="0" err="1"/>
              <a:t>this.bar.h</a:t>
            </a:r>
            <a:r>
              <a:rPr lang="en-US" altLang="ko-KR" dirty="0"/>
              <a:t>/2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dirty="0"/>
              <a:t>겹침 여부</a:t>
            </a:r>
            <a:r>
              <a:rPr lang="en-US" altLang="ko-KR" dirty="0"/>
              <a:t>: inside = |</a:t>
            </a:r>
            <a:r>
              <a:rPr lang="en-US" altLang="ko-KR" dirty="0" err="1"/>
              <a:t>this.fish.y</a:t>
            </a:r>
            <a:r>
              <a:rPr lang="en-US" altLang="ko-KR" dirty="0"/>
              <a:t> - </a:t>
            </a:r>
            <a:r>
              <a:rPr lang="en-US" altLang="ko-KR" dirty="0" err="1"/>
              <a:t>barC</a:t>
            </a:r>
            <a:r>
              <a:rPr lang="en-US" altLang="ko-KR" dirty="0"/>
              <a:t>| ≤ </a:t>
            </a:r>
            <a:r>
              <a:rPr lang="en-US" altLang="ko-KR" dirty="0" err="1"/>
              <a:t>this.bar.h</a:t>
            </a:r>
            <a:r>
              <a:rPr lang="en-US" altLang="ko-KR" dirty="0"/>
              <a:t>/2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dirty="0"/>
              <a:t>누적</a:t>
            </a:r>
            <a:r>
              <a:rPr lang="en-US" altLang="ko-KR" dirty="0"/>
              <a:t>: </a:t>
            </a:r>
            <a:r>
              <a:rPr lang="en-US" altLang="ko-KR" dirty="0" err="1"/>
              <a:t>this.fill</a:t>
            </a:r>
            <a:r>
              <a:rPr lang="en-US" altLang="ko-KR" dirty="0"/>
              <a:t> = clamp(</a:t>
            </a:r>
            <a:r>
              <a:rPr lang="en-US" altLang="ko-KR" dirty="0" err="1"/>
              <a:t>this.fill</a:t>
            </a:r>
            <a:r>
              <a:rPr lang="en-US" altLang="ko-KR" dirty="0"/>
              <a:t> + delta*dt, 0, 1)</a:t>
            </a:r>
          </a:p>
          <a:p>
            <a:pPr marL="342900" indent="-342900">
              <a:buFont typeface="+mj-lt"/>
              <a:buAutoNum type="arabicPeriod"/>
            </a:pPr>
            <a:r>
              <a:rPr lang="ko-KR" altLang="en-US" dirty="0"/>
              <a:t>성공</a:t>
            </a:r>
            <a:r>
              <a:rPr lang="en-US" altLang="ko-KR" dirty="0"/>
              <a:t>/</a:t>
            </a:r>
            <a:r>
              <a:rPr lang="ko-KR" altLang="en-US" dirty="0"/>
              <a:t>실패 판정</a:t>
            </a:r>
            <a:r>
              <a:rPr lang="en-US" altLang="ko-KR" dirty="0"/>
              <a:t>&amp;</a:t>
            </a:r>
            <a:r>
              <a:rPr lang="ko-KR" altLang="en-US" dirty="0"/>
              <a:t>점수</a:t>
            </a:r>
            <a:endParaRPr lang="en-US" altLang="ko-KR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dirty="0" err="1"/>
              <a:t>this.fill</a:t>
            </a:r>
            <a:r>
              <a:rPr lang="en-US" altLang="ko-KR" dirty="0"/>
              <a:t> ≥ 1 → </a:t>
            </a:r>
            <a:r>
              <a:rPr lang="en-US" altLang="ko-KR" dirty="0" err="1"/>
              <a:t>this.state</a:t>
            </a:r>
            <a:r>
              <a:rPr lang="en-US" altLang="ko-KR" dirty="0"/>
              <a:t>='caught’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dirty="0" err="1"/>
              <a:t>this.fill</a:t>
            </a:r>
            <a:r>
              <a:rPr lang="en-US" altLang="ko-KR" dirty="0"/>
              <a:t> ≤ 0 → </a:t>
            </a:r>
            <a:r>
              <a:rPr lang="en-US" altLang="ko-KR" dirty="0" err="1"/>
              <a:t>this.state</a:t>
            </a:r>
            <a:r>
              <a:rPr lang="en-US" altLang="ko-KR" dirty="0"/>
              <a:t>='</a:t>
            </a:r>
            <a:r>
              <a:rPr lang="en-US" altLang="ko-KR" dirty="0" err="1"/>
              <a:t>miss’</a:t>
            </a:r>
            <a:endParaRPr lang="en-US" altLang="ko-KR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dirty="0"/>
              <a:t>점수 가중</a:t>
            </a:r>
            <a:r>
              <a:rPr lang="en-US" altLang="ko-KR" dirty="0"/>
              <a:t>: </a:t>
            </a:r>
            <a:r>
              <a:rPr lang="ko-KR" altLang="en-US" dirty="0"/>
              <a:t>물고기 크기별 </a:t>
            </a:r>
            <a:r>
              <a:rPr lang="en-US" altLang="ko-KR" dirty="0"/>
              <a:t>small=1, mid=3, big=5</a:t>
            </a:r>
            <a:r>
              <a:rPr lang="ko-KR" altLang="en-US" dirty="0"/>
              <a:t> 추가</a:t>
            </a:r>
            <a:endParaRPr lang="en-US" altLang="ko-KR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dirty="0"/>
              <a:t>단축키</a:t>
            </a:r>
            <a:r>
              <a:rPr lang="en-US" altLang="ko-KR" dirty="0"/>
              <a:t>: R</a:t>
            </a:r>
            <a:r>
              <a:rPr lang="ko-KR" altLang="en-US" dirty="0"/>
              <a:t>로 즉시 리셋</a:t>
            </a:r>
            <a:r>
              <a:rPr lang="en-US" altLang="ko-KR" dirty="0"/>
              <a:t>(</a:t>
            </a:r>
            <a:r>
              <a:rPr lang="ko-KR" altLang="en-US" dirty="0"/>
              <a:t>테스트용</a:t>
            </a:r>
            <a:r>
              <a:rPr lang="en-US" altLang="ko-K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250138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635693" y="632336"/>
            <a:ext cx="1501661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" name="AutoShape 3"/>
          <p:cNvSpPr/>
          <p:nvPr/>
        </p:nvSpPr>
        <p:spPr>
          <a:xfrm>
            <a:off x="1635693" y="9654664"/>
            <a:ext cx="1501661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7" name="TextBox 7"/>
          <p:cNvSpPr txBox="1"/>
          <p:nvPr/>
        </p:nvSpPr>
        <p:spPr>
          <a:xfrm>
            <a:off x="1714824" y="1121483"/>
            <a:ext cx="4211394" cy="311624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2352"/>
              </a:lnSpc>
              <a:defRPr/>
            </a:pPr>
            <a:r>
              <a:rPr lang="en-US" altLang="ko-KR" sz="2100" b="1" dirty="0" err="1">
                <a:solidFill>
                  <a:srgbClr val="737373"/>
                </a:solidFill>
                <a:latin typeface="Heebo Bold"/>
                <a:ea typeface="Heebo Bold"/>
                <a:cs typeface="Heebo Bold"/>
                <a:sym typeface="Heebo Bold"/>
              </a:rPr>
              <a:t>github</a:t>
            </a:r>
            <a:r>
              <a:rPr lang="ko-KR" altLang="en-US" sz="2100" b="1" dirty="0">
                <a:solidFill>
                  <a:srgbClr val="737373"/>
                </a:solidFill>
                <a:latin typeface="Heebo Bold"/>
                <a:ea typeface="Heebo Bold"/>
                <a:cs typeface="Heebo Bold"/>
                <a:sym typeface="Heebo Bold"/>
              </a:rPr>
              <a:t> </a:t>
            </a:r>
            <a:r>
              <a:rPr lang="en-US" altLang="ko-KR" sz="2100" b="1" dirty="0">
                <a:solidFill>
                  <a:srgbClr val="737373"/>
                </a:solidFill>
                <a:latin typeface="Heebo Bold"/>
                <a:ea typeface="Heebo Bold"/>
                <a:cs typeface="Heebo Bold"/>
                <a:sym typeface="Heebo Bold"/>
              </a:rPr>
              <a:t>Commit history</a:t>
            </a:r>
            <a:endParaRPr lang="ko-KR" altLang="en-US" sz="2100" b="1" dirty="0">
              <a:solidFill>
                <a:srgbClr val="737373"/>
              </a:solidFill>
              <a:latin typeface="Heebo Bold"/>
              <a:ea typeface="Heebo Bold"/>
              <a:cs typeface="Heebo Bold"/>
              <a:sym typeface="Heebo Bold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8609A4D-5187-389F-1185-505F3C2909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443834"/>
            <a:ext cx="8991600" cy="74611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285</TotalTime>
  <Words>562</Words>
  <Application>Microsoft Office PowerPoint</Application>
  <PresentationFormat>사용자 지정</PresentationFormat>
  <Paragraphs>61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3" baseType="lpstr">
      <vt:lpstr>Heebo Bold</vt:lpstr>
      <vt:lpstr>Nanum Square Bold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검정색 단순 심플한 그룹 과제 프레젠테이션</dc:title>
  <cp:lastModifiedBy>SangHee Park</cp:lastModifiedBy>
  <cp:revision>132</cp:revision>
  <dcterms:created xsi:type="dcterms:W3CDTF">2006-08-16T00:00:00Z</dcterms:created>
  <dcterms:modified xsi:type="dcterms:W3CDTF">2025-11-06T15:55:13Z</dcterms:modified>
  <cp:version/>
</cp:coreProperties>
</file>